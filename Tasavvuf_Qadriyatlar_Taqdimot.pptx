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B300"/>
                </a:solidFill>
              </a:defRPr>
            </a:pPr>
            <a:r>
              <a:t>TASAVVUF FALSAFASIDA QADRIYATLAR</a:t>
            </a:r>
          </a:p>
          <a:p>
            <a:pPr algn="ctr">
              <a:defRPr sz="3400" b="1">
                <a:solidFill>
                  <a:srgbClr val="FFB300"/>
                </a:solidFill>
              </a:defRPr>
            </a:pPr>
            <a:r>
              <a:t>TRANSFORMATSIYASINING O'ZIGA XOS JIHATLARI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114800"/>
            <a:ext cx="5760720" cy="201168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Ilmiy taqdimot — 15 slayd</a:t>
            </a:r>
          </a:p>
          <a:p>
            <a:br/>
            <a:pPr algn="ctr">
              <a:defRPr sz="1500">
                <a:solidFill>
                  <a:srgbClr val="ECEFF1"/>
                </a:solidFill>
              </a:defRPr>
            </a:pPr>
            <a:r>
              <a:t>Bajaruvchi: [Talaba ismi]</a:t>
            </a:r>
          </a:p>
          <a:p>
            <a:pPr algn="ctr">
              <a:defRPr sz="1500">
                <a:solidFill>
                  <a:srgbClr val="ECEFF1"/>
                </a:solidFill>
              </a:defRPr>
            </a:pPr>
            <a:r>
              <a:t>Ilmiy rahbar: [Rahbar ismi]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B300"/>
                </a:solidFill>
              </a:defRPr>
            </a:pPr>
            <a:r>
              <a:t>MAVZUNING DOLZARBLIGI</a:t>
            </a:r>
          </a:p>
        </p:txBody>
      </p:sp>
      <p:sp>
        <p:nvSpPr>
          <p:cNvPr id="5" name="Oval 4"/>
          <p:cNvSpPr/>
          <p:nvPr/>
        </p:nvSpPr>
        <p:spPr>
          <a:xfrm>
            <a:off x="1737360" y="1463040"/>
            <a:ext cx="731520" cy="7315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</a:defRPr>
            </a:pPr>
            <a:r>
              <a:t>GLOBALLASHUV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34747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200">
                <a:solidFill>
                  <a:srgbClr val="1A1A2E"/>
                </a:solidFill>
              </a:defRPr>
            </a:pPr>
            <a:r>
              <a:t>Milliy-ma'naviy qadriyatlar saqlanishi muammosi keskinlashmoqda</a:t>
            </a:r>
          </a:p>
        </p:txBody>
      </p:sp>
      <p:sp>
        <p:nvSpPr>
          <p:cNvPr id="8" name="Oval 7"/>
          <p:cNvSpPr/>
          <p:nvPr/>
        </p:nvSpPr>
        <p:spPr>
          <a:xfrm>
            <a:off x="5577840" y="146304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</a:defRPr>
            </a:pPr>
            <a:r>
              <a:t>RUHIY KAMOLOT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743200"/>
            <a:ext cx="34747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200">
                <a:solidFill>
                  <a:srgbClr val="1A1A2E"/>
                </a:solidFill>
              </a:defRPr>
            </a:pPr>
            <a:r>
              <a:t>Tasavvuf falsafasi insoniyat axloqiy-ruhiy kamoloti uchun muhim manba</a:t>
            </a:r>
          </a:p>
        </p:txBody>
      </p:sp>
      <p:sp>
        <p:nvSpPr>
          <p:cNvPr id="11" name="Oval 10"/>
          <p:cNvSpPr/>
          <p:nvPr/>
        </p:nvSpPr>
        <p:spPr>
          <a:xfrm>
            <a:off x="9418320" y="1463040"/>
            <a:ext cx="731520" cy="7315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DAVLAT SIYOSATI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43200"/>
            <a:ext cx="34747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200">
                <a:solidFill>
                  <a:srgbClr val="1A1A2E"/>
                </a:solidFill>
              </a:defRPr>
            </a:pPr>
            <a:r>
              <a:t>Prezident Farmoni tasavvuf merosini o'rganish zaruratini ko'rsatadi</a:t>
            </a:r>
          </a:p>
        </p:txBody>
      </p:sp>
      <p:sp>
        <p:nvSpPr>
          <p:cNvPr id="14" name="Oval 13"/>
          <p:cNvSpPr/>
          <p:nvPr/>
        </p:nvSpPr>
        <p:spPr>
          <a:xfrm>
            <a:off x="1737360" y="4023360"/>
            <a:ext cx="731520" cy="7315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TRANSFORMATSIYA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03520"/>
            <a:ext cx="34747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200">
                <a:solidFill>
                  <a:srgbClr val="1A1A2E"/>
                </a:solidFill>
              </a:defRPr>
            </a:pPr>
            <a:r>
              <a:t>XXI asrda ruhiy qadriyatlar transformatsiyasi jadal kechmoqda</a:t>
            </a:r>
          </a:p>
        </p:txBody>
      </p:sp>
      <p:sp>
        <p:nvSpPr>
          <p:cNvPr id="17" name="Oval 16"/>
          <p:cNvSpPr/>
          <p:nvPr/>
        </p:nvSpPr>
        <p:spPr>
          <a:xfrm>
            <a:off x="5577840" y="4023360"/>
            <a:ext cx="731520" cy="73152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846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A1B9A"/>
                </a:solidFill>
              </a:defRPr>
            </a:pPr>
            <a:r>
              <a:t>ZAMONAVIYLIK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5303520"/>
            <a:ext cx="34747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200">
                <a:solidFill>
                  <a:srgbClr val="1A1A2E"/>
                </a:solidFill>
              </a:defRPr>
            </a:pPr>
            <a:r>
              <a:t>Psixologiya, ekologiya va ijtimoiy birdamlikka yangicha yondashuvlar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B300"/>
                </a:solidFill>
              </a:defRPr>
            </a:pPr>
            <a:r>
              <a:t>TADQIQOTNING MAQSAD VA VAZIFALARI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1188720"/>
          </a:xfrm>
          <a:prstGeom prst="round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/>
          <a:lstStyle/>
          <a:p>
            <a:pPr algn="ctr">
              <a:defRPr sz="1500" b="1">
                <a:solidFill>
                  <a:srgbClr val="FFB300"/>
                </a:solidFill>
              </a:defRPr>
            </a:pPr>
            <a:r>
              <a:t>MAQSAD: Tasavvuf falsafasida qadriyatlar transformatsiyasining o'ziga xos jihatlarini</a:t>
            </a:r>
          </a:p>
          <a:p>
            <a:pPr algn="ctr">
              <a:defRPr sz="1500">
                <a:solidFill>
                  <a:srgbClr val="FFB300"/>
                </a:solidFill>
              </a:defRPr>
            </a:pPr>
            <a:r>
              <a:t>nazariy-falsafiy jihatdan tadqiq etish va zamonaviy jamiyatdagi ahamiyatini ochib berish</a:t>
            </a:r>
          </a:p>
        </p:txBody>
      </p:sp>
      <p:sp>
        <p:nvSpPr>
          <p:cNvPr id="6" name="Down Arrow 5"/>
          <p:cNvSpPr/>
          <p:nvPr/>
        </p:nvSpPr>
        <p:spPr>
          <a:xfrm>
            <a:off x="5669280" y="2651760"/>
            <a:ext cx="457200" cy="457200"/>
          </a:xfrm>
          <a:prstGeom prst="down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3291840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931920"/>
            <a:ext cx="2194560" cy="20116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Tasavvuf falsafasi kelib</a:t>
            </a:r>
            <a:br/>
            <a:r>
              <a:t>chiqishi va qadriyatlar</a:t>
            </a:r>
            <a:br/>
            <a:r>
              <a:t>tizimini tarixiy tahlil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4663440"/>
            <a:ext cx="228600" cy="27432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3280" y="329184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931920"/>
            <a:ext cx="2194560" cy="20116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Boshqa qadriyatlar</a:t>
            </a:r>
            <a:br/>
            <a:r>
              <a:t>tizimlari bilan</a:t>
            </a:r>
            <a:br/>
            <a:r>
              <a:t>qiyosiy tahlil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46320" y="4663440"/>
            <a:ext cx="228600" cy="27432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20" y="329184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931920"/>
            <a:ext cx="2194560" cy="2011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Tarixiy transformatsiya</a:t>
            </a:r>
            <a:br/>
            <a:r>
              <a:t>bosqichlarini</a:t>
            </a:r>
            <a:br/>
            <a:r>
              <a:t>aniqlash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23760" y="4663440"/>
            <a:ext cx="228600" cy="27432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60" y="3291840"/>
            <a:ext cx="548640" cy="54864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931920"/>
            <a:ext cx="2194560" cy="201168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Zamonaviy hayotda</a:t>
            </a:r>
            <a:br/>
            <a:r>
              <a:t>tasavvuf qadriyatlari</a:t>
            </a:r>
            <a:br/>
            <a:r>
              <a:t>rolini baholash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01200" y="4663440"/>
            <a:ext cx="228600" cy="27432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0" y="3291840"/>
            <a:ext cx="548640" cy="54864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3931920"/>
            <a:ext cx="2194560" cy="201168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Ilmiy-nazariy</a:t>
            </a:r>
            <a:br/>
            <a:r>
              <a:t>modelini ishlab</a:t>
            </a:r>
            <a:br/>
            <a:r>
              <a:t>chiqish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B300"/>
                </a:solidFill>
              </a:defRPr>
            </a:pPr>
            <a:r>
              <a:t>TADQIQOTNING ILMIY YANGILIGI</a:t>
            </a:r>
          </a:p>
        </p:txBody>
      </p:sp>
      <p:sp>
        <p:nvSpPr>
          <p:cNvPr id="5" name="Oval 4"/>
          <p:cNvSpPr/>
          <p:nvPr/>
        </p:nvSpPr>
        <p:spPr>
          <a:xfrm>
            <a:off x="5029200" y="2926080"/>
            <a:ext cx="2103120" cy="2103120"/>
          </a:xfrm>
          <a:prstGeom prst="ellipse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ILMIY</a:t>
            </a:r>
            <a:br/>
            <a:r>
              <a:t>YANGILIK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463040"/>
            <a:ext cx="2103120" cy="118872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Uch bosqichli</a:t>
            </a:r>
            <a:br/>
            <a: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463040"/>
            <a:ext cx="2103120" cy="11887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Wellbeing</a:t>
            </a:r>
            <a:br/>
            <a:r>
              <a:t>uyg'unligi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89120"/>
            <a:ext cx="210312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Spiral</a:t>
            </a:r>
            <a:br/>
            <a:r>
              <a:t>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4389120"/>
            <a:ext cx="2103120" cy="11887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Ekologik ong</a:t>
            </a:r>
            <a:br/>
            <a:r>
              <a:t>asoslash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5486400"/>
            <a:ext cx="2103120" cy="118872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O'zbekiston</a:t>
            </a:r>
            <a:br/>
            <a:r>
              <a:t>maktablari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B300"/>
                </a:solidFill>
              </a:defRPr>
            </a:pPr>
            <a:r>
              <a:t>I BOB. TASAVVUF FALSAFASINING KELIB CHIQISHI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74720"/>
            <a:ext cx="10332720" cy="73152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3200400"/>
            <a:ext cx="548640" cy="54864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VII-VIII asr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011680" cy="54864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ZUHD HARAKATI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100">
                <a:solidFill>
                  <a:srgbClr val="1A1A2E"/>
                </a:solidFill>
              </a:defRPr>
            </a:pPr>
            <a:r>
              <a:t>Taqvo, sabr,</a:t>
            </a:r>
            <a:br/>
            <a:r>
              <a:t>qanoat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320040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017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IX-X asr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1280160"/>
            <a:ext cx="201168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KLASSIK TASAVVUF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93192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100">
                <a:solidFill>
                  <a:srgbClr val="1A1A2E"/>
                </a:solidFill>
              </a:defRPr>
            </a:pPr>
            <a:r>
              <a:t>Ishq, ma'rifat,</a:t>
            </a:r>
            <a:br/>
            <a:r>
              <a:t>fano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0" y="320040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303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XI-XII asr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280160"/>
            <a:ext cx="201168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TARIQATLAR DAVRI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93192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100">
                <a:solidFill>
                  <a:srgbClr val="1A1A2E"/>
                </a:solidFill>
              </a:defRPr>
            </a:pPr>
            <a:r>
              <a:t>Xizmat, silsila,</a:t>
            </a:r>
            <a:br/>
            <a:r>
              <a:t>muridlik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0" y="3200400"/>
            <a:ext cx="548640" cy="54864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589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XIII-XV asr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280160"/>
            <a:ext cx="2011680" cy="5486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FALSAFIY TASAVVUF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393192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100">
                <a:solidFill>
                  <a:srgbClr val="1A1A2E"/>
                </a:solidFill>
              </a:defRPr>
            </a:pPr>
            <a:r>
              <a:t>Vahdatul-vujud,</a:t>
            </a:r>
            <a:br/>
            <a:r>
              <a:t>insoni komil</a:t>
            </a:r>
          </a:p>
        </p:txBody>
      </p:sp>
      <p:sp>
        <p:nvSpPr>
          <p:cNvPr id="22" name="Oval 21"/>
          <p:cNvSpPr/>
          <p:nvPr/>
        </p:nvSpPr>
        <p:spPr>
          <a:xfrm>
            <a:off x="10515600" y="3200400"/>
            <a:ext cx="548640" cy="54864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800" b="1">
                <a:solidFill>
                  <a:srgbClr val="FFFFFF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875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XVI-XX asr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1280160"/>
            <a:ext cx="2011680" cy="54864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ISLOHOT DAVRI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393192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100">
                <a:solidFill>
                  <a:srgbClr val="1A1A2E"/>
                </a:solidFill>
              </a:defRPr>
            </a:pPr>
            <a:r>
              <a:t>Ijtimoiy xizmat,</a:t>
            </a:r>
            <a:br/>
            <a:r>
              <a:t>ta'lim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Manbalar: Qur'on, Hadis, sahobalar hayoti, zohidlar tajribasi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B300"/>
                </a:solidFill>
              </a:defRPr>
            </a:pPr>
            <a:r>
              <a:t>TASAVVUF QADRIYATLARI TIZIMI (PIRAMIDA)</a:t>
            </a:r>
          </a:p>
        </p:txBody>
      </p:sp>
      <p:sp>
        <p:nvSpPr>
          <p:cNvPr id="5" name="Pentagon 4"/>
          <p:cNvSpPr/>
          <p:nvPr/>
        </p:nvSpPr>
        <p:spPr>
          <a:xfrm>
            <a:off x="4389120" y="1371600"/>
            <a:ext cx="3383280" cy="822960"/>
          </a:xfrm>
          <a:prstGeom prst="homePlate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TAVHID (Birlik)</a:t>
            </a:r>
          </a:p>
        </p:txBody>
      </p:sp>
      <p:sp>
        <p:nvSpPr>
          <p:cNvPr id="6" name="Pentagon 5"/>
          <p:cNvSpPr/>
          <p:nvPr/>
        </p:nvSpPr>
        <p:spPr>
          <a:xfrm>
            <a:off x="3657600" y="2377440"/>
            <a:ext cx="4846320" cy="822960"/>
          </a:xfrm>
          <a:prstGeom prst="homePlat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ISHQ (Ilohiy muhabbat)</a:t>
            </a:r>
          </a:p>
        </p:txBody>
      </p:sp>
      <p:sp>
        <p:nvSpPr>
          <p:cNvPr id="7" name="Pentagon 6"/>
          <p:cNvSpPr/>
          <p:nvPr/>
        </p:nvSpPr>
        <p:spPr>
          <a:xfrm>
            <a:off x="2926080" y="3383280"/>
            <a:ext cx="6309360" cy="822960"/>
          </a:xfrm>
          <a:prstGeom prst="homePlat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MA'RIFAT (Haqiqiy bilim)</a:t>
            </a:r>
          </a:p>
        </p:txBody>
      </p:sp>
      <p:sp>
        <p:nvSpPr>
          <p:cNvPr id="8" name="Pentagon 7"/>
          <p:cNvSpPr/>
          <p:nvPr/>
        </p:nvSpPr>
        <p:spPr>
          <a:xfrm>
            <a:off x="2194560" y="4389120"/>
            <a:ext cx="7772400" cy="822960"/>
          </a:xfrm>
          <a:prstGeom prst="homePlat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AXLOQ (Yuksak xulq)</a:t>
            </a:r>
          </a:p>
        </p:txBody>
      </p:sp>
      <p:sp>
        <p:nvSpPr>
          <p:cNvPr id="9" name="Pentagon 8"/>
          <p:cNvSpPr/>
          <p:nvPr/>
        </p:nvSpPr>
        <p:spPr>
          <a:xfrm>
            <a:off x="1463040" y="5394960"/>
            <a:ext cx="9235440" cy="822960"/>
          </a:xfrm>
          <a:prstGeom prst="homePlat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XIZMAT (Jamiyatga xizmat)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8288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Xususiyatlar:</a:t>
            </a:r>
            <a:br/>
            <a:br/>
            <a:r>
              <a:t>● Har bir qadriyat keyingisini taqozo etadi</a:t>
            </a:r>
            <a:br/>
            <a:br/>
            <a:r>
              <a:t>● Pastki bosqich yuqorisining zaminini tayyorlaydi</a:t>
            </a:r>
            <a:br/>
            <a:br/>
            <a:r>
              <a:t>● Tizim dinamik va transformatsiyaga moyil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B300"/>
                </a:solidFill>
              </a:defRPr>
            </a:pPr>
            <a:r>
              <a:t>QIYOSIY TAHLIL: TASAVVUF VS BOSHQA TIZIMLAR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TASAVVUF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</a:defRPr>
            </a:pPr>
            <a:r>
              <a:t>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3566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Bilim manbai: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Kashf va zavq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</a:defRPr>
            </a:pPr>
            <a:r>
              <a:t>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3566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Oliy qadriyat: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Ilohiy ishq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4114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</a:defRPr>
            </a:pPr>
            <a:r>
              <a:t>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3566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Axloq asosi: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Ruhiy tajriba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5029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</a:defRPr>
            </a:pPr>
            <a:r>
              <a:t>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3566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Transformatsiya: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Riyozat va zikr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5943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</a:defRPr>
            </a:pPr>
            <a:r>
              <a:t>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852160"/>
            <a:ext cx="3566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Jamiyat ideali: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Komil inson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371600"/>
            <a:ext cx="3566160" cy="6400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G'ARB FALSAFASI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194560"/>
            <a:ext cx="3566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Bilim manbai: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Aql va tajriba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08960"/>
            <a:ext cx="3566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Oliy qadriyat: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Erkinlik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023360"/>
            <a:ext cx="3566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Axloq asosi: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Kategorik imperativ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937760"/>
            <a:ext cx="3566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Transformatsiya: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Ta'lim va tarbiya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5852160"/>
            <a:ext cx="3566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Jamiyat ideali: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Liberal demokratiya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371600"/>
            <a:ext cx="3566160" cy="64008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SHARQ FALSAFASI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2194560"/>
            <a:ext cx="3566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Bilim manbai: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Intuitiv bilish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108960"/>
            <a:ext cx="3566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Oliy qadriyat: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Uyg'unlik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4023360"/>
            <a:ext cx="3566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Axloq asosi: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Dao/Dharma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4937760"/>
            <a:ext cx="3566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Transformatsiya: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Meditatsiya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5852160"/>
            <a:ext cx="3566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Jamiyat ideali:</a:t>
            </a:r>
          </a:p>
          <a:p>
            <a:pPr algn="ctr">
              <a:defRPr sz="1300" b="1">
                <a:solidFill>
                  <a:srgbClr val="1A1A2E"/>
                </a:solidFill>
              </a:defRPr>
            </a:pPr>
            <a:r>
              <a:t>Uyg'un jamiyat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B300"/>
                </a:solidFill>
              </a:defRPr>
            </a:pPr>
            <a:r>
              <a:t>TASAVVUF QADRIYATLARINING TARIXIY TRANSFORMATSIYASI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03120" cy="18288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1-BOSQICH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Individual zuhd</a:t>
            </a:r>
            <a:br/>
            <a:r>
              <a:t>(VII-IX asr)</a:t>
            </a:r>
          </a:p>
          <a:p/>
          <a:p>
            <a:pPr algn="ctr">
              <a:defRPr sz="1000">
                <a:solidFill>
                  <a:srgbClr val="ECEFF1"/>
                </a:solidFill>
              </a:defRPr>
            </a:pPr>
            <a:r>
              <a:t>Taqvo, sabr, tavba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2103120"/>
            <a:ext cx="274320" cy="32004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2468880"/>
            <a:ext cx="2103120" cy="18288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2-BOSQICH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Tizimli tariqat</a:t>
            </a:r>
            <a:br/>
            <a:r>
              <a:t>(X-XIII asr)</a:t>
            </a:r>
          </a:p>
          <a:p/>
          <a:p>
            <a:pPr algn="ctr">
              <a:defRPr sz="1000">
                <a:solidFill>
                  <a:srgbClr val="ECEFF1"/>
                </a:solidFill>
              </a:defRPr>
            </a:pPr>
            <a:r>
              <a:t>Muridlik, odob, xizmat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46320" y="3108960"/>
            <a:ext cx="274320" cy="32004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3474720"/>
            <a:ext cx="2103120" cy="1828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3-BOSQICH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Falsafiy umumlashtirish</a:t>
            </a:r>
            <a:br/>
            <a:r>
              <a:t>(XIII-XVI asr)</a:t>
            </a:r>
          </a:p>
          <a:p/>
          <a:p>
            <a:pPr algn="ctr">
              <a:defRPr sz="1000">
                <a:solidFill>
                  <a:srgbClr val="ECEFF1"/>
                </a:solidFill>
              </a:defRPr>
            </a:pPr>
            <a:r>
              <a:t>Vahdatul-vujud, insoni komil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32320" y="4114800"/>
            <a:ext cx="274320" cy="32004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4480560"/>
            <a:ext cx="2103120" cy="18288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4-BOSQICH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Ijtimoiy faollik</a:t>
            </a:r>
            <a:br/>
            <a:r>
              <a:t>(XVI-XX asr)</a:t>
            </a:r>
          </a:p>
          <a:p/>
          <a:p>
            <a:pPr algn="ctr">
              <a:defRPr sz="1000">
                <a:solidFill>
                  <a:srgbClr val="ECEFF1"/>
                </a:solidFill>
              </a:defRPr>
            </a:pPr>
            <a:r>
              <a:t>Adolat, ta'lim, milliy ong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18320" y="5120640"/>
            <a:ext cx="274320" cy="32004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0" y="5486400"/>
            <a:ext cx="2103120" cy="18288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5-BOSQICH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Neo-tasavvuf</a:t>
            </a:r>
            <a:br/>
            <a:r>
              <a:t>(XXI asr)</a:t>
            </a:r>
          </a:p>
          <a:p/>
          <a:p>
            <a:pPr algn="ctr">
              <a:defRPr sz="1000">
                <a:solidFill>
                  <a:srgbClr val="ECEFF1"/>
                </a:solidFill>
              </a:defRPr>
            </a:pPr>
            <a:r>
              <a:t>Ruhiy salomatlik, ekologik ong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B300"/>
                </a:solidFill>
              </a:defRPr>
            </a:pPr>
            <a:r>
              <a:t>QADRIYAT TRANSFORMATSIYASI SPIRALI — YANGI MODEL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1828800"/>
            <a:ext cx="3657600" cy="365760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94560" y="2194560"/>
            <a:ext cx="2926080" cy="292608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60320" y="2560320"/>
            <a:ext cx="2194560" cy="21945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6080" y="2926080"/>
            <a:ext cx="1463040" cy="14630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91840" y="3291840"/>
            <a:ext cx="731520" cy="731520"/>
          </a:xfrm>
          <a:prstGeom prst="ellipse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B300"/>
                </a:solidFill>
              </a:defRPr>
            </a:pPr>
            <a:r>
              <a:t>YADRO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B3C"/>
                </a:solidFill>
              </a:defRPr>
            </a:pPr>
            <a:r>
              <a:t>1. Spiral rivojlanish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t>Qadriyatlar yangi sifatda qayta tiklanadi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B3C"/>
                </a:solidFill>
              </a:defRPr>
            </a:pPr>
            <a:r>
              <a:t>2. Yadro saqlanishi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t>Tavhid, ishq, axloq — doimiy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B3C"/>
                </a:solidFill>
              </a:defRPr>
            </a:pPr>
            <a:r>
              <a:t>3. Kontekstualizatsiya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t>Mahalliy madaniyatga moslashadi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B3C"/>
                </a:solidFill>
              </a:defRPr>
            </a:pPr>
            <a:r>
              <a:t>4. Sintez xususiyati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t>Eng yaxshisini o'zlashtiradi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6692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B3C"/>
                </a:solidFill>
              </a:defRPr>
            </a:pPr>
            <a:r>
              <a:t>5. Amaliyotga yo'nalganlik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9893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t>Nazariya → amaliy hayot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B300"/>
                </a:solidFill>
              </a:defRPr>
            </a:pPr>
            <a:r>
              <a:t>TASAVVUF QADRIYATLARINING IJTIMOIY TA'SIRI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1463040"/>
            <a:ext cx="1645920" cy="16459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Yirik xonaqohlar</a:t>
            </a:r>
            <a:br/>
            <a:r>
              <a:t>O'rta Osiyoda</a:t>
            </a:r>
          </a:p>
        </p:txBody>
      </p:sp>
      <p:sp>
        <p:nvSpPr>
          <p:cNvPr id="7" name="Oval 6"/>
          <p:cNvSpPr/>
          <p:nvPr/>
        </p:nvSpPr>
        <p:spPr>
          <a:xfrm>
            <a:off x="3931920" y="1463040"/>
            <a:ext cx="1645920" cy="1645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291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Mamlakat</a:t>
            </a:r>
            <a:br/>
            <a:r>
              <a:t>Naqshbandiya tarqalishi</a:t>
            </a:r>
          </a:p>
        </p:txBody>
      </p:sp>
      <p:sp>
        <p:nvSpPr>
          <p:cNvPr id="9" name="Oval 8"/>
          <p:cNvSpPr/>
          <p:nvPr/>
        </p:nvSpPr>
        <p:spPr>
          <a:xfrm>
            <a:off x="6858000" y="1463040"/>
            <a:ext cx="1645920" cy="1645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291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Til</a:t>
            </a:r>
            <a:br/>
            <a:r>
              <a:t>Tasavvuf adabiyoti</a:t>
            </a:r>
          </a:p>
        </p:txBody>
      </p:sp>
      <p:sp>
        <p:nvSpPr>
          <p:cNvPr id="11" name="Oval 10"/>
          <p:cNvSpPr/>
          <p:nvPr/>
        </p:nvSpPr>
        <p:spPr>
          <a:xfrm>
            <a:off x="9784080" y="1463040"/>
            <a:ext cx="1645920" cy="1645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3291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Asr</a:t>
            </a:r>
            <a:br/>
            <a:r>
              <a:t>Uzluksiz ta'sir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112471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tIns="50800"/>
          <a:lstStyle/>
          <a:p>
            <a:pPr algn="ctr">
              <a:defRPr sz="1300">
                <a:solidFill>
                  <a:srgbClr val="1A1A2E"/>
                </a:solidFill>
              </a:defRPr>
            </a:pPr>
            <a:r>
              <a:t>● Madaniyat va fan rivojiga hissa (IX-XV asrlar)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937760"/>
            <a:ext cx="112471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tIns="50800"/>
          <a:lstStyle/>
          <a:p>
            <a:pPr algn="ctr">
              <a:defRPr sz="1300">
                <a:solidFill>
                  <a:srgbClr val="1A1A2E"/>
                </a:solidFill>
              </a:defRPr>
            </a:pPr>
            <a:r>
              <a:t>● Xalq ta'limi tizimi shakllanishi (maktab, madrasa, xonaqoh)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577840"/>
            <a:ext cx="112471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tIns="50800"/>
          <a:lstStyle/>
          <a:p>
            <a:pPr algn="ctr">
              <a:defRPr sz="1300">
                <a:solidFill>
                  <a:srgbClr val="1A1A2E"/>
                </a:solidFill>
              </a:defRPr>
            </a:pPr>
            <a:r>
              <a:t>● Ijtimoiy birdamlik va o'zaro yordam institutlari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217920"/>
            <a:ext cx="112471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tIns="50800"/>
          <a:lstStyle/>
          <a:p>
            <a:pPr algn="ctr">
              <a:defRPr sz="1300">
                <a:solidFill>
                  <a:srgbClr val="1A1A2E"/>
                </a:solidFill>
              </a:defRPr>
            </a:pPr>
            <a:r>
              <a:t>● San'at va adabiyotning yuksalishi (Rumiy, Hofiz, Navoiy, Jomiy)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B300"/>
                </a:solidFill>
              </a:defRPr>
            </a:pPr>
            <a:r>
              <a:t>YANGI DAVRDA TASAVVUF QADRIYATLARI TRANSFORMATSIYASI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029200" cy="640080"/>
          </a:xfrm>
          <a:prstGeom prst="roundRect">
            <a:avLst/>
          </a:prstGeom>
          <a:solidFill>
            <a:srgbClr val="0F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/>
          <a:lstStyle/>
          <a:p>
            <a:pPr algn="ctr">
              <a:defRPr sz="1600" b="1">
                <a:solidFill>
                  <a:srgbClr val="FFB300"/>
                </a:solidFill>
              </a:defRPr>
            </a:pPr>
            <a:r>
              <a:t>AN'ANAVIY SHAKL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71600"/>
            <a:ext cx="5029200" cy="640080"/>
          </a:xfrm>
          <a:prstGeom prst="round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ZAMONAVIY SHAKL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417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B300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423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Bilim uzatish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50292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Ustoz-shogird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286000"/>
            <a:ext cx="50292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Kitob, internet, kurslar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3375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Amaliyot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50292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Xonaqoh, riyozat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200400"/>
            <a:ext cx="50292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Meditatsiya, mindfulness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251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Jamoa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50292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Tariqat, silsila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114800"/>
            <a:ext cx="50292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Ijtimoiy tarmoqlar, guruhlar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166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Maqsad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29200"/>
            <a:ext cx="50292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Fano filloh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5029200"/>
            <a:ext cx="50292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Ruhiy salomatlik, muvozanat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0807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Geografiya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43600"/>
            <a:ext cx="50292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Islom olamida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5943600"/>
            <a:ext cx="50292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Global miqyosda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B300"/>
                </a:solidFill>
              </a:defRPr>
            </a:pPr>
            <a:r>
              <a:t>ZAMONAVIY MUAMMOLARGA TASAVVUF JAVOBLARI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560320" cy="9144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⚠ Stress va ruhiy tanglik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08960" y="1737360"/>
            <a:ext cx="365760" cy="32004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66160" y="1463040"/>
            <a:ext cx="2560320" cy="9144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Zikr, muraqaba, tavakkul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2560320" cy="9144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⚠ Iste'molchilik madaniyati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52560" y="1737360"/>
            <a:ext cx="365760" cy="32004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09760" y="1463040"/>
            <a:ext cx="2560320" cy="9144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Qanoat, zuhd, shukr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91840"/>
            <a:ext cx="2560320" cy="9144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⚠ Ekologik inqiroz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8960" y="3566160"/>
            <a:ext cx="365760" cy="32004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3291840"/>
            <a:ext cx="256032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Tabiatga hurmat (amanat)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91840"/>
            <a:ext cx="2560320" cy="9144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⚠ Ijtimoiy parchalanish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52560" y="3566160"/>
            <a:ext cx="365760" cy="32004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09760" y="3291840"/>
            <a:ext cx="2560320" cy="9144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Muhabbat, xizmat, birdamlik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2560320" cy="9144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⚠ Ma'naviy bo'shliq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08960" y="5394960"/>
            <a:ext cx="365760" cy="32004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66160" y="5120640"/>
            <a:ext cx="2560320" cy="9144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Ruhiy tajriba, ma'no izlash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120640"/>
            <a:ext cx="2560320" cy="9144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⚠ Sog'liq muammolari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052560" y="5394960"/>
            <a:ext cx="365760" cy="32004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09760" y="5120640"/>
            <a:ext cx="2560320" cy="914400"/>
          </a:xfrm>
          <a:prstGeom prst="round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Holistic yondashuv (ruh-tan)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6400800"/>
            <a:ext cx="10332720" cy="365760"/>
          </a:xfrm>
          <a:prstGeom prst="round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B300"/>
                </a:solidFill>
              </a:defRPr>
            </a:pPr>
            <a:r>
              <a:t>Ilmiy asos: Neyrobiologiya va pozitiv psixologiya tadqiqotlari tasavvuf amaliyotlarini tasdiqlaydi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B300"/>
                </a:solidFill>
              </a:defRPr>
            </a:pPr>
            <a:r>
              <a:t>QADRIYAT TRANSFORMATSIYASI MEXANIZMLARI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3200400"/>
            <a:ext cx="2743200" cy="1828800"/>
          </a:xfrm>
          <a:prstGeom prst="ellipse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0"/>
          <a:lstStyle/>
          <a:p>
            <a:pPr algn="ctr">
              <a:defRPr sz="1400" b="1">
                <a:solidFill>
                  <a:srgbClr val="FFB300"/>
                </a:solidFill>
              </a:defRPr>
            </a:pPr>
            <a:r>
              <a:t>QADRIYAT</a:t>
            </a:r>
            <a:br/>
            <a:r>
              <a:t>TRANSFORMATSIYASI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2926080" cy="13716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 b="1">
                <a:solidFill>
                  <a:srgbClr val="FFB300"/>
                </a:solidFill>
              </a:defRPr>
            </a:pPr>
            <a:r>
              <a:t>REINTERPRETATSIYA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«zuhd» → «minimalizm»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2926080" cy="13716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 b="1">
                <a:solidFill>
                  <a:srgbClr val="FFB300"/>
                </a:solidFill>
              </a:defRPr>
            </a:pPr>
            <a:r>
              <a:t>AKKULTURATSIYA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Boshqa madaniyat</a:t>
            </a:r>
            <a:br/>
            <a:r>
              <a:t>elementlari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2926080" cy="1371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 b="1">
                <a:solidFill>
                  <a:srgbClr val="FFB300"/>
                </a:solidFill>
              </a:defRPr>
            </a:pPr>
            <a:r>
              <a:t>SUBLIMATSIYA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Quyi → yuqori</a:t>
            </a:r>
            <a:br/>
            <a:r>
              <a:t>qadriyatlar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5029200"/>
            <a:ext cx="2926080" cy="13716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 b="1">
                <a:solidFill>
                  <a:srgbClr val="FFB300"/>
                </a:solidFill>
              </a:defRPr>
            </a:pPr>
            <a:r>
              <a:t>KONTEKSTUALIZATSIYA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Yangi sharoitga</a:t>
            </a:r>
            <a:br/>
            <a:r>
              <a:t>moslashtirish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5943600"/>
            <a:ext cx="2926080" cy="13716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1200" b="1">
                <a:solidFill>
                  <a:srgbClr val="FFB300"/>
                </a:solidFill>
              </a:defRPr>
            </a:pPr>
            <a:r>
              <a:t>UNIVERSALIZATSIYA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Mahalliy → umumbashariy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B300"/>
                </a:solidFill>
              </a:defRPr>
            </a:pPr>
            <a:r>
              <a:t>XULOSA VA TAKLIFLAR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41732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371600"/>
            <a:ext cx="105156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Tasavvuf qadriyatlari 14 asr davomida uzluksiz transformatsiyaga uchrab, o'z yadrosini saqlab kelgan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33172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286000"/>
            <a:ext cx="105156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Transformatsiya spiral xususiyatga ega — har bir davrda qadriyatlar yangi sifatda tiklanadi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4612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200400"/>
            <a:ext cx="105156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Zamonaviy dunyoda tasavvuf qadriyatlari yangi shakllarda (mindfulness, ekologik ong) namoyon bo'lmoqda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416052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4114800"/>
            <a:ext cx="105156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O'zbekiston tasavvuf maktablari (Naqshbandiya, Kubroviya, Yassaviya) jahon tizimiga hissa qo'shgan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11247120" cy="548640"/>
          </a:xfrm>
          <a:prstGeom prst="roundRect">
            <a:avLst/>
          </a:prstGeom>
          <a:solidFill>
            <a:srgbClr val="0F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/>
          <a:lstStyle/>
          <a:p>
            <a:pPr algn="ctr">
              <a:defRPr sz="1500" b="1">
                <a:solidFill>
                  <a:srgbClr val="FFB300"/>
                </a:solidFill>
              </a:defRPr>
            </a:pPr>
            <a:r>
              <a:t>AMALIY TAKLIFLAR: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● Tasavvuf qadriyatlarini zamonaviy ta'lim tizimiga integratsiya qilish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● Ruhiy-axloqiy tarbiya dasturlarida tasavvuf merosidan foydalanish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583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● Xalqaro ilmiy hamkorlikni kengaytirish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B300"/>
                </a:solidFill>
              </a:defRPr>
            </a:pPr>
            <a:r>
              <a:t>FOYDALANILGAN ADABIYOTLAR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1. Karimov I.A. Yuksak ma'naviyat —</a:t>
            </a:r>
            <a:br/>
            <a:r>
              <a:t>   yengilmas kuch. T.: 2008.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2. Uvatov U. Tasavvuf falsafasi tarixi.</a:t>
            </a:r>
            <a:br/>
            <a:r>
              <a:t>   T.: O'zbekiston, 2019.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3. Nasr S.H. The Garden of Truth.</a:t>
            </a:r>
            <a:br/>
            <a:r>
              <a:t>   NY: HarperOne, 2007.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4. Chittick W.C. Sufism: A Beginner's</a:t>
            </a:r>
            <a:br/>
            <a:r>
              <a:t>   Guide. Oxford: Oneworld, 2008.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5. Komilov N. Tasavvuf.</a:t>
            </a:r>
            <a:br/>
            <a:r>
              <a:t>   T.: Movarounnahr, 2009.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6. Schimmel A. Mystical Dimensions</a:t>
            </a:r>
            <a:br/>
            <a:r>
              <a:t>   of Islam. UNC Press, 1975.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7. Xismatulin A.A. Sufizm.</a:t>
            </a:r>
            <a:br/>
            <a:r>
              <a:t>   SPb.: Azbuka-klassika, 2008.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834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8. Ota Mirzaev S. Tasavvuf va axloq.</a:t>
            </a:r>
            <a:br/>
            <a:r>
              <a:t>   T.: Fan, 2015.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657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9. Trimingham J.S. The Sufi Orders</a:t>
            </a:r>
            <a:br/>
            <a:r>
              <a:t>   in Islam. Oxford, 1998.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4805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10. Yo'ldoshev J. Qadriyatlar falsafasi.</a:t>
            </a:r>
            <a:br/>
            <a:r>
              <a:t>    T.: Akademnashr, 2020.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5760720"/>
            <a:ext cx="5760720" cy="8229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E'TIBORINGIZ UCHUN RAHMAT!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