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5E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32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C8A415"/>
                </a:solidFill>
              </a:defRPr>
            </a:pPr>
            <a:r>
              <a:t>TASAVVUF FALSAFASIDA QADRIYATLAR</a:t>
            </a:r>
            <a:br/>
            <a:r>
              <a:t>TRANSFORMATSIYASINING O'ZIGA XOS JIHATLARI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114800"/>
            <a:ext cx="10332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>
                <a:solidFill>
                  <a:srgbClr val="FFFFFF"/>
                </a:solidFill>
              </a:defRPr>
            </a:pPr>
            <a:r>
              <a:t>15 betlik ilmiy taqdimot</a:t>
            </a:r>
            <a:br/>
            <a:br/>
            <a:r>
              <a:t>Bajaruvchi: [Talaba ismi]</a:t>
            </a:r>
            <a:br/>
            <a:r>
              <a:t>Ilmiy rahbar: [Rahbar ismi]</a:t>
            </a:r>
            <a:br/>
            <a:r>
              <a:t>Tashkilot: [Universitet nomi]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C8A415"/>
                </a:solidFill>
              </a:defRPr>
            </a:pPr>
            <a:r>
              <a:t>MAVZUNING DOLZARBLIGI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2E7D32"/>
                </a:solidFill>
              </a:defRPr>
            </a:pPr>
            <a:r>
              <a:t>★ Nima uchun bu mavzu bugungi kunda muhim?</a:t>
            </a:r>
          </a:p>
          <a:p>
            <a:pPr>
              <a:spcAft>
                <a:spcPts val="600"/>
              </a:spcAft>
              <a:defRPr sz="1600">
                <a:solidFill>
                  <a:srgbClr val="1A1A2E"/>
                </a:solidFill>
              </a:defRPr>
            </a:pPr>
          </a:p>
          <a:p>
            <a:pPr>
              <a:spcAft>
                <a:spcPts val="600"/>
              </a:spcAft>
              <a:defRPr sz="1500">
                <a:solidFill>
                  <a:srgbClr val="1A1A2E"/>
                </a:solidFill>
              </a:defRPr>
            </a:pPr>
            <a:r>
              <a:t>● Globallashuv sharoitida milliy-ma'naviy qadriyatlarning saqlanishi muammosi keskinlashmoqda</a:t>
            </a:r>
          </a:p>
          <a:p>
            <a:pPr>
              <a:spcAft>
                <a:spcPts val="600"/>
              </a:spcAft>
              <a:defRPr sz="1600">
                <a:solidFill>
                  <a:srgbClr val="1A1A2E"/>
                </a:solidFill>
              </a:defRPr>
            </a:pPr>
          </a:p>
          <a:p>
            <a:pPr>
              <a:spcAft>
                <a:spcPts val="600"/>
              </a:spcAft>
              <a:defRPr sz="1500">
                <a:solidFill>
                  <a:srgbClr val="1A1A2E"/>
                </a:solidFill>
              </a:defRPr>
            </a:pPr>
            <a:r>
              <a:t>● Tasavvuf falsafasi insoniyatning axloqiy-ruhiy kamoloti uchun muhim manba</a:t>
            </a:r>
          </a:p>
          <a:p>
            <a:pPr>
              <a:spcAft>
                <a:spcPts val="600"/>
              </a:spcAft>
              <a:defRPr sz="1600">
                <a:solidFill>
                  <a:srgbClr val="1A1A2E"/>
                </a:solidFill>
              </a:defRPr>
            </a:pPr>
          </a:p>
          <a:p>
            <a:pPr>
              <a:spcAft>
                <a:spcPts val="600"/>
              </a:spcAft>
              <a:defRPr sz="1500">
                <a:solidFill>
                  <a:srgbClr val="1A1A2E"/>
                </a:solidFill>
              </a:defRPr>
            </a:pPr>
            <a:r>
              <a:t>● O'zbekiston Prezidentining 2017-yil 16-apreldagi Farmoni tasavvuf merosini</a:t>
            </a:r>
          </a:p>
          <a:p>
            <a:pPr>
              <a:spcAft>
                <a:spcPts val="600"/>
              </a:spcAft>
              <a:defRPr sz="1600">
                <a:solidFill>
                  <a:srgbClr val="1A1A2E"/>
                </a:solidFill>
              </a:defRPr>
            </a:pPr>
            <a:r>
              <a:t>   o'rganish zaruratini ko'rsatadi</a:t>
            </a:r>
          </a:p>
          <a:p>
            <a:pPr>
              <a:spcAft>
                <a:spcPts val="600"/>
              </a:spcAft>
              <a:defRPr sz="1600">
                <a:solidFill>
                  <a:srgbClr val="1A1A2E"/>
                </a:solidFill>
              </a:defRPr>
            </a:pPr>
          </a:p>
          <a:p>
            <a:pPr>
              <a:spcAft>
                <a:spcPts val="600"/>
              </a:spcAft>
              <a:defRPr sz="1500">
                <a:solidFill>
                  <a:srgbClr val="1A1A2E"/>
                </a:solidFill>
              </a:defRPr>
            </a:pPr>
            <a:r>
              <a:t>● XXI asrda ruhiy qadriyatlarning transformatsiyasi jadal kechmoqda</a:t>
            </a:r>
          </a:p>
          <a:p>
            <a:pPr>
              <a:spcAft>
                <a:spcPts val="600"/>
              </a:spcAft>
              <a:defRPr sz="1600">
                <a:solidFill>
                  <a:srgbClr val="1A1A2E"/>
                </a:solidFill>
              </a:defRPr>
            </a:pPr>
          </a:p>
          <a:p>
            <a:pPr>
              <a:spcAft>
                <a:spcPts val="600"/>
              </a:spcAft>
              <a:defRPr sz="1500">
                <a:solidFill>
                  <a:srgbClr val="1A1A2E"/>
                </a:solidFill>
              </a:defRPr>
            </a:pPr>
            <a:r>
              <a:t>● Tasavvuf qadriyatlari zamonaviy psixologiya, ekologiya va ijtimoiy</a:t>
            </a:r>
          </a:p>
          <a:p>
            <a:pPr>
              <a:spcAft>
                <a:spcPts val="600"/>
              </a:spcAft>
              <a:defRPr sz="1600">
                <a:solidFill>
                  <a:srgbClr val="1A1A2E"/>
                </a:solidFill>
              </a:defRPr>
            </a:pPr>
            <a:r>
              <a:t>   birdamlik masalalariga yangicha yondashuvlar taklif etadi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C8A415"/>
                </a:solidFill>
              </a:defRPr>
            </a:pPr>
            <a:r>
              <a:t>TADQIQOTNING MAQSAD VA VAZIFALARI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2E7D32"/>
                </a:solidFill>
              </a:defRPr>
            </a:pPr>
            <a:r>
              <a:t>★ Maqsad:</a:t>
            </a:r>
          </a:p>
          <a:p>
            <a:pPr>
              <a:spcAft>
                <a:spcPts val="600"/>
              </a:spcAft>
              <a:defRPr sz="1600">
                <a:solidFill>
                  <a:srgbClr val="1A1A2E"/>
                </a:solidFill>
              </a:defRPr>
            </a:pPr>
            <a:r>
              <a:t>Tasavvuf falsafasida qadriyatlar transformatsiyasining o'ziga xos jihatlarini</a:t>
            </a:r>
          </a:p>
          <a:p>
            <a:pPr>
              <a:spcAft>
                <a:spcPts val="600"/>
              </a:spcAft>
              <a:defRPr sz="1600">
                <a:solidFill>
                  <a:srgbClr val="1A1A2E"/>
                </a:solidFill>
              </a:defRPr>
            </a:pPr>
            <a:r>
              <a:t>nazariy-falsafiy jihatdan tadqiq etish va zamonaviy jamiyatdagi ahamiyatini ochib berish.</a:t>
            </a:r>
          </a:p>
          <a:p>
            <a:pPr>
              <a:spcAft>
                <a:spcPts val="600"/>
              </a:spcAft>
              <a:defRPr sz="1600">
                <a:solidFill>
                  <a:srgbClr val="1A1A2E"/>
                </a:solidFill>
              </a:defRPr>
            </a:pPr>
          </a:p>
          <a:p>
            <a:pPr>
              <a:spcAft>
                <a:spcPts val="600"/>
              </a:spcAft>
              <a:defRPr sz="1700" b="1">
                <a:solidFill>
                  <a:srgbClr val="2E7D32"/>
                </a:solidFill>
              </a:defRPr>
            </a:pPr>
            <a:r>
              <a:t>★ Vazifalari:</a:t>
            </a:r>
          </a:p>
          <a:p>
            <a:pPr>
              <a:spcAft>
                <a:spcPts val="600"/>
              </a:spcAft>
              <a:defRPr sz="1600">
                <a:solidFill>
                  <a:srgbClr val="1A1A2E"/>
                </a:solidFill>
              </a:defRPr>
            </a:pPr>
          </a:p>
          <a:p>
            <a:pPr>
              <a:spcAft>
                <a:spcPts val="600"/>
              </a:spcAft>
              <a:defRPr sz="1500">
                <a:solidFill>
                  <a:srgbClr val="1A1A2E"/>
                </a:solidFill>
              </a:defRPr>
            </a:pPr>
            <a:r>
              <a:t>► 1. Tasavvuf falsafasining kelib chiqishi va qadriyatlar tizimini tarixiy tahlil qilish</a:t>
            </a:r>
          </a:p>
          <a:p>
            <a:pPr>
              <a:spcAft>
                <a:spcPts val="600"/>
              </a:spcAft>
              <a:defRPr sz="1600">
                <a:solidFill>
                  <a:srgbClr val="1A1A2E"/>
                </a:solidFill>
              </a:defRPr>
            </a:pPr>
          </a:p>
          <a:p>
            <a:pPr>
              <a:spcAft>
                <a:spcPts val="600"/>
              </a:spcAft>
              <a:defRPr sz="1500">
                <a:solidFill>
                  <a:srgbClr val="1A1A2E"/>
                </a:solidFill>
              </a:defRPr>
            </a:pPr>
            <a:r>
              <a:t>► 2. Tasavvuf qadriyatlarining boshqa tizimlar bilan qiyosiy tahlilini amalga oshirish</a:t>
            </a:r>
          </a:p>
          <a:p>
            <a:pPr>
              <a:spcAft>
                <a:spcPts val="600"/>
              </a:spcAft>
              <a:defRPr sz="1600">
                <a:solidFill>
                  <a:srgbClr val="1A1A2E"/>
                </a:solidFill>
              </a:defRPr>
            </a:pPr>
          </a:p>
          <a:p>
            <a:pPr>
              <a:spcAft>
                <a:spcPts val="600"/>
              </a:spcAft>
              <a:defRPr sz="1500">
                <a:solidFill>
                  <a:srgbClr val="1A1A2E"/>
                </a:solidFill>
              </a:defRPr>
            </a:pPr>
            <a:r>
              <a:t>► 3. Tasavvuf qadriyatlarining tarixiy transformatsiya bosqichlarini aniqlash</a:t>
            </a:r>
          </a:p>
          <a:p>
            <a:pPr>
              <a:spcAft>
                <a:spcPts val="600"/>
              </a:spcAft>
              <a:defRPr sz="1600">
                <a:solidFill>
                  <a:srgbClr val="1A1A2E"/>
                </a:solidFill>
              </a:defRPr>
            </a:pPr>
          </a:p>
          <a:p>
            <a:pPr>
              <a:spcAft>
                <a:spcPts val="600"/>
              </a:spcAft>
              <a:defRPr sz="1500">
                <a:solidFill>
                  <a:srgbClr val="1A1A2E"/>
                </a:solidFill>
              </a:defRPr>
            </a:pPr>
            <a:r>
              <a:t>► 4. Zamonaviy ijtimoiy hayotda tasavvuf qadriyatlarining rolini baholash</a:t>
            </a:r>
          </a:p>
          <a:p>
            <a:pPr>
              <a:spcAft>
                <a:spcPts val="600"/>
              </a:spcAft>
              <a:defRPr sz="1600">
                <a:solidFill>
                  <a:srgbClr val="1A1A2E"/>
                </a:solidFill>
              </a:defRPr>
            </a:pPr>
          </a:p>
          <a:p>
            <a:pPr>
              <a:spcAft>
                <a:spcPts val="600"/>
              </a:spcAft>
              <a:defRPr sz="1500">
                <a:solidFill>
                  <a:srgbClr val="1A1A2E"/>
                </a:solidFill>
              </a:defRPr>
            </a:pPr>
            <a:r>
              <a:t>► 5. Tasavvuf qadriyatlari transformatsiyasining ilmiy-nazariy modelini ishlab chiqish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C8A415"/>
                </a:solidFill>
              </a:defRPr>
            </a:pPr>
            <a:r>
              <a:t>TADQIQOTNING ILMIY YANGILIGI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2E7D32"/>
                </a:solidFill>
              </a:defRPr>
            </a:pPr>
            <a:r>
              <a:t>★ Birinchi marta quyidagilar amalga oshirilgan:</a:t>
            </a:r>
          </a:p>
          <a:p>
            <a:pPr>
              <a:spcAft>
                <a:spcPts val="600"/>
              </a:spcAft>
              <a:defRPr sz="1600">
                <a:solidFill>
                  <a:srgbClr val="1A1A2E"/>
                </a:solidFill>
              </a:defRPr>
            </a:pPr>
          </a:p>
          <a:p>
            <a:pPr>
              <a:spcAft>
                <a:spcPts val="600"/>
              </a:spcAft>
              <a:defRPr sz="1500">
                <a:solidFill>
                  <a:srgbClr val="1A1A2E"/>
                </a:solidFill>
              </a:defRPr>
            </a:pPr>
            <a:r>
              <a:t>► 1. Tasavvuf qadriyatlari transformatsiyasining uch bosqichli modeli ishlab chiqilgan:</a:t>
            </a:r>
          </a:p>
          <a:p>
            <a:pPr>
              <a:spcAft>
                <a:spcPts val="600"/>
              </a:spcAft>
              <a:defRPr sz="1600">
                <a:solidFill>
                  <a:srgbClr val="1A1A2E"/>
                </a:solidFill>
              </a:defRPr>
            </a:pPr>
            <a:r>
              <a:t>      «Nafs tazkiyasi → Ruhiy kamolot → Ijtimoiy xizmat»</a:t>
            </a:r>
          </a:p>
          <a:p>
            <a:pPr>
              <a:spcAft>
                <a:spcPts val="600"/>
              </a:spcAft>
              <a:defRPr sz="1600">
                <a:solidFill>
                  <a:srgbClr val="1A1A2E"/>
                </a:solidFill>
              </a:defRPr>
            </a:pPr>
          </a:p>
          <a:p>
            <a:pPr>
              <a:spcAft>
                <a:spcPts val="600"/>
              </a:spcAft>
              <a:defRPr sz="1500">
                <a:solidFill>
                  <a:srgbClr val="1A1A2E"/>
                </a:solidFill>
              </a:defRPr>
            </a:pPr>
            <a:r>
              <a:t>► 2. Tasavvuf qadriyatlarining zamonaviy «wellbeing» (farovonlik) konsepsiyasi</a:t>
            </a:r>
          </a:p>
          <a:p>
            <a:pPr>
              <a:spcAft>
                <a:spcPts val="600"/>
              </a:spcAft>
              <a:defRPr sz="1600">
                <a:solidFill>
                  <a:srgbClr val="1A1A2E"/>
                </a:solidFill>
              </a:defRPr>
            </a:pPr>
            <a:r>
              <a:t>      bilan uyg'unligi isbotlangan</a:t>
            </a:r>
          </a:p>
          <a:p>
            <a:pPr>
              <a:spcAft>
                <a:spcPts val="600"/>
              </a:spcAft>
              <a:defRPr sz="1600">
                <a:solidFill>
                  <a:srgbClr val="1A1A2E"/>
                </a:solidFill>
              </a:defRPr>
            </a:pPr>
          </a:p>
          <a:p>
            <a:pPr>
              <a:spcAft>
                <a:spcPts val="600"/>
              </a:spcAft>
              <a:defRPr sz="1500">
                <a:solidFill>
                  <a:srgbClr val="1A1A2E"/>
                </a:solidFill>
              </a:defRPr>
            </a:pPr>
            <a:r>
              <a:t>► 3. «Qadriyat transformatsiyasi spirali» tushunchasi kiritilgan —</a:t>
            </a:r>
          </a:p>
          <a:p>
            <a:pPr>
              <a:spcAft>
                <a:spcPts val="600"/>
              </a:spcAft>
              <a:defRPr sz="1600">
                <a:solidFill>
                  <a:srgbClr val="1A1A2E"/>
                </a:solidFill>
              </a:defRPr>
            </a:pPr>
            <a:r>
              <a:t>      tasavvuf qadriyatlari chiziqli emas, balki spiral shaklda rivojlanadi</a:t>
            </a:r>
          </a:p>
          <a:p>
            <a:pPr>
              <a:spcAft>
                <a:spcPts val="600"/>
              </a:spcAft>
              <a:defRPr sz="1600">
                <a:solidFill>
                  <a:srgbClr val="1A1A2E"/>
                </a:solidFill>
              </a:defRPr>
            </a:pPr>
          </a:p>
          <a:p>
            <a:pPr>
              <a:spcAft>
                <a:spcPts val="600"/>
              </a:spcAft>
              <a:defRPr sz="1500">
                <a:solidFill>
                  <a:srgbClr val="1A1A2E"/>
                </a:solidFill>
              </a:defRPr>
            </a:pPr>
            <a:r>
              <a:t>► 4. Tasavvuf qadriyatlarining ekologik ong shakllanishidagi roli</a:t>
            </a:r>
          </a:p>
          <a:p>
            <a:pPr>
              <a:spcAft>
                <a:spcPts val="600"/>
              </a:spcAft>
              <a:defRPr sz="1600">
                <a:solidFill>
                  <a:srgbClr val="1A1A2E"/>
                </a:solidFill>
              </a:defRPr>
            </a:pPr>
            <a:r>
              <a:t>      ilk bor falsafiy jihatdan asoslangan</a:t>
            </a:r>
          </a:p>
          <a:p>
            <a:pPr>
              <a:spcAft>
                <a:spcPts val="600"/>
              </a:spcAft>
              <a:defRPr sz="1600">
                <a:solidFill>
                  <a:srgbClr val="1A1A2E"/>
                </a:solidFill>
              </a:defRPr>
            </a:pPr>
          </a:p>
          <a:p>
            <a:pPr>
              <a:spcAft>
                <a:spcPts val="600"/>
              </a:spcAft>
              <a:defRPr sz="1500">
                <a:solidFill>
                  <a:srgbClr val="1A1A2E"/>
                </a:solidFill>
              </a:defRPr>
            </a:pPr>
            <a:r>
              <a:t>► 5. O'zbekiston tasavvuf maktablarining qadriyatlar tizimiga qo'shgan</a:t>
            </a:r>
          </a:p>
          <a:p>
            <a:pPr>
              <a:spcAft>
                <a:spcPts val="600"/>
              </a:spcAft>
              <a:defRPr sz="1600">
                <a:solidFill>
                  <a:srgbClr val="1A1A2E"/>
                </a:solidFill>
              </a:defRPr>
            </a:pPr>
            <a:r>
              <a:t>      hissasi yangicha talqin etilgan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C8A415"/>
                </a:solidFill>
              </a:defRPr>
            </a:pPr>
            <a:r>
              <a:t>I BOB. TASAVVUF FALSAFASINING KELIB CHIQISHI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2E7D32"/>
                </a:solidFill>
              </a:defRPr>
            </a:pPr>
            <a:r>
              <a:t>★ Tasavvufning shakllanish bosqichlari:</a:t>
            </a:r>
          </a:p>
          <a:p>
            <a:pPr>
              <a:spcAft>
                <a:spcPts val="600"/>
              </a:spcAft>
              <a:defRPr sz="1600">
                <a:solidFill>
                  <a:srgbClr val="1A1A2E"/>
                </a:solidFill>
              </a:defRPr>
            </a:p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920239"/>
          <a:ext cx="112471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45720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Davr</a:t>
                      </a:r>
                    </a:p>
                  </a:txBody>
                  <a:tcPr>
                    <a:solidFill>
                      <a:srgbClr val="1B5E2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Xususiyati</a:t>
                      </a:r>
                    </a:p>
                  </a:txBody>
                  <a:tcPr>
                    <a:solidFill>
                      <a:srgbClr val="1B5E2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Asosiy qadriyatlar</a:t>
                      </a:r>
                    </a:p>
                  </a:txBody>
                  <a:tcPr>
                    <a:solidFill>
                      <a:srgbClr val="1B5E2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VII-VIII asr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Zuhd harakati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Taqvo, sabr, qanoat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IX-X asr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Klassik tasavvuf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Ishq, ma'rifat, fano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XI-XII asr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Tariqatlar davri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Xizmat, silsila, muridlik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XIII-XV asr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Falsafiy tasavvuf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Vahdatul-vujud, insoni komil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XVI-XX asr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Islohot davri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Ijtimoiy xizmat, ta'lim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C8A415"/>
                </a:solidFill>
              </a:defRPr>
            </a:pPr>
            <a:r>
              <a:t>TASAVVUF QADRIYATLARI TIZIMI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2E7D32"/>
                </a:solidFill>
              </a:defRPr>
            </a:pPr>
            <a:r>
              <a:t>★ Asosiy qadriyatlar ierarxiyasi (yuqoridan pastga):</a:t>
            </a:r>
          </a:p>
          <a:p>
            <a:pPr>
              <a:spcAft>
                <a:spcPts val="600"/>
              </a:spcAft>
              <a:defRPr sz="1600">
                <a:solidFill>
                  <a:srgbClr val="1A1A2E"/>
                </a:solidFill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1A1A2E"/>
                </a:solidFill>
              </a:defRPr>
            </a:pPr>
            <a:r>
              <a:t>          ╔══════════════════════════╗</a:t>
            </a:r>
          </a:p>
          <a:p>
            <a:pPr>
              <a:spcAft>
                <a:spcPts val="600"/>
              </a:spcAft>
              <a:defRPr sz="1600">
                <a:solidFill>
                  <a:srgbClr val="1A1A2E"/>
                </a:solidFill>
              </a:defRPr>
            </a:pPr>
            <a:r>
              <a:t>          ║     TAVHID (Birlik)      ║</a:t>
            </a:r>
          </a:p>
          <a:p>
            <a:pPr>
              <a:spcAft>
                <a:spcPts val="600"/>
              </a:spcAft>
              <a:defRPr sz="1600">
                <a:solidFill>
                  <a:srgbClr val="1A1A2E"/>
                </a:solidFill>
              </a:defRPr>
            </a:pPr>
            <a:r>
              <a:t>          ╚════════════╤═════════════╝</a:t>
            </a:r>
          </a:p>
          <a:p>
            <a:pPr>
              <a:spcAft>
                <a:spcPts val="600"/>
              </a:spcAft>
              <a:defRPr sz="1600">
                <a:solidFill>
                  <a:srgbClr val="1A1A2E"/>
                </a:solidFill>
              </a:defRPr>
            </a:pPr>
            <a:r>
              <a:t>                       ▼</a:t>
            </a:r>
          </a:p>
          <a:p>
            <a:pPr>
              <a:spcAft>
                <a:spcPts val="600"/>
              </a:spcAft>
              <a:defRPr sz="1600">
                <a:solidFill>
                  <a:srgbClr val="1A1A2E"/>
                </a:solidFill>
              </a:defRPr>
            </a:pPr>
            <a:r>
              <a:t>          ╔══════════════════════════╗</a:t>
            </a:r>
          </a:p>
          <a:p>
            <a:pPr>
              <a:spcAft>
                <a:spcPts val="600"/>
              </a:spcAft>
              <a:defRPr sz="1600">
                <a:solidFill>
                  <a:srgbClr val="1A1A2E"/>
                </a:solidFill>
              </a:defRPr>
            </a:pPr>
            <a:r>
              <a:t>          ║  ISHQ (Ilohiy muhabbat)  ║</a:t>
            </a:r>
          </a:p>
          <a:p>
            <a:pPr>
              <a:spcAft>
                <a:spcPts val="600"/>
              </a:spcAft>
              <a:defRPr sz="1600">
                <a:solidFill>
                  <a:srgbClr val="1A1A2E"/>
                </a:solidFill>
              </a:defRPr>
            </a:pPr>
            <a:r>
              <a:t>          ╚════════════╤═════════════╝</a:t>
            </a:r>
          </a:p>
          <a:p>
            <a:pPr>
              <a:spcAft>
                <a:spcPts val="600"/>
              </a:spcAft>
              <a:defRPr sz="1600">
                <a:solidFill>
                  <a:srgbClr val="1A1A2E"/>
                </a:solidFill>
              </a:defRPr>
            </a:pPr>
            <a:r>
              <a:t>                       ▼</a:t>
            </a:r>
          </a:p>
          <a:p>
            <a:pPr>
              <a:spcAft>
                <a:spcPts val="600"/>
              </a:spcAft>
              <a:defRPr sz="1600">
                <a:solidFill>
                  <a:srgbClr val="1A1A2E"/>
                </a:solidFill>
              </a:defRPr>
            </a:pPr>
            <a:r>
              <a:t>          ╔══════════════════════════╗</a:t>
            </a:r>
          </a:p>
          <a:p>
            <a:pPr>
              <a:spcAft>
                <a:spcPts val="600"/>
              </a:spcAft>
              <a:defRPr sz="1600">
                <a:solidFill>
                  <a:srgbClr val="1A1A2E"/>
                </a:solidFill>
              </a:defRPr>
            </a:pPr>
            <a:r>
              <a:t>          ║  MA'RIFAT (Haqiqiy bilim)║</a:t>
            </a:r>
          </a:p>
          <a:p>
            <a:pPr>
              <a:spcAft>
                <a:spcPts val="600"/>
              </a:spcAft>
              <a:defRPr sz="1600">
                <a:solidFill>
                  <a:srgbClr val="1A1A2E"/>
                </a:solidFill>
              </a:defRPr>
            </a:pPr>
            <a:r>
              <a:t>          ╚════════════╤═════════════╝</a:t>
            </a:r>
          </a:p>
          <a:p>
            <a:pPr>
              <a:spcAft>
                <a:spcPts val="600"/>
              </a:spcAft>
              <a:defRPr sz="1600">
                <a:solidFill>
                  <a:srgbClr val="1A1A2E"/>
                </a:solidFill>
              </a:defRPr>
            </a:pPr>
            <a:r>
              <a:t>                       ▼</a:t>
            </a:r>
          </a:p>
          <a:p>
            <a:pPr>
              <a:spcAft>
                <a:spcPts val="600"/>
              </a:spcAft>
              <a:defRPr sz="1600">
                <a:solidFill>
                  <a:srgbClr val="1A1A2E"/>
                </a:solidFill>
              </a:defRPr>
            </a:pPr>
            <a:r>
              <a:t>          ╔══════════════════════════╗</a:t>
            </a:r>
          </a:p>
          <a:p>
            <a:pPr>
              <a:spcAft>
                <a:spcPts val="600"/>
              </a:spcAft>
              <a:defRPr sz="1600">
                <a:solidFill>
                  <a:srgbClr val="1A1A2E"/>
                </a:solidFill>
              </a:defRPr>
            </a:pPr>
            <a:r>
              <a:t>          ║   AXLOQ (Yuksak xulq)   ║</a:t>
            </a:r>
          </a:p>
          <a:p>
            <a:pPr>
              <a:spcAft>
                <a:spcPts val="600"/>
              </a:spcAft>
              <a:defRPr sz="1600">
                <a:solidFill>
                  <a:srgbClr val="1A1A2E"/>
                </a:solidFill>
              </a:defRPr>
            </a:pPr>
            <a:r>
              <a:t>          ╚════════════╤═════════════╝</a:t>
            </a:r>
          </a:p>
          <a:p>
            <a:pPr>
              <a:spcAft>
                <a:spcPts val="600"/>
              </a:spcAft>
              <a:defRPr sz="1600">
                <a:solidFill>
                  <a:srgbClr val="1A1A2E"/>
                </a:solidFill>
              </a:defRPr>
            </a:pPr>
            <a:r>
              <a:t>                       ▼</a:t>
            </a:r>
          </a:p>
          <a:p>
            <a:pPr>
              <a:spcAft>
                <a:spcPts val="600"/>
              </a:spcAft>
              <a:defRPr sz="1600">
                <a:solidFill>
                  <a:srgbClr val="1A1A2E"/>
                </a:solidFill>
              </a:defRPr>
            </a:pPr>
            <a:r>
              <a:t>          ╔══════════════════════════╗</a:t>
            </a:r>
          </a:p>
          <a:p>
            <a:pPr>
              <a:spcAft>
                <a:spcPts val="600"/>
              </a:spcAft>
              <a:defRPr sz="1600">
                <a:solidFill>
                  <a:srgbClr val="1A1A2E"/>
                </a:solidFill>
              </a:defRPr>
            </a:pPr>
            <a:r>
              <a:t>          ║ XIZMAT (Jamiyatga xizmat)║</a:t>
            </a:r>
          </a:p>
          <a:p>
            <a:pPr>
              <a:spcAft>
                <a:spcPts val="600"/>
              </a:spcAft>
              <a:defRPr sz="1600">
                <a:solidFill>
                  <a:srgbClr val="1A1A2E"/>
                </a:solidFill>
              </a:defRPr>
            </a:pPr>
            <a:r>
              <a:t>          ╚══════════════════════════╝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C8A415"/>
                </a:solidFill>
              </a:defRPr>
            </a:pPr>
            <a:r>
              <a:t>TASAVVUF QADRIYATLARINING BOSHQA TIZIMLAR BILAN QIYOSI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1124712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45720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Mezon</a:t>
                      </a:r>
                    </a:p>
                  </a:txBody>
                  <a:tcPr>
                    <a:solidFill>
                      <a:srgbClr val="1B5E2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Tasavvuf</a:t>
                      </a:r>
                    </a:p>
                  </a:txBody>
                  <a:tcPr>
                    <a:solidFill>
                      <a:srgbClr val="1B5E2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G'arb falsafasi</a:t>
                      </a:r>
                    </a:p>
                  </a:txBody>
                  <a:tcPr>
                    <a:solidFill>
                      <a:srgbClr val="1B5E2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Sharq falsafasi</a:t>
                      </a:r>
                    </a:p>
                  </a:txBody>
                  <a:tcPr>
                    <a:solidFill>
                      <a:srgbClr val="1B5E2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Bilim manbai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Kashf va zavq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Aql va tajriba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Intuitiv bilish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Oliy qadriyat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Ilohiy ishq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Erkinlik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Uyg'unlik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Inson mohiyati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Ilohiy xalifa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Ratsional mavjudot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Tabiat bir qismi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Axloq asosi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Ruhiy tajriba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Kategorik imperativ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Dao/Dharma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Jamiyat ideali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Komil inson jamiyati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Liberal demokratiya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Uyg'un jamiyat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Transformatsiya usuli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Riyozat va zikr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Ta'lim va tarbiya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Meditatsiya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C8A415"/>
                </a:solidFill>
              </a:defRPr>
            </a:pPr>
            <a:r>
              <a:t>TASAVVUF QADRIYATLARINING TARIXIY TRANSFORMATSIYASI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2E7D32"/>
                </a:solidFill>
              </a:defRPr>
            </a:pPr>
            <a:r>
              <a:t>★ 1-bosqich: Individual zuhd (VII-IX asr)</a:t>
            </a:r>
          </a:p>
          <a:p>
            <a:pPr>
              <a:spcAft>
                <a:spcPts val="600"/>
              </a:spcAft>
              <a:defRPr sz="1600">
                <a:solidFill>
                  <a:srgbClr val="1A1A2E"/>
                </a:solidFill>
              </a:defRPr>
            </a:pPr>
            <a:r>
              <a:t>   Qadriyatlar: Taqvo, sabr, tavba, zuhd | Xususiyat: Shaxsiy ruhiy tajriba</a:t>
            </a:r>
          </a:p>
          <a:p>
            <a:pPr>
              <a:spcAft>
                <a:spcPts val="600"/>
              </a:spcAft>
              <a:defRPr sz="1600">
                <a:solidFill>
                  <a:srgbClr val="1A1A2E"/>
                </a:solidFill>
              </a:defRPr>
            </a:pPr>
          </a:p>
          <a:p>
            <a:pPr>
              <a:spcAft>
                <a:spcPts val="600"/>
              </a:spcAft>
              <a:defRPr sz="1700" b="1">
                <a:solidFill>
                  <a:srgbClr val="2E7D32"/>
                </a:solidFill>
              </a:defRPr>
            </a:pPr>
            <a:r>
              <a:t>★ 2-bosqich: Tizimli tariqat (X-XIII asr)</a:t>
            </a:r>
          </a:p>
          <a:p>
            <a:pPr>
              <a:spcAft>
                <a:spcPts val="600"/>
              </a:spcAft>
              <a:defRPr sz="1600">
                <a:solidFill>
                  <a:srgbClr val="1A1A2E"/>
                </a:solidFill>
              </a:defRPr>
            </a:pPr>
            <a:r>
              <a:t>   Qadriyatlar: Muridlik, odob, xizmat, silsila | Xususiyat: Ijtimoiy tashkilot</a:t>
            </a:r>
          </a:p>
          <a:p>
            <a:pPr>
              <a:spcAft>
                <a:spcPts val="600"/>
              </a:spcAft>
              <a:defRPr sz="1600">
                <a:solidFill>
                  <a:srgbClr val="1A1A2E"/>
                </a:solidFill>
              </a:defRPr>
            </a:pPr>
          </a:p>
          <a:p>
            <a:pPr>
              <a:spcAft>
                <a:spcPts val="600"/>
              </a:spcAft>
              <a:defRPr sz="1700" b="1">
                <a:solidFill>
                  <a:srgbClr val="2E7D32"/>
                </a:solidFill>
              </a:defRPr>
            </a:pPr>
            <a:r>
              <a:t>★ 3-bosqich: Falsafiy umumlashtirish (XIII-XVI asr)</a:t>
            </a:r>
          </a:p>
          <a:p>
            <a:pPr>
              <a:spcAft>
                <a:spcPts val="600"/>
              </a:spcAft>
              <a:defRPr sz="1600">
                <a:solidFill>
                  <a:srgbClr val="1A1A2E"/>
                </a:solidFill>
              </a:defRPr>
            </a:pPr>
            <a:r>
              <a:t>   Qadriyatlar: Vahdatul-vujud, insoni komil | Xususiyat: Nazariy-falsafiy tizim</a:t>
            </a:r>
          </a:p>
          <a:p>
            <a:pPr>
              <a:spcAft>
                <a:spcPts val="600"/>
              </a:spcAft>
              <a:defRPr sz="1600">
                <a:solidFill>
                  <a:srgbClr val="1A1A2E"/>
                </a:solidFill>
              </a:defRPr>
            </a:pPr>
          </a:p>
          <a:p>
            <a:pPr>
              <a:spcAft>
                <a:spcPts val="600"/>
              </a:spcAft>
              <a:defRPr sz="1700" b="1">
                <a:solidFill>
                  <a:srgbClr val="2E7D32"/>
                </a:solidFill>
              </a:defRPr>
            </a:pPr>
            <a:r>
              <a:t>★ 4-bosqich: Ijtimoiy-siyosiy faollik (XVI-XX asr)</a:t>
            </a:r>
          </a:p>
          <a:p>
            <a:pPr>
              <a:spcAft>
                <a:spcPts val="600"/>
              </a:spcAft>
              <a:defRPr sz="1600">
                <a:solidFill>
                  <a:srgbClr val="1A1A2E"/>
                </a:solidFill>
              </a:defRPr>
            </a:pPr>
            <a:r>
              <a:t>   Qadriyatlar: Adolat, ta'lim, milliy ong | Xususiyat: Jamiyat islohotiga yo'nalish</a:t>
            </a:r>
          </a:p>
          <a:p>
            <a:pPr>
              <a:spcAft>
                <a:spcPts val="600"/>
              </a:spcAft>
              <a:defRPr sz="1600">
                <a:solidFill>
                  <a:srgbClr val="1A1A2E"/>
                </a:solidFill>
              </a:defRPr>
            </a:pPr>
          </a:p>
          <a:p>
            <a:pPr>
              <a:spcAft>
                <a:spcPts val="600"/>
              </a:spcAft>
              <a:defRPr sz="1700" b="1">
                <a:solidFill>
                  <a:srgbClr val="2E7D32"/>
                </a:solidFill>
              </a:defRPr>
            </a:pPr>
            <a:r>
              <a:t>★ 5-bosqich: Neo-tasavvuf (XXI asr)</a:t>
            </a:r>
          </a:p>
          <a:p>
            <a:pPr>
              <a:spcAft>
                <a:spcPts val="600"/>
              </a:spcAft>
              <a:defRPr sz="1600">
                <a:solidFill>
                  <a:srgbClr val="1A1A2E"/>
                </a:solidFill>
              </a:defRPr>
            </a:pPr>
            <a:r>
              <a:t>   Qadriyatlar: Ruhiy salomatlik, ekologik ong | Xususiyat: Global miqyos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C8A415"/>
                </a:solidFill>
              </a:defRPr>
            </a:pPr>
            <a:r>
              <a:t>QADRIYATLAR TRANSFORMATSIYASINING O'ZIGA XOS JIHATLARI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2E7D32"/>
                </a:solidFill>
              </a:defRPr>
            </a:pPr>
            <a:r>
              <a:t>★ Transformatsiyaning asosiy qonuniyatlari:</a:t>
            </a:r>
          </a:p>
          <a:p>
            <a:pPr>
              <a:spcAft>
                <a:spcPts val="600"/>
              </a:spcAft>
              <a:defRPr sz="1600">
                <a:solidFill>
                  <a:srgbClr val="1A1A2E"/>
                </a:solidFill>
              </a:defRPr>
            </a:pPr>
          </a:p>
          <a:p>
            <a:pPr>
              <a:spcAft>
                <a:spcPts val="600"/>
              </a:spcAft>
              <a:defRPr sz="1500">
                <a:solidFill>
                  <a:srgbClr val="1A1A2E"/>
                </a:solidFill>
              </a:defRPr>
            </a:pPr>
            <a:r>
              <a:t>► 1. Spiral rivojlanish — qadriyatlar yangi sharoitda qayta tiklanadi,</a:t>
            </a:r>
          </a:p>
          <a:p>
            <a:pPr>
              <a:spcAft>
                <a:spcPts val="600"/>
              </a:spcAft>
              <a:defRPr sz="1600">
                <a:solidFill>
                  <a:srgbClr val="1A1A2E"/>
                </a:solidFill>
              </a:defRPr>
            </a:pPr>
            <a:r>
              <a:t>      lekin yangi sifat bilan</a:t>
            </a:r>
          </a:p>
          <a:p>
            <a:pPr>
              <a:spcAft>
                <a:spcPts val="600"/>
              </a:spcAft>
              <a:defRPr sz="1600">
                <a:solidFill>
                  <a:srgbClr val="1A1A2E"/>
                </a:solidFill>
              </a:defRPr>
            </a:pPr>
          </a:p>
          <a:p>
            <a:pPr>
              <a:spcAft>
                <a:spcPts val="600"/>
              </a:spcAft>
              <a:defRPr sz="1500">
                <a:solidFill>
                  <a:srgbClr val="1A1A2E"/>
                </a:solidFill>
              </a:defRPr>
            </a:pPr>
            <a:r>
              <a:t>► 2. Yadro saqlanishi — tashqi shakl o'zgarsa-da, mohiyat</a:t>
            </a:r>
          </a:p>
          <a:p>
            <a:pPr>
              <a:spcAft>
                <a:spcPts val="600"/>
              </a:spcAft>
              <a:defRPr sz="1600">
                <a:solidFill>
                  <a:srgbClr val="1A1A2E"/>
                </a:solidFill>
              </a:defRPr>
            </a:pPr>
            <a:r>
              <a:t>      (tavhid, ishq, axloq) doimiy qoladi</a:t>
            </a:r>
          </a:p>
          <a:p>
            <a:pPr>
              <a:spcAft>
                <a:spcPts val="600"/>
              </a:spcAft>
              <a:defRPr sz="1600">
                <a:solidFill>
                  <a:srgbClr val="1A1A2E"/>
                </a:solidFill>
              </a:defRPr>
            </a:pPr>
          </a:p>
          <a:p>
            <a:pPr>
              <a:spcAft>
                <a:spcPts val="600"/>
              </a:spcAft>
              <a:defRPr sz="1500">
                <a:solidFill>
                  <a:srgbClr val="1A1A2E"/>
                </a:solidFill>
              </a:defRPr>
            </a:pPr>
            <a:r>
              <a:t>► 3. Kontekstualizatsiya — har bir davrda qadriyatlar mahalliy</a:t>
            </a:r>
          </a:p>
          <a:p>
            <a:pPr>
              <a:spcAft>
                <a:spcPts val="600"/>
              </a:spcAft>
              <a:defRPr sz="1600">
                <a:solidFill>
                  <a:srgbClr val="1A1A2E"/>
                </a:solidFill>
              </a:defRPr>
            </a:pPr>
            <a:r>
              <a:t>      madaniyatga moslashadi</a:t>
            </a:r>
          </a:p>
          <a:p>
            <a:pPr>
              <a:spcAft>
                <a:spcPts val="600"/>
              </a:spcAft>
              <a:defRPr sz="1600">
                <a:solidFill>
                  <a:srgbClr val="1A1A2E"/>
                </a:solidFill>
              </a:defRPr>
            </a:pPr>
          </a:p>
          <a:p>
            <a:pPr>
              <a:spcAft>
                <a:spcPts val="600"/>
              </a:spcAft>
              <a:defRPr sz="1500">
                <a:solidFill>
                  <a:srgbClr val="1A1A2E"/>
                </a:solidFill>
              </a:defRPr>
            </a:pPr>
            <a:r>
              <a:t>► 4. Sintez xususiyati — tasavvuf boshqa tizimlardan eng</a:t>
            </a:r>
          </a:p>
          <a:p>
            <a:pPr>
              <a:spcAft>
                <a:spcPts val="600"/>
              </a:spcAft>
              <a:defRPr sz="1600">
                <a:solidFill>
                  <a:srgbClr val="1A1A2E"/>
                </a:solidFill>
              </a:defRPr>
            </a:pPr>
            <a:r>
              <a:t>      yaxshisini o'zlashtiradi</a:t>
            </a:r>
          </a:p>
          <a:p>
            <a:pPr>
              <a:spcAft>
                <a:spcPts val="600"/>
              </a:spcAft>
              <a:defRPr sz="1600">
                <a:solidFill>
                  <a:srgbClr val="1A1A2E"/>
                </a:solidFill>
              </a:defRPr>
            </a:pPr>
          </a:p>
          <a:p>
            <a:pPr>
              <a:spcAft>
                <a:spcPts val="600"/>
              </a:spcAft>
              <a:defRPr sz="1500">
                <a:solidFill>
                  <a:srgbClr val="1A1A2E"/>
                </a:solidFill>
              </a:defRPr>
            </a:pPr>
            <a:r>
              <a:t>► 5. Amaliyotga yo'nalganlik — nazariy qadriyatlar doim</a:t>
            </a:r>
          </a:p>
          <a:p>
            <a:pPr>
              <a:spcAft>
                <a:spcPts val="600"/>
              </a:spcAft>
              <a:defRPr sz="1600">
                <a:solidFill>
                  <a:srgbClr val="1A1A2E"/>
                </a:solidFill>
              </a:defRPr>
            </a:pPr>
            <a:r>
              <a:t>      amaliy hayotga tatbiq etiladi</a:t>
            </a:r>
          </a:p>
          <a:p>
            <a:pPr>
              <a:spcAft>
                <a:spcPts val="600"/>
              </a:spcAft>
              <a:defRPr sz="1600">
                <a:solidFill>
                  <a:srgbClr val="1A1A2E"/>
                </a:solidFill>
              </a:defRPr>
            </a:pPr>
          </a:p>
          <a:p>
            <a:pPr>
              <a:spcAft>
                <a:spcPts val="600"/>
              </a:spcAft>
              <a:defRPr sz="1700" b="1">
                <a:solidFill>
                  <a:srgbClr val="2E7D32"/>
                </a:solidFill>
              </a:defRPr>
            </a:pPr>
            <a:r>
              <a:t>★ Model: Zuhd → Tariqat → Falsafa → Ijtimoiy faollik → Neo-tasavvuf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C8A415"/>
                </a:solidFill>
              </a:defRPr>
            </a:pPr>
            <a:r>
              <a:t>TASAVVUF QADRIYATLARINING IJTIMOIY TA'SIRI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2E7D32"/>
                </a:solidFill>
              </a:defRPr>
            </a:pPr>
            <a:r>
              <a:t>★ Tarixiy ta'sir:</a:t>
            </a:r>
          </a:p>
          <a:p>
            <a:pPr>
              <a:spcAft>
                <a:spcPts val="600"/>
              </a:spcAft>
              <a:defRPr sz="1600">
                <a:solidFill>
                  <a:srgbClr val="1A1A2E"/>
                </a:solidFill>
              </a:defRPr>
            </a:pPr>
          </a:p>
          <a:p>
            <a:pPr>
              <a:spcAft>
                <a:spcPts val="600"/>
              </a:spcAft>
              <a:defRPr sz="1500">
                <a:solidFill>
                  <a:srgbClr val="1A1A2E"/>
                </a:solidFill>
              </a:defRPr>
            </a:pPr>
            <a:r>
              <a:t>● Markaziy Osiyoda madaniyat va fan rivojiga hissa (IX-XV asrlar)</a:t>
            </a:r>
          </a:p>
          <a:p>
            <a:pPr>
              <a:spcAft>
                <a:spcPts val="600"/>
              </a:spcAft>
              <a:defRPr sz="1600">
                <a:solidFill>
                  <a:srgbClr val="1A1A2E"/>
                </a:solidFill>
              </a:defRPr>
            </a:pPr>
          </a:p>
          <a:p>
            <a:pPr>
              <a:spcAft>
                <a:spcPts val="600"/>
              </a:spcAft>
              <a:defRPr sz="1500">
                <a:solidFill>
                  <a:srgbClr val="1A1A2E"/>
                </a:solidFill>
              </a:defRPr>
            </a:pPr>
            <a:r>
              <a:t>● Xalq ta'limi tizimining shakllanishi (maktab, madrasa, xonaqoh)</a:t>
            </a:r>
          </a:p>
          <a:p>
            <a:pPr>
              <a:spcAft>
                <a:spcPts val="600"/>
              </a:spcAft>
              <a:defRPr sz="1600">
                <a:solidFill>
                  <a:srgbClr val="1A1A2E"/>
                </a:solidFill>
              </a:defRPr>
            </a:pPr>
          </a:p>
          <a:p>
            <a:pPr>
              <a:spcAft>
                <a:spcPts val="600"/>
              </a:spcAft>
              <a:defRPr sz="1500">
                <a:solidFill>
                  <a:srgbClr val="1A1A2E"/>
                </a:solidFill>
              </a:defRPr>
            </a:pPr>
            <a:r>
              <a:t>● Ijtimoiy birdamlik va o'zaro yordam institutlari</a:t>
            </a:r>
          </a:p>
          <a:p>
            <a:pPr>
              <a:spcAft>
                <a:spcPts val="600"/>
              </a:spcAft>
              <a:defRPr sz="1600">
                <a:solidFill>
                  <a:srgbClr val="1A1A2E"/>
                </a:solidFill>
              </a:defRPr>
            </a:pPr>
          </a:p>
          <a:p>
            <a:pPr>
              <a:spcAft>
                <a:spcPts val="600"/>
              </a:spcAft>
              <a:defRPr sz="1500">
                <a:solidFill>
                  <a:srgbClr val="1A1A2E"/>
                </a:solidFill>
              </a:defRPr>
            </a:pPr>
            <a:r>
              <a:t>● San'at va adabiyotning yuksalishi (Rumiy, Hofiz, Navoiy, Jomiy)</a:t>
            </a:r>
          </a:p>
          <a:p>
            <a:pPr>
              <a:spcAft>
                <a:spcPts val="600"/>
              </a:spcAft>
              <a:defRPr sz="1600">
                <a:solidFill>
                  <a:srgbClr val="1A1A2E"/>
                </a:solidFill>
              </a:defRPr>
            </a:pPr>
          </a:p>
          <a:p>
            <a:pPr>
              <a:spcAft>
                <a:spcPts val="600"/>
              </a:spcAft>
              <a:defRPr sz="1700" b="1">
                <a:solidFill>
                  <a:srgbClr val="2E7D32"/>
                </a:solidFill>
              </a:defRPr>
            </a:pPr>
            <a:r>
              <a:t>★ Muhim raqamlar:</a:t>
            </a:r>
          </a:p>
          <a:p>
            <a:pPr>
              <a:spcAft>
                <a:spcPts val="600"/>
              </a:spcAft>
              <a:defRPr sz="1600">
                <a:solidFill>
                  <a:srgbClr val="1A1A2E"/>
                </a:solidFill>
              </a:defRPr>
            </a:pPr>
          </a:p>
          <a:p>
            <a:pPr>
              <a:spcAft>
                <a:spcPts val="600"/>
              </a:spcAft>
              <a:defRPr sz="1500">
                <a:solidFill>
                  <a:srgbClr val="1A1A2E"/>
                </a:solidFill>
              </a:defRPr>
            </a:pPr>
            <a:r>
              <a:t>► O'rta Osiyoda 100 dan ortiq yirik xonaqohlar faoliyat yuritgan</a:t>
            </a:r>
          </a:p>
          <a:p>
            <a:pPr>
              <a:spcAft>
                <a:spcPts val="600"/>
              </a:spcAft>
              <a:defRPr sz="1600">
                <a:solidFill>
                  <a:srgbClr val="1A1A2E"/>
                </a:solidFill>
              </a:defRPr>
            </a:pPr>
          </a:p>
          <a:p>
            <a:pPr>
              <a:spcAft>
                <a:spcPts val="600"/>
              </a:spcAft>
              <a:defRPr sz="1500">
                <a:solidFill>
                  <a:srgbClr val="1A1A2E"/>
                </a:solidFill>
              </a:defRPr>
            </a:pPr>
            <a:r>
              <a:t>► Naqshbandiya tariqati 40 dan ortiq mamlakatga tarqalgan</a:t>
            </a:r>
          </a:p>
          <a:p>
            <a:pPr>
              <a:spcAft>
                <a:spcPts val="600"/>
              </a:spcAft>
              <a:defRPr sz="1600">
                <a:solidFill>
                  <a:srgbClr val="1A1A2E"/>
                </a:solidFill>
              </a:defRPr>
            </a:pPr>
          </a:p>
          <a:p>
            <a:pPr>
              <a:spcAft>
                <a:spcPts val="600"/>
              </a:spcAft>
              <a:defRPr sz="1500">
                <a:solidFill>
                  <a:srgbClr val="1A1A2E"/>
                </a:solidFill>
              </a:defRPr>
            </a:pPr>
            <a:r>
              <a:t>► Tasavvuf adabiyoti 20 dan ortiq tilda yaratilgan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C8A415"/>
                </a:solidFill>
              </a:defRPr>
            </a:pPr>
            <a:r>
              <a:t>YANGI DAVRDA TASAVVUF QADRIYATLARI TRANSFORMATSIYASI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2E7D32"/>
                </a:solidFill>
              </a:defRPr>
            </a:pPr>
            <a:r>
              <a:t>★ XX-XXI asr transformatsiyasi:</a:t>
            </a:r>
          </a:p>
          <a:p>
            <a:pPr>
              <a:spcAft>
                <a:spcPts val="600"/>
              </a:spcAft>
              <a:defRPr sz="1600">
                <a:solidFill>
                  <a:srgbClr val="1A1A2E"/>
                </a:solidFill>
              </a:defRPr>
            </a:p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920239"/>
          <a:ext cx="112471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45720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Soha</a:t>
                      </a:r>
                    </a:p>
                  </a:txBody>
                  <a:tcPr>
                    <a:solidFill>
                      <a:srgbClr val="1B5E2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An'anaviy shakl</a:t>
                      </a:r>
                    </a:p>
                  </a:txBody>
                  <a:tcPr>
                    <a:solidFill>
                      <a:srgbClr val="1B5E2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Zamonaviy shakl</a:t>
                      </a:r>
                    </a:p>
                  </a:txBody>
                  <a:tcPr>
                    <a:solidFill>
                      <a:srgbClr val="1B5E2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Bilim uzatish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Ustoz-shogird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Kitob, internet, kurslar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Amaliyot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Xonaqoh, riyozat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Meditatsiya, mindfulness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Jamoa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Tariqat, silsila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Ijtimoiy tarmoqlar, guruhlar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Maqsad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Fano filloh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Ruhiy salomatlik, muvozanat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Geografiya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Islom olamida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Global miqyosda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C8A415"/>
                </a:solidFill>
              </a:defRPr>
            </a:pPr>
            <a:r>
              <a:t>ZAMONAVIY HAYOTDA TASAVVUF QADRIYATLARINING AHAMIYATI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2E7D32"/>
                </a:solidFill>
              </a:defRPr>
            </a:pPr>
            <a:r>
              <a:t>★ Zamonaviy muammolarga tasavvuf javoblari:</a:t>
            </a:r>
          </a:p>
          <a:p>
            <a:pPr>
              <a:spcAft>
                <a:spcPts val="600"/>
              </a:spcAft>
              <a:defRPr sz="1600">
                <a:solidFill>
                  <a:srgbClr val="1A1A2E"/>
                </a:solidFill>
              </a:defRPr>
            </a:p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920239"/>
          <a:ext cx="1124712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23560"/>
                <a:gridCol w="5623560"/>
              </a:tblGrid>
              <a:tr h="45720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Zamonaviy muammo</a:t>
                      </a:r>
                    </a:p>
                  </a:txBody>
                  <a:tcPr>
                    <a:solidFill>
                      <a:srgbClr val="1B5E2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Tasavvuf yechimi</a:t>
                      </a:r>
                    </a:p>
                  </a:txBody>
                  <a:tcPr>
                    <a:solidFill>
                      <a:srgbClr val="1B5E2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Stress va ruhiy tanglik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Zikr, muraqaba, tavakkul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Iste'molchilik madaniyati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Qanoat, zuhd, shukr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Ekologik inqiroz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Tabiatga hurmat (amanat tushunchasi)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Ijtimoiy parchalanish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Muhabbat, xizmat, birdamlik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Ma'naviy bo'shliq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Ruhiy tajriba va ma'no izlash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Sog'liqni saqlash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Holistic yondashuv (ruh-tan birligi)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C8A415"/>
                </a:solidFill>
              </a:defRPr>
            </a:pPr>
            <a:r>
              <a:t>QADRIYAT TUSHUNCHASINING FALSAFIY TALQINI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2E7D32"/>
                </a:solidFill>
              </a:defRPr>
            </a:pPr>
            <a:r>
              <a:t>★ Aksiologik yondashuv:</a:t>
            </a:r>
          </a:p>
          <a:p>
            <a:pPr>
              <a:spcAft>
                <a:spcPts val="600"/>
              </a:spcAft>
              <a:defRPr sz="1600">
                <a:solidFill>
                  <a:srgbClr val="1A1A2E"/>
                </a:solidFill>
              </a:defRPr>
            </a:pPr>
            <a:r>
              <a:t>   Qadriyatlar — insonning voqelikka munosabatini belgilovchi ruhiy-axloqiy mezonlar</a:t>
            </a:r>
          </a:p>
          <a:p>
            <a:pPr>
              <a:spcAft>
                <a:spcPts val="600"/>
              </a:spcAft>
              <a:defRPr sz="1600">
                <a:solidFill>
                  <a:srgbClr val="1A1A2E"/>
                </a:solidFill>
              </a:defRPr>
            </a:pPr>
            <a:r>
              <a:t>   Tasavvufda qadriyat — ilohiy sifatlarning insonda namoyon bo'lishi</a:t>
            </a:r>
          </a:p>
          <a:p>
            <a:pPr>
              <a:spcAft>
                <a:spcPts val="600"/>
              </a:spcAft>
              <a:defRPr sz="1600">
                <a:solidFill>
                  <a:srgbClr val="1A1A2E"/>
                </a:solidFill>
              </a:defRPr>
            </a:pPr>
          </a:p>
          <a:p>
            <a:pPr>
              <a:spcAft>
                <a:spcPts val="600"/>
              </a:spcAft>
              <a:defRPr sz="1700" b="1">
                <a:solidFill>
                  <a:srgbClr val="2E7D32"/>
                </a:solidFill>
              </a:defRPr>
            </a:pPr>
            <a:r>
              <a:t>★ Transformatsiya mexanizmlari:</a:t>
            </a:r>
          </a:p>
          <a:p>
            <a:pPr>
              <a:spcAft>
                <a:spcPts val="600"/>
              </a:spcAft>
              <a:defRPr sz="1600">
                <a:solidFill>
                  <a:srgbClr val="1A1A2E"/>
                </a:solidFill>
              </a:defRPr>
            </a:pPr>
          </a:p>
          <a:p>
            <a:pPr>
              <a:spcAft>
                <a:spcPts val="600"/>
              </a:spcAft>
              <a:defRPr sz="1500">
                <a:solidFill>
                  <a:srgbClr val="1A1A2E"/>
                </a:solidFill>
              </a:defRPr>
            </a:pPr>
            <a:r>
              <a:t>► 1. Reinterpretatsiya — eski qadriyatlarning yangi talqini</a:t>
            </a:r>
          </a:p>
          <a:p>
            <a:pPr>
              <a:spcAft>
                <a:spcPts val="600"/>
              </a:spcAft>
              <a:defRPr sz="1600">
                <a:solidFill>
                  <a:srgbClr val="1A1A2E"/>
                </a:solidFill>
              </a:defRPr>
            </a:pPr>
            <a:r>
              <a:t>      (masalan: «zuhd» → «minimalizm»)</a:t>
            </a:r>
          </a:p>
          <a:p>
            <a:pPr>
              <a:spcAft>
                <a:spcPts val="600"/>
              </a:spcAft>
              <a:defRPr sz="1600">
                <a:solidFill>
                  <a:srgbClr val="1A1A2E"/>
                </a:solidFill>
              </a:defRPr>
            </a:pPr>
          </a:p>
          <a:p>
            <a:pPr>
              <a:spcAft>
                <a:spcPts val="600"/>
              </a:spcAft>
              <a:defRPr sz="1500">
                <a:solidFill>
                  <a:srgbClr val="1A1A2E"/>
                </a:solidFill>
              </a:defRPr>
            </a:pPr>
            <a:r>
              <a:t>► 2. Akkulturatsiya — boshqa madaniyat elementlarini o'zlashtirish</a:t>
            </a:r>
          </a:p>
          <a:p>
            <a:pPr>
              <a:spcAft>
                <a:spcPts val="600"/>
              </a:spcAft>
              <a:defRPr sz="1600">
                <a:solidFill>
                  <a:srgbClr val="1A1A2E"/>
                </a:solidFill>
              </a:defRPr>
            </a:pPr>
          </a:p>
          <a:p>
            <a:pPr>
              <a:spcAft>
                <a:spcPts val="600"/>
              </a:spcAft>
              <a:defRPr sz="1500">
                <a:solidFill>
                  <a:srgbClr val="1A1A2E"/>
                </a:solidFill>
              </a:defRPr>
            </a:pPr>
            <a:r>
              <a:t>► 3. Sublimatsiya — quyi qadriyatlardan yuqorisiga ko'tarilish</a:t>
            </a:r>
          </a:p>
          <a:p>
            <a:pPr>
              <a:spcAft>
                <a:spcPts val="600"/>
              </a:spcAft>
              <a:defRPr sz="1600">
                <a:solidFill>
                  <a:srgbClr val="1A1A2E"/>
                </a:solidFill>
              </a:defRPr>
            </a:pPr>
          </a:p>
          <a:p>
            <a:pPr>
              <a:spcAft>
                <a:spcPts val="600"/>
              </a:spcAft>
              <a:defRPr sz="1500">
                <a:solidFill>
                  <a:srgbClr val="1A1A2E"/>
                </a:solidFill>
              </a:defRPr>
            </a:pPr>
            <a:r>
              <a:t>► 4. Kontekstualizatsiya — qadriyatlarni yangi sharoitga moslashtirish</a:t>
            </a:r>
          </a:p>
          <a:p>
            <a:pPr>
              <a:spcAft>
                <a:spcPts val="600"/>
              </a:spcAft>
              <a:defRPr sz="1600">
                <a:solidFill>
                  <a:srgbClr val="1A1A2E"/>
                </a:solidFill>
              </a:defRPr>
            </a:pPr>
          </a:p>
          <a:p>
            <a:pPr>
              <a:spcAft>
                <a:spcPts val="600"/>
              </a:spcAft>
              <a:defRPr sz="1500">
                <a:solidFill>
                  <a:srgbClr val="1A1A2E"/>
                </a:solidFill>
              </a:defRPr>
            </a:pPr>
            <a:r>
              <a:t>► 5. Universalizatsiya — mahalliy qadriyatlarning umumbashariy</a:t>
            </a:r>
          </a:p>
          <a:p>
            <a:pPr>
              <a:spcAft>
                <a:spcPts val="600"/>
              </a:spcAft>
              <a:defRPr sz="1600">
                <a:solidFill>
                  <a:srgbClr val="1A1A2E"/>
                </a:solidFill>
              </a:defRPr>
            </a:pPr>
            <a:r>
              <a:t>      ahamiyat kasb etishi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C8A415"/>
                </a:solidFill>
              </a:defRPr>
            </a:pPr>
            <a:r>
              <a:t>XULOSA VA TAKLIFLAR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2E7D32"/>
                </a:solidFill>
              </a:defRPr>
            </a:pPr>
            <a:r>
              <a:t>★ Asosiy xulosalar:</a:t>
            </a:r>
          </a:p>
          <a:p>
            <a:pPr>
              <a:spcAft>
                <a:spcPts val="600"/>
              </a:spcAft>
              <a:defRPr sz="1600">
                <a:solidFill>
                  <a:srgbClr val="1A1A2E"/>
                </a:solidFill>
              </a:defRPr>
            </a:pPr>
          </a:p>
          <a:p>
            <a:pPr>
              <a:spcAft>
                <a:spcPts val="600"/>
              </a:spcAft>
              <a:defRPr sz="1500">
                <a:solidFill>
                  <a:srgbClr val="1A1A2E"/>
                </a:solidFill>
              </a:defRPr>
            </a:pPr>
            <a:r>
              <a:t>► 1. Tasavvuf qadriyatlari 14 asr davomida uzluksiz transformatsiyaga</a:t>
            </a:r>
          </a:p>
          <a:p>
            <a:pPr>
              <a:spcAft>
                <a:spcPts val="600"/>
              </a:spcAft>
              <a:defRPr sz="1600">
                <a:solidFill>
                  <a:srgbClr val="1A1A2E"/>
                </a:solidFill>
              </a:defRPr>
            </a:pPr>
            <a:r>
              <a:t>      uchrab, o'z yadrosini saqlab kelgan</a:t>
            </a:r>
          </a:p>
          <a:p>
            <a:pPr>
              <a:spcAft>
                <a:spcPts val="600"/>
              </a:spcAft>
              <a:defRPr sz="1600">
                <a:solidFill>
                  <a:srgbClr val="1A1A2E"/>
                </a:solidFill>
              </a:defRPr>
            </a:pPr>
          </a:p>
          <a:p>
            <a:pPr>
              <a:spcAft>
                <a:spcPts val="600"/>
              </a:spcAft>
              <a:defRPr sz="1500">
                <a:solidFill>
                  <a:srgbClr val="1A1A2E"/>
                </a:solidFill>
              </a:defRPr>
            </a:pPr>
            <a:r>
              <a:t>► 2. Transformatsiya spiral xususiyatga ega — har bir davrda</a:t>
            </a:r>
          </a:p>
          <a:p>
            <a:pPr>
              <a:spcAft>
                <a:spcPts val="600"/>
              </a:spcAft>
              <a:defRPr sz="1600">
                <a:solidFill>
                  <a:srgbClr val="1A1A2E"/>
                </a:solidFill>
              </a:defRPr>
            </a:pPr>
            <a:r>
              <a:t>      qadriyatlar yangi sifatda tiklanadi</a:t>
            </a:r>
          </a:p>
          <a:p>
            <a:pPr>
              <a:spcAft>
                <a:spcPts val="600"/>
              </a:spcAft>
              <a:defRPr sz="1600">
                <a:solidFill>
                  <a:srgbClr val="1A1A2E"/>
                </a:solidFill>
              </a:defRPr>
            </a:pPr>
          </a:p>
          <a:p>
            <a:pPr>
              <a:spcAft>
                <a:spcPts val="600"/>
              </a:spcAft>
              <a:defRPr sz="1500">
                <a:solidFill>
                  <a:srgbClr val="1A1A2E"/>
                </a:solidFill>
              </a:defRPr>
            </a:pPr>
            <a:r>
              <a:t>► 3. Zamonaviy dunyoda tasavvuf qadriyatlari yangi shakllarda</a:t>
            </a:r>
          </a:p>
          <a:p>
            <a:pPr>
              <a:spcAft>
                <a:spcPts val="600"/>
              </a:spcAft>
              <a:defRPr sz="1600">
                <a:solidFill>
                  <a:srgbClr val="1A1A2E"/>
                </a:solidFill>
              </a:defRPr>
            </a:pPr>
            <a:r>
              <a:t>      (mindfulness, ekologik ong, holistic salomatlik) namoyon bo'lmoqda</a:t>
            </a:r>
          </a:p>
          <a:p>
            <a:pPr>
              <a:spcAft>
                <a:spcPts val="600"/>
              </a:spcAft>
              <a:defRPr sz="1600">
                <a:solidFill>
                  <a:srgbClr val="1A1A2E"/>
                </a:solidFill>
              </a:defRPr>
            </a:pPr>
          </a:p>
          <a:p>
            <a:pPr>
              <a:spcAft>
                <a:spcPts val="600"/>
              </a:spcAft>
              <a:defRPr sz="1500">
                <a:solidFill>
                  <a:srgbClr val="1A1A2E"/>
                </a:solidFill>
              </a:defRPr>
            </a:pPr>
            <a:r>
              <a:t>► 4. O'zbekiston tasavvuf maktablari (Naqshbandiya, Kubroviya, Yassaviya)</a:t>
            </a:r>
          </a:p>
          <a:p>
            <a:pPr>
              <a:spcAft>
                <a:spcPts val="600"/>
              </a:spcAft>
              <a:defRPr sz="1600">
                <a:solidFill>
                  <a:srgbClr val="1A1A2E"/>
                </a:solidFill>
              </a:defRPr>
            </a:pPr>
            <a:r>
              <a:t>      jahon qadriyatlar tizimiga muhim hissa qo'shgan</a:t>
            </a:r>
          </a:p>
          <a:p>
            <a:pPr>
              <a:spcAft>
                <a:spcPts val="600"/>
              </a:spcAft>
              <a:defRPr sz="1600">
                <a:solidFill>
                  <a:srgbClr val="1A1A2E"/>
                </a:solidFill>
              </a:defRPr>
            </a:pPr>
          </a:p>
          <a:p>
            <a:pPr>
              <a:spcAft>
                <a:spcPts val="600"/>
              </a:spcAft>
              <a:defRPr sz="1700" b="1">
                <a:solidFill>
                  <a:srgbClr val="2E7D32"/>
                </a:solidFill>
              </a:defRPr>
            </a:pPr>
            <a:r>
              <a:t>★ Amaliy takliflar:</a:t>
            </a:r>
          </a:p>
          <a:p>
            <a:pPr>
              <a:spcAft>
                <a:spcPts val="600"/>
              </a:spcAft>
              <a:defRPr sz="1500">
                <a:solidFill>
                  <a:srgbClr val="1A1A2E"/>
                </a:solidFill>
              </a:defRPr>
            </a:pPr>
            <a:r>
              <a:t>● Tasavvuf qadriyatlarini zamonaviy ta'lim tizimiga integratsiya qilish</a:t>
            </a:r>
          </a:p>
          <a:p>
            <a:pPr>
              <a:spcAft>
                <a:spcPts val="600"/>
              </a:spcAft>
              <a:defRPr sz="1500">
                <a:solidFill>
                  <a:srgbClr val="1A1A2E"/>
                </a:solidFill>
              </a:defRPr>
            </a:pPr>
            <a:r>
              <a:t>● Ruhiy-axloqiy tarbiya dasturlarida tasavvuf merosidan foydalanish</a:t>
            </a:r>
          </a:p>
          <a:p>
            <a:pPr>
              <a:spcAft>
                <a:spcPts val="600"/>
              </a:spcAft>
              <a:defRPr sz="1500">
                <a:solidFill>
                  <a:srgbClr val="1A1A2E"/>
                </a:solidFill>
              </a:defRPr>
            </a:pPr>
            <a:r>
              <a:t>● Xalqaro ilmiy hamkorlikni kengaytirish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C8A415"/>
                </a:solidFill>
              </a:defRPr>
            </a:pPr>
            <a:r>
              <a:t>FOYDALANILGAN ADABIYOTLAR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A1A2E"/>
                </a:solidFill>
              </a:defRPr>
            </a:pPr>
            <a:r>
              <a:t>1. Karimov I.A. Yuksak ma'naviyat — yengilmas kuch. — T.: Ma'naviyat, 2008.</a:t>
            </a:r>
          </a:p>
          <a:p>
            <a:pPr>
              <a:spcAft>
                <a:spcPts val="600"/>
              </a:spcAft>
              <a:defRPr sz="1600">
                <a:solidFill>
                  <a:srgbClr val="1A1A2E"/>
                </a:solidFill>
              </a:defRPr>
            </a:pPr>
            <a:r>
              <a:t>2. Uvatov U. Tasavvuf falsafasi tarixi. — T.: O'zbekiston, 2019.</a:t>
            </a:r>
          </a:p>
          <a:p>
            <a:pPr>
              <a:spcAft>
                <a:spcPts val="600"/>
              </a:spcAft>
              <a:defRPr sz="1600">
                <a:solidFill>
                  <a:srgbClr val="1A1A2E"/>
                </a:solidFill>
              </a:defRPr>
            </a:pPr>
            <a:r>
              <a:t>3. Nasr S.H. The Garden of Truth. — NY: HarperOne, 2007.</a:t>
            </a:r>
          </a:p>
          <a:p>
            <a:pPr>
              <a:spcAft>
                <a:spcPts val="600"/>
              </a:spcAft>
              <a:defRPr sz="1600">
                <a:solidFill>
                  <a:srgbClr val="1A1A2E"/>
                </a:solidFill>
              </a:defRPr>
            </a:pPr>
            <a:r>
              <a:t>4. Chittick W.C. Sufism: A Beginner's Guide. — Oxford: Oneworld, 2008.</a:t>
            </a:r>
          </a:p>
          <a:p>
            <a:pPr>
              <a:spcAft>
                <a:spcPts val="600"/>
              </a:spcAft>
              <a:defRPr sz="1600">
                <a:solidFill>
                  <a:srgbClr val="1A1A2E"/>
                </a:solidFill>
              </a:defRPr>
            </a:pPr>
            <a:r>
              <a:t>5. Komilov N. Tasavvuf. — T.: Movarounnahr-O'zbekiston, 2009.</a:t>
            </a:r>
          </a:p>
          <a:p>
            <a:pPr>
              <a:spcAft>
                <a:spcPts val="600"/>
              </a:spcAft>
              <a:defRPr sz="1600">
                <a:solidFill>
                  <a:srgbClr val="1A1A2E"/>
                </a:solidFill>
              </a:defRPr>
            </a:pPr>
            <a:r>
              <a:t>6. Schimmel A. Mystical Dimensions of Islam. — UNC Press, 1975.</a:t>
            </a:r>
          </a:p>
          <a:p>
            <a:pPr>
              <a:spcAft>
                <a:spcPts val="600"/>
              </a:spcAft>
              <a:defRPr sz="1600">
                <a:solidFill>
                  <a:srgbClr val="1A1A2E"/>
                </a:solidFill>
              </a:defRPr>
            </a:pPr>
            <a:r>
              <a:t>7. Xismatulin A.A. Sufizm. — SPb.: Azbuka-klassika, 2008.</a:t>
            </a:r>
          </a:p>
          <a:p>
            <a:pPr>
              <a:spcAft>
                <a:spcPts val="600"/>
              </a:spcAft>
              <a:defRPr sz="1600">
                <a:solidFill>
                  <a:srgbClr val="1A1A2E"/>
                </a:solidFill>
              </a:defRPr>
            </a:pPr>
            <a:r>
              <a:t>8. Ota Mirzaev S. Tasavvuf va axloq. — T.: Fan, 2015.</a:t>
            </a:r>
          </a:p>
          <a:p>
            <a:pPr>
              <a:spcAft>
                <a:spcPts val="600"/>
              </a:spcAft>
              <a:defRPr sz="1600">
                <a:solidFill>
                  <a:srgbClr val="1A1A2E"/>
                </a:solidFill>
              </a:defRPr>
            </a:pPr>
            <a:r>
              <a:t>9. Trimingham J.S. The Sufi Orders in Islam. — Oxford, 1998.</a:t>
            </a:r>
          </a:p>
          <a:p>
            <a:pPr>
              <a:spcAft>
                <a:spcPts val="600"/>
              </a:spcAft>
              <a:defRPr sz="1600">
                <a:solidFill>
                  <a:srgbClr val="1A1A2E"/>
                </a:solidFill>
              </a:defRPr>
            </a:pPr>
            <a:r>
              <a:t>10. Yo'ldoshev J. Qadriyatlar falsafasi. — T.: Akademnashr, 2020.</a:t>
            </a:r>
          </a:p>
          <a:p>
            <a:pPr>
              <a:spcAft>
                <a:spcPts val="600"/>
              </a:spcAft>
              <a:defRPr sz="1600">
                <a:solidFill>
                  <a:srgbClr val="1A1A2E"/>
                </a:solidFill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1A1A2E"/>
                </a:solidFill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1A1A2E"/>
                </a:solidFill>
              </a:defRPr>
            </a:pPr>
            <a:r>
              <a:t>          ★ E'TIBORINGIZ UCHUN RAHMAT! 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