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7-SINF O'ZBEKISTON TARIXI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962E"/>
                </a:solidFill>
              </a:defRPr>
            </a:pPr>
            <a:r>
              <a:t>ARABLARNING MOVAROUNNAHR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962E"/>
                </a:solidFill>
              </a:defRPr>
            </a:pPr>
            <a:r>
              <a:t>XUROSONNI EGALLASHI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90D9"/>
                </a:solidFill>
              </a:defRPr>
            </a:pPr>
            <a:r>
              <a:t>Mustaqil davlatlarning tashkil topishi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</a:defRPr>
            </a:pPr>
            <a:r>
              <a:t>Darslik: 2017 &amp; 2022 yil nashr</a:t>
            </a:r>
          </a:p>
        </p:txBody>
      </p:sp>
      <p:sp>
        <p:nvSpPr>
          <p:cNvPr id="8" name="Diamond 7"/>
          <p:cNvSpPr/>
          <p:nvPr/>
        </p:nvSpPr>
        <p:spPr>
          <a:xfrm>
            <a:off x="4114800" y="45720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5120640" y="45720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126480" y="45720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7132320" y="45720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8138160" y="45720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962E"/>
                </a:solidFill>
              </a:defRPr>
            </a:pPr>
            <a:r>
              <a:t>ISLOM DINI VA XALIFALIK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2743200"/>
          </a:xfrm>
          <a:prstGeom prst="roundRect">
            <a:avLst/>
          </a:prstGeom>
          <a:solidFill>
            <a:srgbClr val="122E48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MUHAMMAD (S.A.V.) IBN ABDULLOH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Yashagan yillari: 570-632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Quraysh qabilasi, hoshimiylar urug'i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610-yildan vahiy kela boshlaydi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622-yilda Yasrib (Madina)ga hijrat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630-yilda arablarni yagona davlatga birlashtiradi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2743200"/>
          </a:xfrm>
          <a:prstGeom prst="roundRect">
            <a:avLst/>
          </a:prstGeom>
          <a:solidFill>
            <a:srgbClr val="122E48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90D9"/>
                </a:solidFill>
              </a:defRPr>
            </a:pPr>
            <a:r>
              <a:t>ABU BAKR - BIRINCHI XALIFA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Muhammad (s.a.v.)ning eng yaqin safdoshi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632-634-yillarda xalifalik qiladi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Arabiston yarimoroli islomni to'liq qabul qiladi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114800"/>
            <a:ext cx="11612880" cy="2468880"/>
          </a:xfrm>
          <a:prstGeom prst="roundRect">
            <a:avLst/>
          </a:prstGeom>
          <a:solidFill>
            <a:srgbClr val="1A2535"/>
          </a:solidFill>
          <a:ln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962E"/>
                </a:solidFill>
              </a:defRPr>
            </a:pPr>
            <a:r>
              <a:t>XALIFALIKDA IKKI SULOLA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UMAVIYLAR (661-750)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</a:defRPr>
            </a:pPr>
            <a:r>
              <a:t>ABBOSIYLAR (750-1258)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Birinchi bosqich:</a:t>
            </a:r>
            <a:br/>
            <a:r>
              <a:t>Islomni yoyish va sinash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212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Ikkinchi bosqich:</a:t>
            </a:r>
            <a:br/>
            <a:r>
              <a:t>Bevosita xalifalik tarkibiga qo'shish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962E"/>
                </a:solidFill>
              </a:defRPr>
            </a:pPr>
            <a:r>
              <a:t>ARAB ISTILOSI BOSQICHLARI (VII-VIII ASR)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1188720"/>
            <a:ext cx="36576" cy="53035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48840" y="1234440"/>
            <a:ext cx="274320" cy="27432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16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4A90D9"/>
                </a:solidFill>
              </a:defRPr>
            </a:pPr>
            <a:r>
              <a:t>651-yil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216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Marv (Jangsiz) egallandi</a:t>
            </a:r>
          </a:p>
        </p:txBody>
      </p:sp>
      <p:sp>
        <p:nvSpPr>
          <p:cNvPr id="8" name="Oval 7"/>
          <p:cNvSpPr/>
          <p:nvPr/>
        </p:nvSpPr>
        <p:spPr>
          <a:xfrm>
            <a:off x="2148840" y="1709928"/>
            <a:ext cx="274320" cy="27432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4A90D9"/>
                </a:solidFill>
              </a:defRPr>
            </a:pPr>
            <a:r>
              <a:t>654-yil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691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Maymurg' egallandi</a:t>
            </a:r>
          </a:p>
        </p:txBody>
      </p:sp>
      <p:sp>
        <p:nvSpPr>
          <p:cNvPr id="11" name="Oval 10"/>
          <p:cNvSpPr/>
          <p:nvPr/>
        </p:nvSpPr>
        <p:spPr>
          <a:xfrm>
            <a:off x="2148840" y="2185416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167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7AE60"/>
                </a:solidFill>
              </a:defRPr>
            </a:pPr>
            <a:r>
              <a:t>667-yil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1671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Chag'oniyon (birinchi marta)</a:t>
            </a:r>
          </a:p>
        </p:txBody>
      </p:sp>
      <p:sp>
        <p:nvSpPr>
          <p:cNvPr id="14" name="Oval 13"/>
          <p:cNvSpPr/>
          <p:nvPr/>
        </p:nvSpPr>
        <p:spPr>
          <a:xfrm>
            <a:off x="2148840" y="2660904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642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7E22"/>
                </a:solidFill>
              </a:defRPr>
            </a:pPr>
            <a:r>
              <a:t>673-yil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6426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Ubaydulloh ibn Ziyod Buxoroni bosib oladi</a:t>
            </a:r>
          </a:p>
        </p:txBody>
      </p:sp>
      <p:sp>
        <p:nvSpPr>
          <p:cNvPr id="17" name="Oval 16"/>
          <p:cNvSpPr/>
          <p:nvPr/>
        </p:nvSpPr>
        <p:spPr>
          <a:xfrm>
            <a:off x="2148840" y="3136392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1181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0392B"/>
                </a:solidFill>
              </a:defRPr>
            </a:pPr>
            <a:r>
              <a:t>705-yil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118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Balx atroflari egallandi</a:t>
            </a:r>
          </a:p>
        </p:txBody>
      </p:sp>
      <p:sp>
        <p:nvSpPr>
          <p:cNvPr id="20" name="Oval 19"/>
          <p:cNvSpPr/>
          <p:nvPr/>
        </p:nvSpPr>
        <p:spPr>
          <a:xfrm>
            <a:off x="2148840" y="3611880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593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0392B"/>
                </a:solidFill>
              </a:defRPr>
            </a:pPr>
            <a:r>
              <a:t>709-yil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593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Qutayba Buxoroni egallaydi</a:t>
            </a:r>
          </a:p>
        </p:txBody>
      </p:sp>
      <p:sp>
        <p:nvSpPr>
          <p:cNvPr id="23" name="Oval 22"/>
          <p:cNvSpPr/>
          <p:nvPr/>
        </p:nvSpPr>
        <p:spPr>
          <a:xfrm>
            <a:off x="2148840" y="4087368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0392B"/>
                </a:solidFill>
              </a:defRPr>
            </a:pPr>
            <a:r>
              <a:t>710-yil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069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Naxshab va Kesh egallandi</a:t>
            </a:r>
          </a:p>
        </p:txBody>
      </p:sp>
      <p:sp>
        <p:nvSpPr>
          <p:cNvPr id="26" name="Oval 25"/>
          <p:cNvSpPr/>
          <p:nvPr/>
        </p:nvSpPr>
        <p:spPr>
          <a:xfrm>
            <a:off x="2148840" y="4562856"/>
            <a:ext cx="274320" cy="2743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544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8E44AD"/>
                </a:solidFill>
              </a:defRPr>
            </a:pPr>
            <a:r>
              <a:t>711-yil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5445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Xorazm egallandi</a:t>
            </a:r>
          </a:p>
        </p:txBody>
      </p:sp>
      <p:sp>
        <p:nvSpPr>
          <p:cNvPr id="29" name="Oval 28"/>
          <p:cNvSpPr/>
          <p:nvPr/>
        </p:nvSpPr>
        <p:spPr>
          <a:xfrm>
            <a:off x="2148840" y="5038344"/>
            <a:ext cx="274320" cy="2743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0200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8E44AD"/>
                </a:solidFill>
              </a:defRPr>
            </a:pPr>
            <a:r>
              <a:t>712-yil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502005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Samarqand egallandi (Podshoh G'urak)</a:t>
            </a:r>
          </a:p>
        </p:txBody>
      </p:sp>
      <p:sp>
        <p:nvSpPr>
          <p:cNvPr id="32" name="Oval 31"/>
          <p:cNvSpPr/>
          <p:nvPr/>
        </p:nvSpPr>
        <p:spPr>
          <a:xfrm>
            <a:off x="2148840" y="5513831"/>
            <a:ext cx="274320" cy="2743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549554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8E44AD"/>
                </a:solidFill>
              </a:defRPr>
            </a:pPr>
            <a:r>
              <a:t>713-yil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5495543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Choch viloyati (Madinat ash-Shosh)</a:t>
            </a:r>
          </a:p>
        </p:txBody>
      </p:sp>
      <p:sp>
        <p:nvSpPr>
          <p:cNvPr id="35" name="Oval 34"/>
          <p:cNvSpPr/>
          <p:nvPr/>
        </p:nvSpPr>
        <p:spPr>
          <a:xfrm>
            <a:off x="2148840" y="5989320"/>
            <a:ext cx="274320" cy="27432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5971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6A085"/>
                </a:solidFill>
              </a:defRPr>
            </a:pPr>
            <a:r>
              <a:t>715-yil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5971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Farg'ona vodiysi - Koshg'argacha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DASTLABKI BOSQINLAR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2286000"/>
          </a:xfrm>
          <a:prstGeom prst="roundRect">
            <a:avLst/>
          </a:prstGeom>
          <a:solidFill>
            <a:srgbClr val="122E4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MUOVIYA I (661-680)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Umaviylar sulolasining birinchi vakili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Uning farmoni bilan Ubaydulloh ibn Ziyod yuboriladi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673-yilda Amudaryodan kechib Buxoroga kiradi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2286000"/>
          </a:xfrm>
          <a:prstGeom prst="roundRect">
            <a:avLst/>
          </a:prstGeom>
          <a:solidFill>
            <a:srgbClr val="122E48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UBAYDULLOH IBN ZIYOD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Poykand va Romitonni egallaydi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Buxoro hukmdorini yengadi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100 000 dirham tovon undiradi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4000 asir, qurol, oltin-kumush o'ljalar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Yo'l-yo'lakay Termizni egallaydi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657600"/>
            <a:ext cx="11612880" cy="2926080"/>
          </a:xfrm>
          <a:prstGeom prst="roundRect">
            <a:avLst/>
          </a:prstGeom>
          <a:solidFill>
            <a:srgbClr val="1A253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085"/>
                </a:solidFill>
              </a:defRPr>
            </a:pPr>
            <a:r>
              <a:t>📋 MAHALLIY HOKIMLIKLAR HOLATI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Kuchli markazlashgan hokimiyat YO'Q - konfederatsiya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Sug'd va Toxariston → Mulklarga bo'lingan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Choch va Iloq → Yarim mulklarga bo'lingan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Farg'ona → Hokimliklarga bo'lingan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Ustrushona, Chag'oniyon, Kabodiyon, Xuttalon → o'z hokimlari boshqargan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Balx, Choch, Ustrushona, Sug'd aholisi → jangovar turkiylar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Arablarga qarshi fors, turk va sug'd qo'shinlari ittifoqi Balxni qaytarib olgan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962E"/>
                </a:solidFill>
              </a:defRPr>
            </a:pPr>
            <a:r>
              <a:t>QUTAYBA IBN MUSLIM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5303520"/>
          </a:xfrm>
          <a:prstGeom prst="roundRect">
            <a:avLst/>
          </a:prstGeom>
          <a:solidFill>
            <a:srgbClr val="122E48"/>
          </a:solidFill>
          <a:ln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2E"/>
                </a:solidFill>
              </a:defRPr>
            </a:pPr>
            <a:r>
              <a:t>👤 SHAXSIY MA'LUMOTLAR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To'liq ismi: Amir Qutayba ibn Muslim ibn Umar...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Arab lashkarboshisi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704-yilda Xurosonga noib etib yuborilgan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Shomning Boxila joyida tavallud topgan (Narshaxiy)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G'ayratli, uddaburon, adolatli hukmdor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Ilmli va she'riyatni qadrlovchi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715-yilda Xalifa Sulaymonga bo'ysunmagani uchun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Farg'onada arab askarlari tomonidan o'ldirilgan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5303520"/>
          </a:xfrm>
          <a:prstGeom prst="roundRect">
            <a:avLst/>
          </a:prstGeom>
          <a:solidFill>
            <a:srgbClr val="122E48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⚔️ ZABT ETGAN HUDUDLAR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705-yil: Balx atroflari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709-yil: Buxoro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710-yil: Naxshab va Kesh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711-yil: Xorazm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712-yil: Samarqand (G'urak 710-737)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713-yil: Choch viloyati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715-yil: Farg'ona - Koshg'argacha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</a:defRPr>
            </a:pPr>
            <a:r>
              <a:t>📌 ISLOMLASHTIRISHDA: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Zardushtiylar ibodatxonasini jome masjidga aylantirgan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Sug'diy yozuvda bitilgan asarlarni yo'qotgan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Ibodat qiluvchilarga 2 dirhamdan pul to'lagan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962E"/>
                </a:solidFill>
              </a:defRPr>
            </a:pPr>
            <a:r>
              <a:t>ARAB SOLIQ TIZIMI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80160"/>
          <a:ext cx="10332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SOLIQ NOMI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TA'RIFI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MIQDORI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JIZYA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Islomni qabul qilmaganlarga jon solig'i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Har yili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ZAKOT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Mol-mulkdan olinadigan soliq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1/40 qismi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XIROJ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Hosildan olinadigan yer solig'i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1/3 qismi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USHR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Idora ishlari uchun daromad solig'i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1/10 qismi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3657600"/>
            <a:ext cx="5669280" cy="2743200"/>
          </a:xfrm>
          <a:prstGeom prst="roundRect">
            <a:avLst/>
          </a:prstGeom>
          <a:solidFill>
            <a:srgbClr val="122E48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UMAR IBN ABDULAZIZ (717-719)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Yerli xalqlar bilan kelishish siyosati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Yangi yerlarni zabt etish TO'XTATILDI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Islomni qabul qilganlardan xiroj va jizya BEKOR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669280" cy="2743200"/>
          </a:xfrm>
          <a:prstGeom prst="roundRect">
            <a:avLst/>
          </a:prstGeom>
          <a:solidFill>
            <a:srgbClr val="122E48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</a:defRPr>
            </a:pPr>
            <a:r>
              <a:t>NASR IBN SAYYOR (738-748)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Moliya islohotini o'tkazadi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Yangi musulmonlar jizyadan ozod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Barcha musulmonlar huquqda tenglashtirildi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Xirojni yer egasidan (e'tiqodidan qat'iy nazar) olish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Arab lashkarboshilari + dehqonlar qon-qarindoshlik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O'zi Buxorxudotning qiziga uylangan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CCEE"/>
                </a:solidFill>
              </a:defRPr>
            </a:pPr>
            <a:r>
              <a:t>📌 Soliqlarni vaqtida to'lamaganlarga bo'yinlariga "qarzdor" deb yozilgan taxtacha osib qo'yilgan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962E"/>
                </a:solidFill>
              </a:defRPr>
            </a:pPr>
            <a:r>
              <a:t>ARABLARGA QARSHI QO'ZG'OLONLAR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1612880" cy="2011680"/>
          </a:xfrm>
          <a:prstGeom prst="roundRect">
            <a:avLst/>
          </a:prstGeom>
          <a:solidFill>
            <a:srgbClr val="122E48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1️⃣ G'URAK VA DIVASHTISH QO'ZG'OLONI (720-yil)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G'urak (sug'd podshosi 710-737) va Divashtish (Panjikent hokimi) boshchiligida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Yettisuvdan turk lashkari yordam berdi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Arablarga qattiq zarba berildi - faqat ayrim qal'alarda qolgan arablar katta o'lpon bilan jon saqladi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Ashros (Xuroson noibi): Islomni qabul qilganlardan soliq olmaslik → dehqonlar arablar tomoniga o'tdi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383280"/>
            <a:ext cx="11612880" cy="3200400"/>
          </a:xfrm>
          <a:prstGeom prst="roundRect">
            <a:avLst/>
          </a:prstGeom>
          <a:solidFill>
            <a:srgbClr val="122E4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</a:defRPr>
            </a:pPr>
            <a:r>
              <a:t>2️⃣ MUQANNA QO'ZG'OLONI - "OQ KIYIMLILAR" (769-783)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Asl ismi: Hoshim ibn Hakim | Yashagan yillari: 719-783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Marv yaqinidagi Koza qishlog'ida tug'ilgan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"Niqobdor" laqabi - boshi va yuziga ko'k parda tutgan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Abu Muslim zamonida lashkarboshi, so'ngra vazir bo'lgan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Mazdak g'oyalariga asoslangan ijtimoiy tenglik ta'limotini targ'ib etgan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Naxshab va Keshdan boshlangan, Sug'd, Eloq, Shoshga tarqalgan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Xalifa Mansur 775-yilda katta harbiy kuch yubordi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4 oy kurashdan so'ng mag'lubiyat - Som qal'asida vafot etgan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392B"/>
                </a:solidFill>
              </a:defRPr>
            </a:pPr>
            <a:r>
              <a:t>❌ Yengilish sabablari: 1) Uyushqoqlik yo'qligi  2) Mulkdorlar arablar tomoniga o'tgan  3) Uzoq kurash mehnatni holdan toydirgan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962E"/>
                </a:solidFill>
              </a:defRPr>
            </a:pPr>
            <a:r>
              <a:t>ABU MUSLIM VA ABBOSIYLAR INQILOBI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5303520"/>
          </a:xfrm>
          <a:prstGeom prst="roundRect">
            <a:avLst/>
          </a:prstGeom>
          <a:solidFill>
            <a:srgbClr val="122E48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E44AD"/>
                </a:solidFill>
              </a:defRPr>
            </a:pPr>
            <a:r>
              <a:t>ABU MUSLIM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Ismi: "Eng yaxshi musulmon" ma'nosi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Kufalik targ'ibotchi - Abbosiylar yuborgan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Xurosonga kelganida arab zodagonlari qo'llagan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747-749-yillarda Xuroson va Movarounnahrda qo'zg'olon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747-yil: Marv egallandi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749-yil: Damashq egallandi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Umaviylar ag'darilib, Abbosiylar hokimiyatga keldi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750-yilda Buxorodagi qo'zg'olonni bostirgan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Bag'dodda yuqori lavozimga tayinlandi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Xalq orasidagi obro'yidan xavfsirab, uzoqlashtirildi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755-yilda qurolsiz saroyga kelganida o'ldirildi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5303520"/>
          </a:xfrm>
          <a:prstGeom prst="roundRect">
            <a:avLst/>
          </a:prstGeom>
          <a:solidFill>
            <a:srgbClr val="122E48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</a:defRPr>
            </a:pPr>
            <a:r>
              <a:t>⚔️ TALAS JANGI (751-yil)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Farg'ona ixshidi va Choch maliki o'rtasida ixtilof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Xitoy (Tan imperiyasi) Turonga yurish boshlaydi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Koreys Gao Syanchji boshchiligida qo'shin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Abu Muslim - Ziyod ibn Solih boshchiligida javob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Arab va turonliklardan iborat qo'shin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Qarluqlar Xitoyliklarga zarba berdi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Jang 5 KUN davom etgan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NATIJA: Xitoy qo'shini yengildi!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2E"/>
                </a:solidFill>
              </a:defRPr>
            </a:pPr>
            <a:r>
              <a:t>📜 QOG'OZ KASHFIYOTI: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9377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Asir xitoyliklar qog'oz sirini o'rgatdi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IX asrga kelib qog'oz ishlab chiqarish yirik tarmoqqa aylandi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"Samarqand sulton qog'ozi" - yupqa, silliq, yumshoq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"Samarqand shoyi qog'ozi" - och sariq rangda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962E"/>
                </a:solidFill>
              </a:defRPr>
            </a:pPr>
            <a:r>
              <a:t>MUSTAQIL DAVLATLAR TASHKIL TOPISHI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1612880" cy="1645920"/>
          </a:xfrm>
          <a:prstGeom prst="roundRect">
            <a:avLst/>
          </a:prstGeom>
          <a:solidFill>
            <a:srgbClr val="1A2535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7E22"/>
                </a:solidFill>
              </a:defRPr>
            </a:pPr>
            <a:r>
              <a:t>🔥 ROFE IBN LAYS QO'ZG'OLONI (806-yil)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Samarqanddan boshlangan → Shosh, Farg'ona, Buxoro, Naxshab, Xorazmga tarqalgan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Ma'mun (Horun ar-Rashidning o'g'li) Somonxudotning nabiralaridan yordam so'ragan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Nuh, Ahmad va Yahyo → Rofeni qo'lga olib taslim qildilar → Buning evaziga shaharlarga hokim etib tayinlandilar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01752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DAVLAT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DAVR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POYTAXT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ASOSIY MA'LUMOT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Qarluqlar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VIII asr o'rtalari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Suyob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Turkiy qabilalar, jun eksporti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O'g'uzlar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IX-X asr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Yangikent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Sirdaryo quyi oqimi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Tohiriylar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821-873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Marv/Nishopuur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Tohir ibn Husayn asos solgan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Safforiylar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873-900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Xuroson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Ya'qub va Amr ibn Lays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Somoniylar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875-999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Buxoro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Ismoil Somoniy birlashtirgan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G'aznaviylar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962-1186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G'azna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Alptegin asos solgan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Qoraxoniylar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999-1141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Bolasog'un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Sotuk Bug'roxon asos solgan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962E"/>
                </a:solidFill>
              </a:defRPr>
            </a:pPr>
            <a:r>
              <a:t>SOMONIYLAR SULOLASI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90D9"/>
                </a:solidFill>
              </a:defRPr>
            </a:pPr>
            <a:r>
              <a:t>📜 SULOLA SHAJARASI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962E"/>
                </a:solidFill>
              </a:defRPr>
            </a:pPr>
            <a:r>
              <a:t>SOMONXUDOT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962E"/>
                </a:solidFill>
              </a:defRPr>
            </a:pPr>
            <a:r>
              <a:t>ASAD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90D9"/>
                </a:solidFill>
              </a:defRPr>
            </a:pPr>
            <a:r>
              <a:t>NUH (Samarqand)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90D9"/>
                </a:solidFill>
              </a:defRPr>
            </a:pPr>
            <a:r>
              <a:t>AHMAD (Farg'ona)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90D9"/>
                </a:solidFill>
              </a:defRPr>
            </a:pPr>
            <a:r>
              <a:t>YAHYO (Shosh)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90D9"/>
                </a:solidFill>
              </a:defRPr>
            </a:pPr>
            <a:r>
              <a:t>ILYOS (Hirot)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108960"/>
            <a:ext cx="11612880" cy="1371600"/>
          </a:xfrm>
          <a:prstGeom prst="roundRect">
            <a:avLst/>
          </a:prstGeom>
          <a:solidFill>
            <a:srgbClr val="122E48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085"/>
                </a:solidFill>
              </a:defRPr>
            </a:pPr>
            <a:r>
              <a:t>📋 KELIB CHIQISHI: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Shajarasi sosoniy harbiy qo'mondon Bahrom Chubinga (VI asr) borib taqaladi. Ayrim ma'lumotlarga ko'ra, sosoniylar xizmatidagi o'g'uz turklaridan bo'lgan. Avlodlari Balxda yashab, Xuroson va Movarounnahrga noib etib yuborilgan.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2011680"/>
          </a:xfrm>
          <a:prstGeom prst="roundRect">
            <a:avLst/>
          </a:prstGeom>
          <a:solidFill>
            <a:srgbClr val="1A2535"/>
          </a:solidFill>
          <a:ln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2E"/>
                </a:solidFill>
              </a:defRPr>
            </a:pPr>
            <a:r>
              <a:t>👑 ASOSIY HUKMDORLAR: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NASR (865-888) → ISMOIL (888-907) → AHMAD II → NASR II (914-943) → NUH ibn NASR (943-954) → MANSUR (954-976) → NUH II (976-997)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X asr oxirida hokimiyat QORAXONIYLAR qo'liga o'tadi. Xuroson esa G'AZNAVIYLAR tobeligiga.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962E"/>
                </a:solidFill>
              </a:defRPr>
            </a:pPr>
            <a:r>
              <a:t>ISMOIL SOMONIY (849-907)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5303520"/>
          </a:xfrm>
          <a:prstGeom prst="roundRect">
            <a:avLst/>
          </a:prstGeom>
          <a:solidFill>
            <a:srgbClr val="122E48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🏛️ DAVLAT ARBOBI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849-yilda Farg'onada tug'ilgan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14 yoshida otasi vafot etib, akasi Nasr tarbiyasida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888-yilda butun Movarounnahrni birlashtirdi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893-yilda Taroz shahrini zabt etib dashtliklarga zarba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900-yilda Amr ibn Laysni yengib Xurosonni birlashtirdi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Poytaxtni BUXORO deb e'lon qildi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"Aqlli, adolatli, fikr va tadbir egasi" (manba)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O'rta asrlarning qobiliyatli va zukko davlat arbobi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62E"/>
                </a:solidFill>
              </a:defRPr>
            </a:pPr>
            <a:r>
              <a:t>🏛️ Somoniylar maqbarasi qurilgan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Birlashtirgan: Farg'ona, Isfijob, Shosh,</a:t>
            </a:r>
            <a:br/>
            <a:r>
              <a:t>Samarqand, Buxoro, Xorazm, Chag'oniyon,</a:t>
            </a:r>
            <a:br/>
            <a:r>
              <a:t>Xuttalon, Kesh, Xuroson, Seyiston, G'azna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5303520"/>
          </a:xfrm>
          <a:prstGeom prst="roundRect">
            <a:avLst/>
          </a:prstGeom>
          <a:solidFill>
            <a:srgbClr val="122E4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</a:defRPr>
            </a:pPr>
            <a:r>
              <a:t>⚔️ HARBIY TIZIM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Maxsus muntazam sarbozlar - yaxshi qurollangan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Yaxshi xizmat qilganlar "HOJIB" lavozimiga ko'tarilgan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Lashkar 2 toifaga bo'lingan: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1) Doimiy saralangan qismlar (gvardiya)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2) Zarur hollarda viloyatlardan yig'iladigan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Sakkiz bosqichli xizmat tizimi: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Oddiy piyoda → Visoqboshi (4 kishi)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→ Haylboshi (kichik qo'shin boshlig'i)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Turkiy qullardan yirik sarkardalar yetishgan: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Samjuriy, Alptegin, Tosh, Foyiq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962E"/>
                </a:solidFill>
              </a:defRPr>
            </a:pPr>
            <a:r>
              <a:t>SOMONIYLAR: IQTISODIYOT VA SAVDO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56692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HUDUD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MAHSULOT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Samarqand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Qog'oz ishlab chiqarish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Shosh (Toshkent)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Ko'nchilik mahsulotlari va charm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Eloq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Kumush va qo'rg'oshin konlari, zarbxona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Xorazm, Termiz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Qayiqsozlik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Buxoro (Zandana)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Mallarang bo'z "zandanichi"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Samarqand (Vador)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Mato "vadoriy"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217920" y="1188720"/>
            <a:ext cx="5669280" cy="4114800"/>
          </a:xfrm>
          <a:prstGeom prst="roundRect">
            <a:avLst/>
          </a:prstGeom>
          <a:solidFill>
            <a:srgbClr val="122E48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A085"/>
                </a:solidFill>
              </a:defRPr>
            </a:pPr>
            <a:r>
              <a:t>🛤️ XALQARO SAVDO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SHIMOLIY YO'L (Sibir, Mo'g'uliston):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Olib borilgan: bo'z, kiyim, egar, qilich, zargarlik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Keltirilgan: qimmatbaho mo'ynalar, chorva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XITOY YO'LI: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Choy, ipak mato, tuz va ot - asosiy mollar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VII-VIII asrlarda choy asosiy importga aylangan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ITIL, XAZAR, BULG'OR: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Olib borilgan: guruch, quruq meva, gilamlar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Keltirilgan: mo'ynalar, shamlar, qalpoqlar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669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962E"/>
                </a:solidFill>
              </a:defRPr>
            </a:pPr>
            <a:r>
              <a:t>🪙 TANGALAR: "Ismoiliy" (sof kumush, xalqaro savdo), "Muhammadiy" tangalar. Ichki bozorda "fals" (mis chaqa), xalqaro savdoda dirham. Sarroflik cheklari ham ishlatilgan.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CCEE"/>
                </a:solidFill>
              </a:defRPr>
            </a:pPr>
            <a:r>
              <a:t>📌 Maqdisiy: "Xorazm kamonlari, Choch sopol idishlari, Samarqand qog'ozlari - Buyuk Ipak yo'lidagi eng mashhur mollar"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962E"/>
                </a:solidFill>
              </a:defRPr>
            </a:pPr>
            <a:r>
              <a:t>SOMONIYLAR: YER EGALIGI VA BOSHQARUV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YER TURI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EGASI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SOLIQ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Mulki sultoniy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Davlat tasarrufidagi yerlar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Xiroj 1/3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Mulk yerlari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Dehqon, aslzodalar, xususiy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Xiroj 1/3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Vaqf yerlari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Masjid, madrasa, xonaqoh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Xiroj 1/3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Mulki xos (din)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Oliy din peshvolari, sayyidlar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Ushr 1/10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Mulki xos (jamoat)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Qishloq jamoalari (lalmikor)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0" y="1188720"/>
            <a:ext cx="5029200" cy="5303520"/>
          </a:xfrm>
          <a:prstGeom prst="roundRect">
            <a:avLst/>
          </a:prstGeom>
          <a:solidFill>
            <a:srgbClr val="122E48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</a:defRPr>
            </a:pPr>
            <a:r>
              <a:t>🏛️ BOSHQARUV TIZIMI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73736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VAZIR - devonxona boshlig'i (bosh vazir)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USTOD - din va ilm peshvolari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(keyinchalik "Shayx ul-Islom")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XATIB - masjidda nutq so'zlovchi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HOJIB - harbiy unvon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📋 DAVLAT XIZMATIGA TALABLAR: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• Davlat tilini mukammal bilish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• Zamona huquq me'yorlarini bilish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• Tarix, adabiyot ilmlaridan xabardorlik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• Hisob-kitob bilimdonligi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085"/>
                </a:solidFill>
              </a:defRPr>
            </a:pPr>
            <a:r>
              <a:t>🏛️ ME'MORCHILIK: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Sirlanmagan va sirlangan koshin, sopol plitkalar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Parchin (mayolika) usuli kashf etildi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SOMONIYLAR MAQBARASI - kubsimon, 10m, gumbazli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"Chortoq" kompozitsiya tipi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Qavat qal'a (Xorazm), Qirqqiz qal'asi (Termiz)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Farjak madrasasi (Buxoro, X asr) - O'rta Osiyoda ilk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962E"/>
                </a:solidFill>
              </a:defRPr>
            </a:pPr>
            <a:r>
              <a:t>G'AZNAVIYLAR DAVLATI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749039" cy="2743200"/>
          </a:xfrm>
          <a:prstGeom prst="roundRect">
            <a:avLst/>
          </a:prstGeom>
          <a:solidFill>
            <a:srgbClr val="122E48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90D9"/>
                </a:solidFill>
              </a:defRPr>
            </a:pPr>
            <a:r>
              <a:t>ALPTEGIN (962-963)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Somoniylarning sobiq quli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Yirik harbiy sarkarda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Xuroson viloyati hokimi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G'azna va Kabulni mustaqil boshqargan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Boyib, ko'p shaharlarda qasr, karvonsaroy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749039" cy="2743200"/>
          </a:xfrm>
          <a:prstGeom prst="roundRect">
            <a:avLst/>
          </a:prstGeom>
          <a:solidFill>
            <a:srgbClr val="122E48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SABUKTEGIN (977-997)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373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Barsxon turkiy qabilasiga mansub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Yoshligida asir, keyin qul qilib sotilgan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Alptegin uni qaramog'iga olgan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"Nosiriddin ad-davla" unvoni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Somoniylar noibi, aslida mustaqil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749039" cy="2743200"/>
          </a:xfrm>
          <a:prstGeom prst="roundRect">
            <a:avLst/>
          </a:prstGeom>
          <a:solidFill>
            <a:srgbClr val="122E4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</a:defRPr>
            </a:pPr>
            <a:r>
              <a:t>MAHMUD (997-1030)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"Yamin ud-davla" unvoni (xalifa)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G'aznadagi ilk madrasani ochgan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Fors, arab, pahlaviy tillarini bilgan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Balx, Nishopurni obod qilgan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Beruniy saroyiga olib kelgan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11612880" cy="2468880"/>
          </a:xfrm>
          <a:prstGeom prst="roundRect">
            <a:avLst/>
          </a:prstGeom>
          <a:solidFill>
            <a:srgbClr val="1A2535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392B"/>
                </a:solidFill>
              </a:defRPr>
            </a:pPr>
            <a:r>
              <a:t>⚔️ HAZORASP JANGI (1017-yil)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Xorazmshoh Ma'mun ibn Ma'munga suiqasd → Mahmud Xorazmga yurish qildi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Xorazm qo'shinini mag'lubiyatga uchratdi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Ko'plab boyliklar + fan arboblari G'aznaga ko'chirildi (ABU RAYHON BERUNIY ham!)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Xorazmga ulug' hojib OLTUNTOSH noib etib tayinlandi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Zabt etgan: Ray, Jilob, Chag'oniyon, Qobodiyon, Xuttalon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962E"/>
                </a:solidFill>
              </a:defRPr>
            </a:pPr>
            <a:r>
              <a:t>G'AZNAVIYLAR: BOSHQARUV VA ADABIYOT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5303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DEVON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VAZIFASI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Vazir devoni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Bosh vazir devoni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Harbiy ishlar devoni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Qo'shin boshqaruvi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Moliya devoni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Kirim-chiqim ishlari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Xat-xabar devoni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Rasmiy yozishmalar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Elchilik devoni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Tashqi munosabatlar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43600" y="1188720"/>
            <a:ext cx="5943600" cy="2743200"/>
          </a:xfrm>
          <a:prstGeom prst="roundRect">
            <a:avLst/>
          </a:prstGeom>
          <a:solidFill>
            <a:srgbClr val="122E48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2801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</a:defRPr>
            </a:pPr>
            <a:r>
              <a:t>👑 LAVOZIMLAR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4592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VOLIY - viloyat hukmdori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RAIS - shahar hokimi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AMID - viloyat boshqaruvi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KUTVOL - shaharlarda boshqaruvchi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SIPOHDOR - saroy xizmatchisi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DAVOTDOR - hukmdor hujjatlari yurituvchi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PARDADOR - xufiya ishlarni bajaruvchi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SIPOHSOLOR - bosh qo'mondon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114800"/>
            <a:ext cx="11612880" cy="2468880"/>
          </a:xfrm>
          <a:prstGeom prst="roundRect">
            <a:avLst/>
          </a:prstGeom>
          <a:solidFill>
            <a:srgbClr val="1A2535"/>
          </a:solidFill>
          <a:ln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2E"/>
                </a:solidFill>
              </a:defRPr>
            </a:pPr>
            <a:r>
              <a:t>📚 ADABIYOT VA ILM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ABU RAYHON BERUNIY - "Qonuni Ma'sudiy" (Ma'sud G'aznaviyga bag'ishlangan), rasadxona ochgan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BAYHAQIY - "Tarixi Ma'sudiy" asari muallifi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Saroyda: Farruxiy, Sanoiy, Unsuriy, Manuchehriy, Utbiy, Gardiziy faoliyat ko'rsatgan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FIRDAVSIY - "Shohnoma" asari: Sulton 60 000 kumush dirham bergan → shoir aholiga tarqatib hurmatsizlik → o'limga hukm → bekor → shahardan chiqarilgan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Ulug' hojib Ali Qarib - Mahmuddan keyin hokimiyatni qo'lga olgan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8962E"/>
                </a:solidFill>
              </a:defRPr>
            </a:pPr>
            <a:r>
              <a:t>MAHMUD G'AZNAVIYNI "MAG'LUB ETGAN" MALIKA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1612880" cy="5303520"/>
          </a:xfrm>
          <a:prstGeom prst="roundRect">
            <a:avLst/>
          </a:prstGeom>
          <a:solidFill>
            <a:srgbClr val="122E48"/>
          </a:solidFill>
          <a:ln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962E"/>
                </a:solidFill>
              </a:defRPr>
            </a:pPr>
            <a:r>
              <a:t>👑 SAYIDA XOTUN - RAY HOKIMI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Mahmud G'aznaviy talab qiladi: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Juma namozida o'z nomini xutbaga qo'shish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O'z nomi bilan tanga chiqarish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Aks holda - G'azna qo'shini kuch bilan viloyatni egallaydi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</a:defRPr>
            </a:pPr>
            <a:r>
              <a:t>Sayida Xotun javobi: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"Agar u bizga hujum qilsa - ikkisidan biri bo'ladi:</a:t>
            </a:r>
            <a:br/>
            <a:r>
              <a:t>Agar G'ALABA menga nasib etsa - butun dunyo Sulton Mahmud xotin hukmdordan yengildi deb yozadi.</a:t>
            </a:r>
            <a:br/>
            <a:r>
              <a:t>Agar Sulton MENI YENGSA - unga shuhrat kelmaydi, chunki hech kim xotin hukmdorni yengdim deb maqtamaydi."</a:t>
            </a:r>
            <a:br/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8962E"/>
                </a:solidFill>
              </a:defRPr>
            </a:pPr>
            <a:r>
              <a:t>✅ NATIJA: Sulton Mahmud 29 yil davomida Rayga hujum QILMADI!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CCEE"/>
                </a:solidFill>
              </a:defRPr>
            </a:pPr>
            <a:r>
              <a:t>Faqat 1029-yilda (Sayida Xotun vafotidan keyin) Rayni egalladi.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962E"/>
                </a:solidFill>
              </a:defRPr>
            </a:pPr>
            <a:r>
              <a:t>QORAXONIYLAR DAVLATI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5303520"/>
          </a:xfrm>
          <a:prstGeom prst="roundRect">
            <a:avLst/>
          </a:prstGeom>
          <a:solidFill>
            <a:srgbClr val="122E48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</a:defRPr>
            </a:pPr>
            <a:r>
              <a:t>📋 ASOSIY MA'LUMOTLAR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Asoschisi: Abdulkarim Sotuk Bug'roxon (859-955)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Qarluq, chigil, yag'mo qabilalari yetakchi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Hududi: Sharqiy Turkiston, Yettisuv, Tyanshan janubi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G'arbda: Isfijob, O'zgand, Murg'ob quyi oqimi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Sharqda: Balxash ko'li - Cherchen daryosigacha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Hukmronligi Turonda 200 yilga yaqin davom etgan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"Qora" laqabi Bilgakulga nisbatan (taxmin)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XI asr: G'arbiy va Sharqiy xoqonliklarga bo'lingan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5303520"/>
          </a:xfrm>
          <a:prstGeom prst="roundRect">
            <a:avLst/>
          </a:prstGeom>
          <a:solidFill>
            <a:srgbClr val="122E48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⚔️ MOVAROUNNAHRGA BOSQINLAR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992-yil: Horun Bug'roxon Buxoroni egallaydi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Nuh ibn Mansur (976-997) G'aznadagi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Sobuqteginni yordamga chaqiradi (20 ming qo'shin)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996-yil: Yana hujum → Sirdaryo qoraxoniylarga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Amudaryo janubi → G'aznaviylarga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  Somoniylar markaziga qoladi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999-yil: Nasr Eloqxon Somoniylarni butunlay tugatdi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1005-yildan: Buxoro, Samarqand qo'lga kiritildi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1006-1008: Xurosonga yurish (Mahmud mag'lub etdi)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1038: Ibrohim Bo'ritegin Movarounnahrni egallaydi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7E22"/>
                </a:solidFill>
              </a:defRPr>
            </a:pPr>
            <a:r>
              <a:t>🔚 1141-yil: QORAXITOYLAR tomonidan tugatildi (1137-yil Xo'jandda birinchi zarba)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962E"/>
                </a:solidFill>
              </a:defRPr>
            </a:pPr>
            <a:r>
              <a:t>QORAXONIYLAR: BOSHQARUV VA HARBIY 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5486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XIZMAT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VAZIFASI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Saroy boshqaruvchisi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Dargoh faoliyatini boshqarish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Biruk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Mehmonlarni qabul qilish boshlig'i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Ag'ichi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Xazinachi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Oshchi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Oshxona mutasaddisi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Qushchi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Ov uyushtirish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43600" y="1188720"/>
            <a:ext cx="5943600" cy="2743200"/>
          </a:xfrm>
          <a:prstGeom prst="roundRect">
            <a:avLst/>
          </a:prstGeom>
          <a:solidFill>
            <a:srgbClr val="122E4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2801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7E22"/>
                </a:solidFill>
              </a:defRPr>
            </a:pPr>
            <a:r>
              <a:t>⚔️ HARBIY TIZIM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4592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Maxsus saralangan harbiy qism - hukmdor xavfsizligi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Yirik lashkarboshilar: sulola vakillari va sodiq sarkardalar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CHOVUSH - kichik zobitlar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HAYLBOSHI - otliqlar sardori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YUZBOSHI - yuz kishilik bo'linma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MINGBOSHI - ming kishilik bo'linma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114800"/>
            <a:ext cx="5486400" cy="2560320"/>
          </a:xfrm>
          <a:prstGeom prst="roundRect">
            <a:avLst/>
          </a:prstGeom>
          <a:solidFill>
            <a:srgbClr val="143250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085"/>
                </a:solidFill>
              </a:defRPr>
            </a:pPr>
            <a:r>
              <a:t>🗺️ QARLUQLAR DAVLATI CHEGARALARI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Elsuvi daryosi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Chigil qabilasi yaylovlari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Yag'molar vohasi va Sharqiy Turkiston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▸ O'g'uz yurti va Farg'ona vodiysi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114800"/>
            <a:ext cx="5943600" cy="2560320"/>
          </a:xfrm>
          <a:prstGeom prst="roundRect">
            <a:avLst/>
          </a:prstGeom>
          <a:solidFill>
            <a:srgbClr val="14325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</a:defRPr>
            </a:pPr>
            <a:r>
              <a:t>🐎 O'G'UZLAR DAVLATI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66344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IX-X asr: Sirdaryo quyi oqimi (Yangikent)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X asr boshida qipchoqlar tomonidan zarba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Bir qismi G'arbga (Shimoliy Kavkaz)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Ikkinchi qismi → Saljuqiylar (Old Osiyo)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▸ Etnogenez: turkman, ozarbayjon, qoraqalpoq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A5C"/>
                </a:solidFill>
              </a:defRPr>
            </a:pPr>
            <a:r>
              <a:t>DAVLATLAR QIYOSIY JADVALI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822960"/>
            <a:ext cx="8229600" cy="3657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DAVLAT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DAVR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ASOSCHISI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POYTAXT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TUGATILISHI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Tohiriylar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821-873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Tohir ibn Husayn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Marv/Nishopur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Safforiylar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Safforiylar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873-900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Ya'qub ibn Lays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Xuroson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Ismoil Somoniy (Balx)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Somoniylar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875-999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Ismoil Somoniy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Buxoro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Qoraxoniylar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G'aznaviylar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962-1186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Alptegin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G'azna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G'uriylar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Qoraxoniylar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999-1141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Sotuk Bug'roxon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Bolasog'un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Qoraxitoylar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Qarluqlar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VIII asr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Suyob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Singib ketgan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O'g'uzlar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IX-X asr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Yangikent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B3A5C"/>
                          </a:solidFill>
                        </a:defRPr>
                      </a:pPr>
                      <a:r>
                        <a:t>Qipchoqlar/Saljuqiylar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5212080"/>
            <a:ext cx="11612880" cy="1371600"/>
          </a:xfrm>
          <a:prstGeom prst="roundRect">
            <a:avLst/>
          </a:prstGeom>
          <a:solidFill>
            <a:srgbClr val="1B3A5C"/>
          </a:solidFill>
          <a:ln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962E"/>
                </a:solidFill>
              </a:defRPr>
            </a:pPr>
            <a:r>
              <a:t>📌 MUHIM ESLATMA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Qarluqlar → o'zbek va tojiklarning etnogenezida muhim rol o'ynagan</a:t>
            </a:r>
            <a:br/>
            <a:r>
              <a:t>• O'g'uzlar → turkman, ozarbayjon, qoraqalpoqlarning etnogenezida muhim</a:t>
            </a:r>
            <a:br/>
            <a:r>
              <a:t>• Turonda arablar hukmronligi oxiri → mahalliy turkiy sulolalar mustaqillik yo'lida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962E"/>
                </a:solidFill>
              </a:defRPr>
            </a:pPr>
            <a:r>
              <a:t>UMUMIY XRONOLOGIYA (VII-XII ASRLAR)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0" y="1188720"/>
            <a:ext cx="36576" cy="54864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23160" y="1188720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795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7AE60"/>
                </a:solidFill>
              </a:defRPr>
            </a:pPr>
            <a:r>
              <a:t>610-yil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179576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Muhammad (s.a.v.)ga vahiy</a:t>
            </a:r>
          </a:p>
        </p:txBody>
      </p:sp>
      <p:sp>
        <p:nvSpPr>
          <p:cNvPr id="8" name="Oval 7"/>
          <p:cNvSpPr/>
          <p:nvPr/>
        </p:nvSpPr>
        <p:spPr>
          <a:xfrm>
            <a:off x="2423160" y="1527048"/>
            <a:ext cx="256032" cy="256032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179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4A90D9"/>
                </a:solidFill>
              </a:defRPr>
            </a:pPr>
            <a:r>
              <a:t>651-yil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517904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Marv (Xuroson) egallandi</a:t>
            </a:r>
          </a:p>
        </p:txBody>
      </p:sp>
      <p:sp>
        <p:nvSpPr>
          <p:cNvPr id="11" name="Oval 10"/>
          <p:cNvSpPr/>
          <p:nvPr/>
        </p:nvSpPr>
        <p:spPr>
          <a:xfrm>
            <a:off x="2423160" y="1865376"/>
            <a:ext cx="256032" cy="256032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856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4A90D9"/>
                </a:solidFill>
              </a:defRPr>
            </a:pPr>
            <a:r>
              <a:t>673-yil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85623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Ubaydulloh Buxoroga kirdi</a:t>
            </a:r>
          </a:p>
        </p:txBody>
      </p:sp>
      <p:sp>
        <p:nvSpPr>
          <p:cNvPr id="14" name="Oval 13"/>
          <p:cNvSpPr/>
          <p:nvPr/>
        </p:nvSpPr>
        <p:spPr>
          <a:xfrm>
            <a:off x="2423160" y="2203704"/>
            <a:ext cx="256032" cy="25603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C0392B"/>
                </a:solidFill>
              </a:defRPr>
            </a:pPr>
            <a:r>
              <a:t>709-715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19456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Qutayba: Buxoro-Farg'ona</a:t>
            </a:r>
          </a:p>
        </p:txBody>
      </p:sp>
      <p:sp>
        <p:nvSpPr>
          <p:cNvPr id="17" name="Oval 16"/>
          <p:cNvSpPr/>
          <p:nvPr/>
        </p:nvSpPr>
        <p:spPr>
          <a:xfrm>
            <a:off x="2423160" y="2542032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5328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7AE60"/>
                </a:solidFill>
              </a:defRPr>
            </a:pPr>
            <a:r>
              <a:t>720-yil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53288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G'urak qo'zg'oloni</a:t>
            </a:r>
          </a:p>
        </p:txBody>
      </p:sp>
      <p:sp>
        <p:nvSpPr>
          <p:cNvPr id="20" name="Oval 19"/>
          <p:cNvSpPr/>
          <p:nvPr/>
        </p:nvSpPr>
        <p:spPr>
          <a:xfrm>
            <a:off x="2423160" y="2880360"/>
            <a:ext cx="256032" cy="256032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8712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E44AD"/>
                </a:solidFill>
              </a:defRPr>
            </a:pPr>
            <a:r>
              <a:t>747-750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871216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Abu Muslim inqilobi → Abbosiylar</a:t>
            </a:r>
          </a:p>
        </p:txBody>
      </p:sp>
      <p:sp>
        <p:nvSpPr>
          <p:cNvPr id="23" name="Oval 22"/>
          <p:cNvSpPr/>
          <p:nvPr/>
        </p:nvSpPr>
        <p:spPr>
          <a:xfrm>
            <a:off x="2423160" y="3218687"/>
            <a:ext cx="256032" cy="25603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20954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C0392B"/>
                </a:solidFill>
              </a:defRPr>
            </a:pPr>
            <a:r>
              <a:t>751-yil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209543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TALAS JANGI (Xitoy mag'lub)</a:t>
            </a:r>
          </a:p>
        </p:txBody>
      </p:sp>
      <p:sp>
        <p:nvSpPr>
          <p:cNvPr id="26" name="Oval 25"/>
          <p:cNvSpPr/>
          <p:nvPr/>
        </p:nvSpPr>
        <p:spPr>
          <a:xfrm>
            <a:off x="2423160" y="3557015"/>
            <a:ext cx="256032" cy="25603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547871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67E22"/>
                </a:solidFill>
              </a:defRPr>
            </a:pPr>
            <a:r>
              <a:t>769-783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547871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Muqanna qo'zg'oloni</a:t>
            </a:r>
          </a:p>
        </p:txBody>
      </p:sp>
      <p:sp>
        <p:nvSpPr>
          <p:cNvPr id="29" name="Oval 28"/>
          <p:cNvSpPr/>
          <p:nvPr/>
        </p:nvSpPr>
        <p:spPr>
          <a:xfrm>
            <a:off x="2423160" y="3895344"/>
            <a:ext cx="256032" cy="25603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886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67E22"/>
                </a:solidFill>
              </a:defRPr>
            </a:pPr>
            <a:r>
              <a:t>806-yil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88620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Rofe ibn Lays qo'zg'oloni</a:t>
            </a:r>
          </a:p>
        </p:txBody>
      </p:sp>
      <p:sp>
        <p:nvSpPr>
          <p:cNvPr id="32" name="Oval 31"/>
          <p:cNvSpPr/>
          <p:nvPr/>
        </p:nvSpPr>
        <p:spPr>
          <a:xfrm>
            <a:off x="2423160" y="4233672"/>
            <a:ext cx="256032" cy="256032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2245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6A085"/>
                </a:solidFill>
              </a:defRPr>
            </a:pPr>
            <a:r>
              <a:t>821-yil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22452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Tohiriylar davlati</a:t>
            </a:r>
          </a:p>
        </p:txBody>
      </p:sp>
      <p:sp>
        <p:nvSpPr>
          <p:cNvPr id="35" name="Oval 34"/>
          <p:cNvSpPr/>
          <p:nvPr/>
        </p:nvSpPr>
        <p:spPr>
          <a:xfrm>
            <a:off x="2423160" y="4572000"/>
            <a:ext cx="256032" cy="256032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45628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6A085"/>
                </a:solidFill>
              </a:defRPr>
            </a:pPr>
            <a:r>
              <a:t>873-yil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4562856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Safforiylar davlati</a:t>
            </a:r>
          </a:p>
        </p:txBody>
      </p:sp>
      <p:sp>
        <p:nvSpPr>
          <p:cNvPr id="38" name="Oval 37"/>
          <p:cNvSpPr/>
          <p:nvPr/>
        </p:nvSpPr>
        <p:spPr>
          <a:xfrm>
            <a:off x="2423160" y="4910328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49011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7AE60"/>
                </a:solidFill>
              </a:defRPr>
            </a:pPr>
            <a:r>
              <a:t>888-yil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4901184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Ismoil Somoniy birlashtiradi</a:t>
            </a:r>
          </a:p>
        </p:txBody>
      </p:sp>
      <p:sp>
        <p:nvSpPr>
          <p:cNvPr id="41" name="Oval 40"/>
          <p:cNvSpPr/>
          <p:nvPr/>
        </p:nvSpPr>
        <p:spPr>
          <a:xfrm>
            <a:off x="2423160" y="5248655"/>
            <a:ext cx="256032" cy="256032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5239511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E44AD"/>
                </a:solidFill>
              </a:defRPr>
            </a:pPr>
            <a:r>
              <a:t>962-yil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5239511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G'aznaviylar davlati</a:t>
            </a:r>
          </a:p>
        </p:txBody>
      </p:sp>
      <p:sp>
        <p:nvSpPr>
          <p:cNvPr id="44" name="Oval 43"/>
          <p:cNvSpPr/>
          <p:nvPr/>
        </p:nvSpPr>
        <p:spPr>
          <a:xfrm>
            <a:off x="2423160" y="5586983"/>
            <a:ext cx="256032" cy="25603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557783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C0392B"/>
                </a:solidFill>
              </a:defRPr>
            </a:pPr>
            <a:r>
              <a:t>999-yil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34640" y="5577839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Qoraxoniylar Somoniylarni tugatadi</a:t>
            </a:r>
          </a:p>
        </p:txBody>
      </p:sp>
      <p:sp>
        <p:nvSpPr>
          <p:cNvPr id="47" name="Oval 46"/>
          <p:cNvSpPr/>
          <p:nvPr/>
        </p:nvSpPr>
        <p:spPr>
          <a:xfrm>
            <a:off x="2423160" y="5925312"/>
            <a:ext cx="256032" cy="25603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59161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C0392B"/>
                </a:solidFill>
              </a:defRPr>
            </a:pPr>
            <a:r>
              <a:t>1017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40" y="591616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Hazorasp jangi (Mahmud G'aznaviy)</a:t>
            </a:r>
          </a:p>
        </p:txBody>
      </p:sp>
      <p:sp>
        <p:nvSpPr>
          <p:cNvPr id="50" name="Oval 49"/>
          <p:cNvSpPr/>
          <p:nvPr/>
        </p:nvSpPr>
        <p:spPr>
          <a:xfrm>
            <a:off x="2423160" y="6263640"/>
            <a:ext cx="256032" cy="25603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2544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67E22"/>
                </a:solidFill>
              </a:defRPr>
            </a:pPr>
            <a:r>
              <a:t>1141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6254496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Qoraxitoylar Qoraxoniylarni tugatadi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8962E"/>
                </a:solidFill>
              </a:defRPr>
            </a:pPr>
            <a:r>
              <a:t>XULOSA: ASOSIY YUTUQLAR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749039" cy="2468880"/>
          </a:xfrm>
          <a:prstGeom prst="roundRect">
            <a:avLst/>
          </a:prstGeom>
          <a:solidFill>
            <a:srgbClr val="143250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90D9"/>
                </a:solidFill>
              </a:defRPr>
            </a:pPr>
            <a:r>
              <a:t>⚔️ MUSTAQILLIK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Arab istilosi → mahalliy</a:t>
            </a:r>
            <a:br/>
            <a:r>
              <a:t>sulolalar mustaqilligi</a:t>
            </a:r>
            <a:br/>
            <a:r>
              <a:t>(Somoniylar, G'aznaviylar)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188720"/>
            <a:ext cx="3749039" cy="2468880"/>
          </a:xfrm>
          <a:prstGeom prst="roundRect">
            <a:avLst/>
          </a:prstGeom>
          <a:solidFill>
            <a:srgbClr val="14325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39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</a:defRPr>
            </a:pPr>
            <a:r>
              <a:t>📜 QOG'OZ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39" y="19202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Talas jangi natijasida</a:t>
            </a:r>
            <a:br/>
            <a:r>
              <a:t>qog'oz ishlab chiqarish</a:t>
            </a:r>
            <a:br/>
            <a:r>
              <a:t>kashf etildi (751)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749039" cy="2468880"/>
          </a:xfrm>
          <a:prstGeom prst="roundRect">
            <a:avLst/>
          </a:prstGeom>
          <a:solidFill>
            <a:srgbClr val="14325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</a:defRPr>
            </a:pPr>
            <a:r>
              <a:t>🏛️ ME'MORCHILIK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Somoniylar maqbarasi,</a:t>
            </a:r>
            <a:br/>
            <a:r>
              <a:t>Qirqqiz qal'asi,</a:t>
            </a:r>
            <a:br/>
            <a:r>
              <a:t>Parchin (mayolika)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931920"/>
            <a:ext cx="3749039" cy="2468880"/>
          </a:xfrm>
          <a:prstGeom prst="roundRect">
            <a:avLst/>
          </a:prstGeom>
          <a:solidFill>
            <a:srgbClr val="143250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E44AD"/>
                </a:solidFill>
              </a:defRPr>
            </a:pPr>
            <a:r>
              <a:t>📚 ILM-FAN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Beruniy, Bayhaqiy,</a:t>
            </a:r>
            <a:br/>
            <a:r>
              <a:t>Narshaxiy, Firdavsiy</a:t>
            </a:r>
            <a:br/>
            <a:r>
              <a:t>faoliyat ko'rsatgan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3931920"/>
            <a:ext cx="3749039" cy="2468880"/>
          </a:xfrm>
          <a:prstGeom prst="roundRect">
            <a:avLst/>
          </a:prstGeom>
          <a:solidFill>
            <a:srgbClr val="143250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39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A085"/>
                </a:solidFill>
              </a:defRPr>
            </a:pPr>
            <a:r>
              <a:t>🛤️ SAVDO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9" y="46634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Xalqaro savdo: Xitoy,</a:t>
            </a:r>
            <a:br/>
            <a:r>
              <a:t>Sibir, Xazar, Bulg'or</a:t>
            </a:r>
            <a:br/>
            <a:r>
              <a:t>Chek tizimi joriy etilgan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931920"/>
            <a:ext cx="3749039" cy="2468880"/>
          </a:xfrm>
          <a:prstGeom prst="roundRect">
            <a:avLst/>
          </a:prstGeom>
          <a:solidFill>
            <a:srgbClr val="143250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⚖️ BOSHQARUV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6634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Devon tizimi,</a:t>
            </a:r>
            <a:br/>
            <a:r>
              <a:t>harbiy islohotlar,</a:t>
            </a:r>
            <a:br/>
            <a:r>
              <a:t>madrasalar ochilgan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8962E"/>
                </a:solidFill>
              </a:defRPr>
            </a:pPr>
            <a:r>
              <a:t>E'TIBORINGIZ UCHUN RAHMAT!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7-SINF O'ZBEKISTON TARIXI - II BOB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90D9"/>
                </a:solidFill>
              </a:defRPr>
            </a:pPr>
            <a:r>
              <a:t>ARAB ISTILOSI VA MUSTAQIL DAVLATLAR</a:t>
            </a:r>
          </a:p>
        </p:txBody>
      </p:sp>
      <p:sp>
        <p:nvSpPr>
          <p:cNvPr id="6" name="Diamond 5"/>
          <p:cNvSpPr/>
          <p:nvPr/>
        </p:nvSpPr>
        <p:spPr>
          <a:xfrm>
            <a:off x="3200400" y="50292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023360" y="50292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4846320" y="50292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5669280" y="50292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492240" y="50292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7315200" y="50292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8138160" y="5029200"/>
            <a:ext cx="274320" cy="274320"/>
          </a:xfrm>
          <a:prstGeom prst="diamond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