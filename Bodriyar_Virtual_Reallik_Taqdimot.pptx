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1828800" y="-1828800"/>
            <a:ext cx="4572000" cy="4572000"/>
          </a:xfrm>
          <a:prstGeom prst="ellipse">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6858000"/>
          </a:xfrm>
          <a:prstGeom prst="rect">
            <a:avLst/>
          </a:prstGeom>
          <a:solidFill>
            <a:srgbClr val="1D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114800"/>
            <a:ext cx="4572000" cy="4572000"/>
          </a:xfrm>
          <a:prstGeom prst="ellipse">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548640"/>
            <a:ext cx="10332720" cy="457200"/>
          </a:xfrm>
          <a:prstGeom prst="rect">
            <a:avLst/>
          </a:prstGeom>
          <a:noFill/>
        </p:spPr>
        <p:txBody>
          <a:bodyPr wrap="square">
            <a:spAutoFit/>
          </a:bodyPr>
          <a:lstStyle/>
          <a:p>
            <a:pPr algn="ctr">
              <a:defRPr sz="1400" b="1" i="0">
                <a:solidFill>
                  <a:srgbClr val="E9C46A"/>
                </a:solidFill>
                <a:latin typeface="Calibri"/>
              </a:defRPr>
            </a:pPr>
            <a:r>
              <a:t>ILMIY-FALSAFIY TADQIQOT  |  MAGISTRLIK DISSERTATSIYASI</a:t>
            </a:r>
          </a:p>
        </p:txBody>
      </p:sp>
      <p:sp>
        <p:nvSpPr>
          <p:cNvPr id="6" name="Rectangle 5"/>
          <p:cNvSpPr/>
          <p:nvPr/>
        </p:nvSpPr>
        <p:spPr>
          <a:xfrm>
            <a:off x="5029200" y="1097280"/>
            <a:ext cx="2103120" cy="4572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63040"/>
            <a:ext cx="10698480" cy="1828800"/>
          </a:xfrm>
          <a:prstGeom prst="rect">
            <a:avLst/>
          </a:prstGeom>
          <a:noFill/>
        </p:spPr>
        <p:txBody>
          <a:bodyPr wrap="square">
            <a:spAutoFit/>
          </a:bodyPr>
          <a:lstStyle/>
          <a:p>
            <a:pPr algn="ctr">
              <a:defRPr sz="3600" b="1" i="0">
                <a:solidFill>
                  <a:srgbClr val="FFFFFF"/>
                </a:solidFill>
                <a:latin typeface="Calibri"/>
              </a:defRPr>
            </a:pPr>
            <a:r>
              <a:t>JAN BODRIYAR G'OYALARI ASOSIDA</a:t>
            </a:r>
          </a:p>
        </p:txBody>
      </p:sp>
      <p:sp>
        <p:nvSpPr>
          <p:cNvPr id="8" name="TextBox 7"/>
          <p:cNvSpPr txBox="1"/>
          <p:nvPr/>
        </p:nvSpPr>
        <p:spPr>
          <a:xfrm>
            <a:off x="731520" y="2286000"/>
            <a:ext cx="10698480" cy="1371600"/>
          </a:xfrm>
          <a:prstGeom prst="rect">
            <a:avLst/>
          </a:prstGeom>
          <a:noFill/>
        </p:spPr>
        <p:txBody>
          <a:bodyPr wrap="square">
            <a:spAutoFit/>
          </a:bodyPr>
          <a:lstStyle/>
          <a:p>
            <a:pPr algn="ctr">
              <a:defRPr sz="4200" b="1" i="0">
                <a:solidFill>
                  <a:srgbClr val="E9C46A"/>
                </a:solidFill>
                <a:latin typeface="Calibri"/>
              </a:defRPr>
            </a:pPr>
            <a:r>
              <a:t>VIRTUAL REALLIK VA AXLOQIY</a:t>
            </a:r>
          </a:p>
        </p:txBody>
      </p:sp>
      <p:sp>
        <p:nvSpPr>
          <p:cNvPr id="9" name="TextBox 8"/>
          <p:cNvSpPr txBox="1"/>
          <p:nvPr/>
        </p:nvSpPr>
        <p:spPr>
          <a:xfrm>
            <a:off x="731520" y="3108960"/>
            <a:ext cx="10698480" cy="914400"/>
          </a:xfrm>
          <a:prstGeom prst="rect">
            <a:avLst/>
          </a:prstGeom>
          <a:noFill/>
        </p:spPr>
        <p:txBody>
          <a:bodyPr wrap="square">
            <a:spAutoFit/>
          </a:bodyPr>
          <a:lstStyle/>
          <a:p>
            <a:pPr algn="ctr">
              <a:defRPr sz="4200" b="1" i="0">
                <a:solidFill>
                  <a:srgbClr val="E9C46A"/>
                </a:solidFill>
                <a:latin typeface="Calibri"/>
              </a:defRPr>
            </a:pPr>
            <a:r>
              <a:t>MUAMMOLAR TAHLILI</a:t>
            </a:r>
          </a:p>
        </p:txBody>
      </p:sp>
      <p:sp>
        <p:nvSpPr>
          <p:cNvPr id="10" name="TextBox 9"/>
          <p:cNvSpPr txBox="1"/>
          <p:nvPr/>
        </p:nvSpPr>
        <p:spPr>
          <a:xfrm>
            <a:off x="914400" y="4297680"/>
            <a:ext cx="10332720" cy="457200"/>
          </a:xfrm>
          <a:prstGeom prst="rect">
            <a:avLst/>
          </a:prstGeom>
          <a:noFill/>
        </p:spPr>
        <p:txBody>
          <a:bodyPr wrap="square">
            <a:spAutoFit/>
          </a:bodyPr>
          <a:lstStyle/>
          <a:p>
            <a:pPr algn="ctr">
              <a:defRPr sz="1500" b="0" i="1">
                <a:solidFill>
                  <a:srgbClr val="F1FAEE"/>
                </a:solidFill>
                <a:latin typeface="Calibri"/>
              </a:defRPr>
            </a:pPr>
            <a:r>
              <a:t>«Simulyakr va simulyatsiya nazariyasi raqamli asrning ontologik-axloqiy parametrlarida»</a:t>
            </a:r>
          </a:p>
        </p:txBody>
      </p:sp>
      <p:sp>
        <p:nvSpPr>
          <p:cNvPr id="11" name="Rounded Rectangle 10"/>
          <p:cNvSpPr/>
          <p:nvPr/>
        </p:nvSpPr>
        <p:spPr>
          <a:xfrm>
            <a:off x="2286000" y="5120640"/>
            <a:ext cx="7589520" cy="1097280"/>
          </a:xfrm>
          <a:prstGeom prst="roundRect">
            <a:avLst/>
          </a:prstGeom>
          <a:solidFill>
            <a:srgbClr val="FFFFFF"/>
          </a:solidFill>
          <a:ln w="254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5212080"/>
            <a:ext cx="7223760" cy="365760"/>
          </a:xfrm>
          <a:prstGeom prst="rect">
            <a:avLst/>
          </a:prstGeom>
          <a:noFill/>
        </p:spPr>
        <p:txBody>
          <a:bodyPr wrap="square">
            <a:spAutoFit/>
          </a:bodyPr>
          <a:lstStyle/>
          <a:p>
            <a:pPr algn="ctr">
              <a:defRPr sz="1400" b="1" i="0">
                <a:solidFill>
                  <a:srgbClr val="1D3B5C"/>
                </a:solidFill>
                <a:latin typeface="Calibri"/>
              </a:defRPr>
            </a:pPr>
            <a:r>
              <a:t>Falsafa fanlari bo'yicha magistrlik dissertatsiyasi</a:t>
            </a:r>
          </a:p>
        </p:txBody>
      </p:sp>
      <p:sp>
        <p:nvSpPr>
          <p:cNvPr id="13" name="TextBox 12"/>
          <p:cNvSpPr txBox="1"/>
          <p:nvPr/>
        </p:nvSpPr>
        <p:spPr>
          <a:xfrm>
            <a:off x="2468880" y="5577840"/>
            <a:ext cx="7223760" cy="365760"/>
          </a:xfrm>
          <a:prstGeom prst="rect">
            <a:avLst/>
          </a:prstGeom>
          <a:noFill/>
        </p:spPr>
        <p:txBody>
          <a:bodyPr wrap="square">
            <a:spAutoFit/>
          </a:bodyPr>
          <a:lstStyle/>
          <a:p>
            <a:pPr algn="ctr">
              <a:defRPr sz="1200" b="0" i="0">
                <a:solidFill>
                  <a:srgbClr val="264653"/>
                </a:solidFill>
                <a:latin typeface="Calibri"/>
              </a:defRPr>
            </a:pPr>
            <a:r>
              <a:t>Mualif: _______________________   |   Ilmiy rahbar: _______________________</a:t>
            </a:r>
          </a:p>
        </p:txBody>
      </p:sp>
      <p:sp>
        <p:nvSpPr>
          <p:cNvPr id="14" name="TextBox 13"/>
          <p:cNvSpPr txBox="1"/>
          <p:nvPr/>
        </p:nvSpPr>
        <p:spPr>
          <a:xfrm>
            <a:off x="2468880" y="5897880"/>
            <a:ext cx="7223760" cy="365760"/>
          </a:xfrm>
          <a:prstGeom prst="rect">
            <a:avLst/>
          </a:prstGeom>
          <a:noFill/>
        </p:spPr>
        <p:txBody>
          <a:bodyPr wrap="square">
            <a:spAutoFit/>
          </a:bodyPr>
          <a:lstStyle/>
          <a:p>
            <a:pPr algn="ctr">
              <a:defRPr sz="1200" b="0" i="1">
                <a:solidFill>
                  <a:srgbClr val="6C757D"/>
                </a:solidFill>
                <a:latin typeface="Calibri"/>
              </a:defRPr>
            </a:pPr>
            <a:r>
              <a:t>Toshkent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KIRISH: TADQIQOTNING DOLZARBLIGI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2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sp>
        <p:nvSpPr>
          <p:cNvPr id="9" name="Rounded Rectangle 8"/>
          <p:cNvSpPr/>
          <p:nvPr/>
        </p:nvSpPr>
        <p:spPr>
          <a:xfrm>
            <a:off x="365760" y="1051560"/>
            <a:ext cx="11430000" cy="1280160"/>
          </a:xfrm>
          <a:prstGeom prst="roundRect">
            <a:avLst/>
          </a:prstGeom>
          <a:solidFill>
            <a:srgbClr val="FFFFFF"/>
          </a:solidFill>
          <a:ln w="1905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43000"/>
            <a:ext cx="11064240" cy="1097280"/>
          </a:xfrm>
          <a:prstGeom prst="rect">
            <a:avLst/>
          </a:prstGeom>
          <a:noFill/>
        </p:spPr>
        <p:txBody>
          <a:bodyPr wrap="square">
            <a:spAutoFit/>
          </a:bodyPr>
          <a:lstStyle/>
          <a:p>
            <a:pPr algn="l">
              <a:defRPr sz="1300" b="0" i="0">
                <a:solidFill>
                  <a:srgbClr val="264653"/>
                </a:solidFill>
                <a:latin typeface="Calibri"/>
              </a:defRPr>
            </a:pPr>
            <a:r>
              <a:t>XXI asrning birinchi choragi insoniyat tarixida texnologik inqilob davri sifatida tavsiflanadi. Sun'iy intellekt, virtual reallik (VR), kengaytirilgan reallik (AR) va metakoinot kabi raqamli muhitlar insonning ontologik mavjudligi va axloqiy mo'ljallarini tubdan o'zgartirmoqda. Aynan shu sharoitda fransuz faylasufi Jan Bodriyar (1929–2007) ning simulyakr va giperreallik nazariyasi alohida ahamiyat kasb etadi.</a:t>
            </a:r>
          </a:p>
        </p:txBody>
      </p:sp>
      <p:sp>
        <p:nvSpPr>
          <p:cNvPr id="11" name="Rounded Rectangle 10"/>
          <p:cNvSpPr/>
          <p:nvPr/>
        </p:nvSpPr>
        <p:spPr>
          <a:xfrm>
            <a:off x="365760" y="2606040"/>
            <a:ext cx="3703320" cy="548640"/>
          </a:xfrm>
          <a:prstGeom prst="round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697480"/>
            <a:ext cx="3703320" cy="365760"/>
          </a:xfrm>
          <a:prstGeom prst="rect">
            <a:avLst/>
          </a:prstGeom>
          <a:noFill/>
        </p:spPr>
        <p:txBody>
          <a:bodyPr wrap="square">
            <a:spAutoFit/>
          </a:bodyPr>
          <a:lstStyle/>
          <a:p>
            <a:pPr algn="ctr">
              <a:defRPr sz="1500" b="1" i="0">
                <a:solidFill>
                  <a:srgbClr val="FFFFFF"/>
                </a:solidFill>
                <a:latin typeface="Calibri"/>
              </a:defRPr>
            </a:pPr>
            <a:r>
              <a:t>FALSAFIY DOLZARBLIK</a:t>
            </a:r>
          </a:p>
        </p:txBody>
      </p:sp>
      <p:sp>
        <p:nvSpPr>
          <p:cNvPr id="13" name="Rectangle 12"/>
          <p:cNvSpPr/>
          <p:nvPr/>
        </p:nvSpPr>
        <p:spPr>
          <a:xfrm>
            <a:off x="365760" y="3154680"/>
            <a:ext cx="3703320" cy="2103120"/>
          </a:xfrm>
          <a:prstGeom prst="rect">
            <a:avLst/>
          </a:prstGeom>
          <a:solidFill>
            <a:srgbClr val="FFFFFF"/>
          </a:solidFill>
          <a:ln w="1905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291840"/>
            <a:ext cx="3429000" cy="1828800"/>
          </a:xfrm>
          <a:prstGeom prst="rect">
            <a:avLst/>
          </a:prstGeom>
          <a:noFill/>
        </p:spPr>
        <p:txBody>
          <a:bodyPr wrap="square">
            <a:spAutoFit/>
          </a:bodyPr>
          <a:lstStyle/>
          <a:p>
            <a:pPr algn="ctr">
              <a:defRPr sz="1250" b="0" i="0">
                <a:solidFill>
                  <a:srgbClr val="264653"/>
                </a:solidFill>
                <a:latin typeface="Calibri"/>
              </a:defRPr>
            </a:pPr>
            <a:r>
              <a:t>Klassik ontologiya va</a:t>
            </a:r>
            <a:br/>
            <a:r>
              <a:t>gnoseologiya tushunchalari</a:t>
            </a:r>
            <a:br/>
            <a:r>
              <a:t>raqamli asr sharoitida</a:t>
            </a:r>
            <a:br/>
            <a:r>
              <a:t>qayta ko'rib chiqilmoqda</a:t>
            </a:r>
          </a:p>
        </p:txBody>
      </p:sp>
      <p:sp>
        <p:nvSpPr>
          <p:cNvPr id="15" name="Rounded Rectangle 14"/>
          <p:cNvSpPr/>
          <p:nvPr/>
        </p:nvSpPr>
        <p:spPr>
          <a:xfrm>
            <a:off x="4251960" y="2606040"/>
            <a:ext cx="3703320" cy="54864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60" y="2697480"/>
            <a:ext cx="3703320" cy="365760"/>
          </a:xfrm>
          <a:prstGeom prst="rect">
            <a:avLst/>
          </a:prstGeom>
          <a:noFill/>
        </p:spPr>
        <p:txBody>
          <a:bodyPr wrap="square">
            <a:spAutoFit/>
          </a:bodyPr>
          <a:lstStyle/>
          <a:p>
            <a:pPr algn="ctr">
              <a:defRPr sz="1500" b="1" i="0">
                <a:solidFill>
                  <a:srgbClr val="FFFFFF"/>
                </a:solidFill>
                <a:latin typeface="Calibri"/>
              </a:defRPr>
            </a:pPr>
            <a:r>
              <a:t>IJTIMOIY DOLZARBLIK</a:t>
            </a:r>
          </a:p>
        </p:txBody>
      </p:sp>
      <p:sp>
        <p:nvSpPr>
          <p:cNvPr id="17" name="Rectangle 16"/>
          <p:cNvSpPr/>
          <p:nvPr/>
        </p:nvSpPr>
        <p:spPr>
          <a:xfrm>
            <a:off x="4251960" y="3154680"/>
            <a:ext cx="3703320" cy="2103120"/>
          </a:xfrm>
          <a:prstGeom prst="rect">
            <a:avLst/>
          </a:prstGeom>
          <a:solidFill>
            <a:srgbClr val="FFFFFF"/>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3291840"/>
            <a:ext cx="3429000" cy="1828800"/>
          </a:xfrm>
          <a:prstGeom prst="rect">
            <a:avLst/>
          </a:prstGeom>
          <a:noFill/>
        </p:spPr>
        <p:txBody>
          <a:bodyPr wrap="square">
            <a:spAutoFit/>
          </a:bodyPr>
          <a:lstStyle/>
          <a:p>
            <a:pPr algn="ctr">
              <a:defRPr sz="1250" b="0" i="0">
                <a:solidFill>
                  <a:srgbClr val="264653"/>
                </a:solidFill>
                <a:latin typeface="Calibri"/>
              </a:defRPr>
            </a:pPr>
            <a:r>
              <a:t>Ijtimoiy tarmoqlar,</a:t>
            </a:r>
            <a:br/>
            <a:r>
              <a:t>feyk-news va deepfake</a:t>
            </a:r>
            <a:br/>
            <a:r>
              <a:t>texnologiyalari haqiqat</a:t>
            </a:r>
            <a:br/>
            <a:r>
              <a:t>tushunchasini yemiradi</a:t>
            </a:r>
          </a:p>
        </p:txBody>
      </p:sp>
      <p:sp>
        <p:nvSpPr>
          <p:cNvPr id="19" name="Rounded Rectangle 18"/>
          <p:cNvSpPr/>
          <p:nvPr/>
        </p:nvSpPr>
        <p:spPr>
          <a:xfrm>
            <a:off x="8138160" y="2606040"/>
            <a:ext cx="3703320" cy="548640"/>
          </a:xfrm>
          <a:prstGeom prst="round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2697480"/>
            <a:ext cx="3703320" cy="365760"/>
          </a:xfrm>
          <a:prstGeom prst="rect">
            <a:avLst/>
          </a:prstGeom>
          <a:noFill/>
        </p:spPr>
        <p:txBody>
          <a:bodyPr wrap="square">
            <a:spAutoFit/>
          </a:bodyPr>
          <a:lstStyle/>
          <a:p>
            <a:pPr algn="ctr">
              <a:defRPr sz="1500" b="1" i="0">
                <a:solidFill>
                  <a:srgbClr val="FFFFFF"/>
                </a:solidFill>
                <a:latin typeface="Calibri"/>
              </a:defRPr>
            </a:pPr>
            <a:r>
              <a:t>AXLOQIY DOLZARBLIK</a:t>
            </a:r>
          </a:p>
        </p:txBody>
      </p:sp>
      <p:sp>
        <p:nvSpPr>
          <p:cNvPr id="21" name="Rectangle 20"/>
          <p:cNvSpPr/>
          <p:nvPr/>
        </p:nvSpPr>
        <p:spPr>
          <a:xfrm>
            <a:off x="8138160" y="3154680"/>
            <a:ext cx="3703320" cy="2103120"/>
          </a:xfrm>
          <a:prstGeom prst="rect">
            <a:avLst/>
          </a:prstGeom>
          <a:solidFill>
            <a:srgbClr val="FFFFFF"/>
          </a:solidFill>
          <a:ln w="1905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3291840"/>
            <a:ext cx="3429000" cy="1828800"/>
          </a:xfrm>
          <a:prstGeom prst="rect">
            <a:avLst/>
          </a:prstGeom>
          <a:noFill/>
        </p:spPr>
        <p:txBody>
          <a:bodyPr wrap="square">
            <a:spAutoFit/>
          </a:bodyPr>
          <a:lstStyle/>
          <a:p>
            <a:pPr algn="ctr">
              <a:defRPr sz="1250" b="0" i="0">
                <a:solidFill>
                  <a:srgbClr val="264653"/>
                </a:solidFill>
                <a:latin typeface="Calibri"/>
              </a:defRPr>
            </a:pPr>
            <a:r>
              <a:t>Virtual zo'ravonlik,</a:t>
            </a:r>
            <a:br/>
            <a:r>
              <a:t>raqamli identitet va</a:t>
            </a:r>
            <a:br/>
            <a:r>
              <a:t>insoniy begonalashuv</a:t>
            </a:r>
            <a:br/>
            <a:r>
              <a:t>yangi axloqiy dilemmalar</a:t>
            </a:r>
          </a:p>
        </p:txBody>
      </p:sp>
      <p:sp>
        <p:nvSpPr>
          <p:cNvPr id="23" name="Rounded Rectangle 22"/>
          <p:cNvSpPr/>
          <p:nvPr/>
        </p:nvSpPr>
        <p:spPr>
          <a:xfrm>
            <a:off x="365760" y="5486400"/>
            <a:ext cx="11430000" cy="914400"/>
          </a:xfrm>
          <a:prstGeom prst="round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623560"/>
            <a:ext cx="11064240" cy="365760"/>
          </a:xfrm>
          <a:prstGeom prst="rect">
            <a:avLst/>
          </a:prstGeom>
          <a:noFill/>
        </p:spPr>
        <p:txBody>
          <a:bodyPr wrap="square">
            <a:spAutoFit/>
          </a:bodyPr>
          <a:lstStyle/>
          <a:p>
            <a:pPr algn="l">
              <a:defRPr sz="1300" b="1" i="0">
                <a:solidFill>
                  <a:srgbClr val="E9C46A"/>
                </a:solidFill>
                <a:latin typeface="Calibri"/>
              </a:defRPr>
            </a:pPr>
            <a:r>
              <a:t>STATISTIK ASOS:</a:t>
            </a:r>
          </a:p>
        </p:txBody>
      </p:sp>
      <p:sp>
        <p:nvSpPr>
          <p:cNvPr id="25" name="TextBox 24"/>
          <p:cNvSpPr txBox="1"/>
          <p:nvPr/>
        </p:nvSpPr>
        <p:spPr>
          <a:xfrm>
            <a:off x="548640" y="5943600"/>
            <a:ext cx="11064240" cy="457200"/>
          </a:xfrm>
          <a:prstGeom prst="rect">
            <a:avLst/>
          </a:prstGeom>
          <a:noFill/>
        </p:spPr>
        <p:txBody>
          <a:bodyPr wrap="square">
            <a:spAutoFit/>
          </a:bodyPr>
          <a:lstStyle/>
          <a:p>
            <a:pPr algn="l">
              <a:defRPr sz="1200" b="0" i="1">
                <a:solidFill>
                  <a:srgbClr val="FFFFFF"/>
                </a:solidFill>
                <a:latin typeface="Calibri"/>
              </a:defRPr>
            </a:pPr>
            <a:r>
              <a:t>2025-yilda VR foydalanuvchilari soni 850 mln dan oshdi, metakoinot iqtisodiyoti 800 mlrd $ ga yetdi. Bu — Bodriyar bashorat qilgan «giperreal davr»ning empirik tasdig'idir.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TADQIQOT MAQSADI, OB'EKTI VA VAZIFALARI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3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sp>
        <p:nvSpPr>
          <p:cNvPr id="9" name="Rounded Rectangle 8"/>
          <p:cNvSpPr/>
          <p:nvPr/>
        </p:nvSpPr>
        <p:spPr>
          <a:xfrm>
            <a:off x="365760" y="1005840"/>
            <a:ext cx="5669280" cy="1554480"/>
          </a:xfrm>
          <a:prstGeom prst="roundRect">
            <a:avLst/>
          </a:prstGeom>
          <a:solidFill>
            <a:srgbClr val="F1FAEE"/>
          </a:solidFill>
          <a:ln w="1905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1005840"/>
            <a:ext cx="5669280" cy="457200"/>
          </a:xfrm>
          <a:prstGeom prst="round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TADQIQOT OB'EKTI</a:t>
            </a:r>
          </a:p>
        </p:txBody>
      </p:sp>
      <p:sp>
        <p:nvSpPr>
          <p:cNvPr id="11" name="TextBox 10"/>
          <p:cNvSpPr txBox="1"/>
          <p:nvPr/>
        </p:nvSpPr>
        <p:spPr>
          <a:xfrm>
            <a:off x="502920" y="1508760"/>
            <a:ext cx="5394960" cy="1005840"/>
          </a:xfrm>
          <a:prstGeom prst="rect">
            <a:avLst/>
          </a:prstGeom>
          <a:noFill/>
        </p:spPr>
        <p:txBody>
          <a:bodyPr wrap="square">
            <a:spAutoFit/>
          </a:bodyPr>
          <a:lstStyle/>
          <a:p>
            <a:pPr>
              <a:defRPr sz="1100">
                <a:solidFill>
                  <a:srgbClr val="264653"/>
                </a:solidFill>
              </a:defRPr>
            </a:pPr>
            <a:r>
              <a:t>Jan Bodriyarning simulyakr, simulyatsiya va giperreallik konsepsiyalari hamda zamonaviy raqamli-virtual muhitda namoyon bo'ladigan axloqiy-ontologik muammolar majmui.</a:t>
            </a:r>
          </a:p>
        </p:txBody>
      </p:sp>
      <p:sp>
        <p:nvSpPr>
          <p:cNvPr id="12" name="Rounded Rectangle 11"/>
          <p:cNvSpPr/>
          <p:nvPr/>
        </p:nvSpPr>
        <p:spPr>
          <a:xfrm>
            <a:off x="6126480" y="1005840"/>
            <a:ext cx="5669280" cy="1554480"/>
          </a:xfrm>
          <a:prstGeom prst="roundRect">
            <a:avLst/>
          </a:prstGeom>
          <a:solidFill>
            <a:srgbClr val="F1FAEE"/>
          </a:solidFill>
          <a:ln w="1905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6480" y="1005840"/>
            <a:ext cx="5669280" cy="457200"/>
          </a:xfrm>
          <a:prstGeom prst="round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TADQIQOT PREDMETI</a:t>
            </a:r>
          </a:p>
        </p:txBody>
      </p:sp>
      <p:sp>
        <p:nvSpPr>
          <p:cNvPr id="14" name="TextBox 13"/>
          <p:cNvSpPr txBox="1"/>
          <p:nvPr/>
        </p:nvSpPr>
        <p:spPr>
          <a:xfrm>
            <a:off x="6263640" y="1508760"/>
            <a:ext cx="5394960" cy="1005840"/>
          </a:xfrm>
          <a:prstGeom prst="rect">
            <a:avLst/>
          </a:prstGeom>
          <a:noFill/>
        </p:spPr>
        <p:txBody>
          <a:bodyPr wrap="square">
            <a:spAutoFit/>
          </a:bodyPr>
          <a:lstStyle/>
          <a:p>
            <a:pPr>
              <a:defRPr sz="1100">
                <a:solidFill>
                  <a:srgbClr val="264653"/>
                </a:solidFill>
              </a:defRPr>
            </a:pPr>
            <a:r>
              <a:t>Bodriyar falsafasidagi virtual reallik fenomenining ontologik maqomi va uning insoniy ekzistensiyaga, axloqiy ongga ta'sirining nazariy-falsafiy parametrlari.</a:t>
            </a:r>
          </a:p>
        </p:txBody>
      </p:sp>
      <p:sp>
        <p:nvSpPr>
          <p:cNvPr id="15" name="Rounded Rectangle 14"/>
          <p:cNvSpPr/>
          <p:nvPr/>
        </p:nvSpPr>
        <p:spPr>
          <a:xfrm>
            <a:off x="365760" y="2697480"/>
            <a:ext cx="11430000" cy="914400"/>
          </a:xfrm>
          <a:prstGeom prst="roundRect">
            <a:avLst/>
          </a:prstGeom>
          <a:solidFill>
            <a:srgbClr val="E9C46A"/>
          </a:solidFill>
          <a:ln w="2540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88920"/>
            <a:ext cx="11064240" cy="365760"/>
          </a:xfrm>
          <a:prstGeom prst="rect">
            <a:avLst/>
          </a:prstGeom>
          <a:noFill/>
        </p:spPr>
        <p:txBody>
          <a:bodyPr wrap="square">
            <a:spAutoFit/>
          </a:bodyPr>
          <a:lstStyle/>
          <a:p>
            <a:pPr algn="l">
              <a:defRPr sz="1400" b="1" i="0">
                <a:solidFill>
                  <a:srgbClr val="1D3B5C"/>
                </a:solidFill>
                <a:latin typeface="Calibri"/>
              </a:defRPr>
            </a:pPr>
            <a:r>
              <a:t>TADQIQOT MAQSADI:</a:t>
            </a:r>
          </a:p>
        </p:txBody>
      </p:sp>
      <p:sp>
        <p:nvSpPr>
          <p:cNvPr id="17" name="TextBox 16"/>
          <p:cNvSpPr txBox="1"/>
          <p:nvPr/>
        </p:nvSpPr>
        <p:spPr>
          <a:xfrm>
            <a:off x="548640" y="3108960"/>
            <a:ext cx="11064240" cy="548640"/>
          </a:xfrm>
          <a:prstGeom prst="rect">
            <a:avLst/>
          </a:prstGeom>
          <a:noFill/>
        </p:spPr>
        <p:txBody>
          <a:bodyPr wrap="square">
            <a:spAutoFit/>
          </a:bodyPr>
          <a:lstStyle/>
          <a:p>
            <a:pPr algn="l">
              <a:defRPr sz="1250" b="0" i="0">
                <a:solidFill>
                  <a:srgbClr val="1D3B5C"/>
                </a:solidFill>
                <a:latin typeface="Calibri"/>
              </a:defRPr>
            </a:pPr>
            <a:r>
              <a:t>Jan Bodriyarning simulyatsiya nazariyasi prizmasidan virtual reallikning ontologik tabiati va uning axloqiy implikatsiyalarini kompleks falsafiy tahlil qilish, hamda muammoni hal etish bo'yicha nazariy yondashuvlar ishlab chiqish.</a:t>
            </a:r>
          </a:p>
        </p:txBody>
      </p:sp>
      <p:sp>
        <p:nvSpPr>
          <p:cNvPr id="18" name="TextBox 17"/>
          <p:cNvSpPr txBox="1"/>
          <p:nvPr/>
        </p:nvSpPr>
        <p:spPr>
          <a:xfrm>
            <a:off x="365760" y="3749039"/>
            <a:ext cx="11430000" cy="365760"/>
          </a:xfrm>
          <a:prstGeom prst="rect">
            <a:avLst/>
          </a:prstGeom>
          <a:noFill/>
        </p:spPr>
        <p:txBody>
          <a:bodyPr wrap="square">
            <a:spAutoFit/>
          </a:bodyPr>
          <a:lstStyle/>
          <a:p>
            <a:pPr algn="l">
              <a:defRPr sz="1500" b="1" i="0">
                <a:solidFill>
                  <a:srgbClr val="1D3B5C"/>
                </a:solidFill>
                <a:latin typeface="Calibri"/>
              </a:defRPr>
            </a:pPr>
            <a:r>
              <a:t>TADQIQOTNING ASOSIY VAZIFALARI:</a:t>
            </a:r>
          </a:p>
        </p:txBody>
      </p:sp>
      <p:sp>
        <p:nvSpPr>
          <p:cNvPr id="19" name="TextBox 18"/>
          <p:cNvSpPr txBox="1"/>
          <p:nvPr/>
        </p:nvSpPr>
        <p:spPr>
          <a:xfrm>
            <a:off x="457200" y="4160520"/>
            <a:ext cx="5486400" cy="457200"/>
          </a:xfrm>
          <a:prstGeom prst="rect">
            <a:avLst/>
          </a:prstGeom>
          <a:noFill/>
        </p:spPr>
        <p:txBody>
          <a:bodyPr wrap="square">
            <a:spAutoFit/>
          </a:bodyPr>
          <a:lstStyle/>
          <a:p>
            <a:pPr algn="l">
              <a:defRPr sz="1150" b="0" i="0">
                <a:solidFill>
                  <a:srgbClr val="264653"/>
                </a:solidFill>
                <a:latin typeface="Calibri"/>
              </a:defRPr>
            </a:pPr>
            <a:r>
              <a:t>1.  Bodriyar falsafasining intellektual genezisi va nazariy manbalarini aniqlash</a:t>
            </a:r>
          </a:p>
        </p:txBody>
      </p:sp>
      <p:sp>
        <p:nvSpPr>
          <p:cNvPr id="20" name="TextBox 19"/>
          <p:cNvSpPr txBox="1"/>
          <p:nvPr/>
        </p:nvSpPr>
        <p:spPr>
          <a:xfrm>
            <a:off x="457200" y="4663440"/>
            <a:ext cx="5486400" cy="457200"/>
          </a:xfrm>
          <a:prstGeom prst="rect">
            <a:avLst/>
          </a:prstGeom>
          <a:noFill/>
        </p:spPr>
        <p:txBody>
          <a:bodyPr wrap="square">
            <a:spAutoFit/>
          </a:bodyPr>
          <a:lstStyle/>
          <a:p>
            <a:pPr algn="l">
              <a:defRPr sz="1150" b="0" i="0">
                <a:solidFill>
                  <a:srgbClr val="264653"/>
                </a:solidFill>
                <a:latin typeface="Calibri"/>
              </a:defRPr>
            </a:pPr>
            <a:r>
              <a:t>2.  Simulyakrning to'rt bosqich nazariyasini sistematik tahlil qilish</a:t>
            </a:r>
          </a:p>
        </p:txBody>
      </p:sp>
      <p:sp>
        <p:nvSpPr>
          <p:cNvPr id="21" name="TextBox 20"/>
          <p:cNvSpPr txBox="1"/>
          <p:nvPr/>
        </p:nvSpPr>
        <p:spPr>
          <a:xfrm>
            <a:off x="457200" y="5166360"/>
            <a:ext cx="5486400" cy="457200"/>
          </a:xfrm>
          <a:prstGeom prst="rect">
            <a:avLst/>
          </a:prstGeom>
          <a:noFill/>
        </p:spPr>
        <p:txBody>
          <a:bodyPr wrap="square">
            <a:spAutoFit/>
          </a:bodyPr>
          <a:lstStyle/>
          <a:p>
            <a:pPr algn="l">
              <a:defRPr sz="1150" b="0" i="0">
                <a:solidFill>
                  <a:srgbClr val="264653"/>
                </a:solidFill>
                <a:latin typeface="Calibri"/>
              </a:defRPr>
            </a:pPr>
            <a:r>
              <a:t>3.  Virtual reallikning ontologik maqomini falsafiy aniqlash</a:t>
            </a:r>
          </a:p>
        </p:txBody>
      </p:sp>
      <p:sp>
        <p:nvSpPr>
          <p:cNvPr id="22" name="TextBox 21"/>
          <p:cNvSpPr txBox="1"/>
          <p:nvPr/>
        </p:nvSpPr>
        <p:spPr>
          <a:xfrm>
            <a:off x="6217920" y="4160520"/>
            <a:ext cx="5486400" cy="457200"/>
          </a:xfrm>
          <a:prstGeom prst="rect">
            <a:avLst/>
          </a:prstGeom>
          <a:noFill/>
        </p:spPr>
        <p:txBody>
          <a:bodyPr wrap="square">
            <a:spAutoFit/>
          </a:bodyPr>
          <a:lstStyle/>
          <a:p>
            <a:pPr algn="l">
              <a:defRPr sz="1150" b="0" i="0">
                <a:solidFill>
                  <a:srgbClr val="264653"/>
                </a:solidFill>
                <a:latin typeface="Calibri"/>
              </a:defRPr>
            </a:pPr>
            <a:r>
              <a:t>4.  Raqamli giperreallik sharoitidagi axloqiy dilemmalarni aniqlash</a:t>
            </a:r>
          </a:p>
        </p:txBody>
      </p:sp>
      <p:sp>
        <p:nvSpPr>
          <p:cNvPr id="23" name="TextBox 22"/>
          <p:cNvSpPr txBox="1"/>
          <p:nvPr/>
        </p:nvSpPr>
        <p:spPr>
          <a:xfrm>
            <a:off x="6217920" y="4663440"/>
            <a:ext cx="5486400" cy="457200"/>
          </a:xfrm>
          <a:prstGeom prst="rect">
            <a:avLst/>
          </a:prstGeom>
          <a:noFill/>
        </p:spPr>
        <p:txBody>
          <a:bodyPr wrap="square">
            <a:spAutoFit/>
          </a:bodyPr>
          <a:lstStyle/>
          <a:p>
            <a:pPr algn="l">
              <a:defRPr sz="1150" b="0" i="0">
                <a:solidFill>
                  <a:srgbClr val="264653"/>
                </a:solidFill>
                <a:latin typeface="Calibri"/>
              </a:defRPr>
            </a:pPr>
            <a:r>
              <a:t>5.  Virtual zo'ravonlikning insoniy ongga ta'sirini o'rganish</a:t>
            </a:r>
          </a:p>
        </p:txBody>
      </p:sp>
      <p:sp>
        <p:nvSpPr>
          <p:cNvPr id="24" name="TextBox 23"/>
          <p:cNvSpPr txBox="1"/>
          <p:nvPr/>
        </p:nvSpPr>
        <p:spPr>
          <a:xfrm>
            <a:off x="6217920" y="5166360"/>
            <a:ext cx="5486400" cy="457200"/>
          </a:xfrm>
          <a:prstGeom prst="rect">
            <a:avLst/>
          </a:prstGeom>
          <a:noFill/>
        </p:spPr>
        <p:txBody>
          <a:bodyPr wrap="square">
            <a:spAutoFit/>
          </a:bodyPr>
          <a:lstStyle/>
          <a:p>
            <a:pPr algn="l">
              <a:defRPr sz="1150" b="0" i="0">
                <a:solidFill>
                  <a:srgbClr val="264653"/>
                </a:solidFill>
                <a:latin typeface="Calibri"/>
              </a:defRPr>
            </a:pPr>
            <a:r>
              <a:t>6.  Bodriyar g'oyalariga tanqidiy yondashuv ishlab chiqish</a:t>
            </a:r>
          </a:p>
        </p:txBody>
      </p:sp>
      <p:sp>
        <p:nvSpPr>
          <p:cNvPr id="25" name="Rounded Rectangle 24"/>
          <p:cNvSpPr/>
          <p:nvPr/>
        </p:nvSpPr>
        <p:spPr>
          <a:xfrm>
            <a:off x="365760" y="5760720"/>
            <a:ext cx="11430000" cy="6400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852160"/>
            <a:ext cx="11064240" cy="457200"/>
          </a:xfrm>
          <a:prstGeom prst="rect">
            <a:avLst/>
          </a:prstGeom>
          <a:noFill/>
        </p:spPr>
        <p:txBody>
          <a:bodyPr wrap="square">
            <a:spAutoFit/>
          </a:bodyPr>
          <a:lstStyle/>
          <a:p>
            <a:pPr algn="ctr">
              <a:defRPr sz="1200" b="1" i="0">
                <a:solidFill>
                  <a:srgbClr val="FFFFFF"/>
                </a:solidFill>
                <a:latin typeface="Calibri"/>
              </a:defRPr>
            </a:pPr>
            <a:r>
              <a:t>METODOLOGIYA:  germenevtik-fenomenologik tahlil  •  qiyosiy-tarixiy metod  •  diskurs-tahlil  •  poststrukturalistik dekonstruksiya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TADQIQOTNING ILMIY YANGILIGI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4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sp>
        <p:nvSpPr>
          <p:cNvPr id="9" name="TextBox 8"/>
          <p:cNvSpPr txBox="1"/>
          <p:nvPr/>
        </p:nvSpPr>
        <p:spPr>
          <a:xfrm>
            <a:off x="365760" y="960120"/>
            <a:ext cx="11430000" cy="548640"/>
          </a:xfrm>
          <a:prstGeom prst="rect">
            <a:avLst/>
          </a:prstGeom>
          <a:noFill/>
        </p:spPr>
        <p:txBody>
          <a:bodyPr wrap="square">
            <a:spAutoFit/>
          </a:bodyPr>
          <a:lstStyle/>
          <a:p>
            <a:pPr algn="l">
              <a:defRPr sz="1300" b="0" i="1">
                <a:solidFill>
                  <a:srgbClr val="264653"/>
                </a:solidFill>
                <a:latin typeface="Calibri"/>
              </a:defRPr>
            </a:pPr>
            <a:r>
              <a:t>Mazkur tadqiqot Bodriyar falsafasini O'zbekiston falsafiy fikrida birinchi marta XXI asr raqamli muhiti kontekstida kompleks tahlil qiladi va quyidagi yangiliklarni taklif etadi:</a:t>
            </a:r>
          </a:p>
        </p:txBody>
      </p:sp>
      <p:sp>
        <p:nvSpPr>
          <p:cNvPr id="10" name="Rounded Rectangle 9"/>
          <p:cNvSpPr/>
          <p:nvPr/>
        </p:nvSpPr>
        <p:spPr>
          <a:xfrm>
            <a:off x="365760" y="1600200"/>
            <a:ext cx="3703320" cy="2057400"/>
          </a:xfrm>
          <a:prstGeom prst="roundRect">
            <a:avLst/>
          </a:prstGeom>
          <a:solidFill>
            <a:srgbClr val="FFFFFF"/>
          </a:solidFill>
          <a:ln w="2540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737360"/>
            <a:ext cx="640080" cy="640080"/>
          </a:xfrm>
          <a:prstGeom prst="ellipse">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47088"/>
            <a:ext cx="640080" cy="457200"/>
          </a:xfrm>
          <a:prstGeom prst="rect">
            <a:avLst/>
          </a:prstGeom>
          <a:noFill/>
        </p:spPr>
        <p:txBody>
          <a:bodyPr wrap="square">
            <a:spAutoFit/>
          </a:bodyPr>
          <a:lstStyle/>
          <a:p>
            <a:pPr algn="ctr">
              <a:defRPr sz="1800" b="1" i="0">
                <a:solidFill>
                  <a:srgbClr val="FFFFFF"/>
                </a:solidFill>
                <a:latin typeface="Calibri"/>
              </a:defRPr>
            </a:pPr>
            <a:r>
              <a:t>01</a:t>
            </a:r>
          </a:p>
        </p:txBody>
      </p:sp>
      <p:sp>
        <p:nvSpPr>
          <p:cNvPr id="13" name="TextBox 12"/>
          <p:cNvSpPr txBox="1"/>
          <p:nvPr/>
        </p:nvSpPr>
        <p:spPr>
          <a:xfrm>
            <a:off x="1280160" y="1828800"/>
            <a:ext cx="2697480" cy="457200"/>
          </a:xfrm>
          <a:prstGeom prst="rect">
            <a:avLst/>
          </a:prstGeom>
          <a:noFill/>
        </p:spPr>
        <p:txBody>
          <a:bodyPr wrap="square">
            <a:spAutoFit/>
          </a:bodyPr>
          <a:lstStyle/>
          <a:p>
            <a:pPr algn="l">
              <a:defRPr sz="1250" b="1" i="0">
                <a:solidFill>
                  <a:srgbClr val="C73E1D"/>
                </a:solidFill>
                <a:latin typeface="Calibri"/>
              </a:defRPr>
            </a:pPr>
            <a:r>
              <a:t>KONSEPTUAL YANGILIK</a:t>
            </a:r>
          </a:p>
        </p:txBody>
      </p:sp>
      <p:sp>
        <p:nvSpPr>
          <p:cNvPr id="14" name="TextBox 13"/>
          <p:cNvSpPr txBox="1"/>
          <p:nvPr/>
        </p:nvSpPr>
        <p:spPr>
          <a:xfrm>
            <a:off x="594360" y="2468880"/>
            <a:ext cx="3337560" cy="1143000"/>
          </a:xfrm>
          <a:prstGeom prst="rect">
            <a:avLst/>
          </a:prstGeom>
          <a:noFill/>
        </p:spPr>
        <p:txBody>
          <a:bodyPr wrap="square">
            <a:spAutoFit/>
          </a:bodyPr>
          <a:lstStyle/>
          <a:p>
            <a:pPr algn="l">
              <a:defRPr sz="1100" b="0" i="0">
                <a:solidFill>
                  <a:srgbClr val="264653"/>
                </a:solidFill>
                <a:latin typeface="Calibri"/>
              </a:defRPr>
            </a:pPr>
            <a:r>
              <a:t>Bodriyarning «giperreal-axloq» tushunchasi ilk bor sistemali shakllantirildi va falsafiy diskursga kiritildi.</a:t>
            </a:r>
          </a:p>
        </p:txBody>
      </p:sp>
      <p:sp>
        <p:nvSpPr>
          <p:cNvPr id="15" name="Rounded Rectangle 14"/>
          <p:cNvSpPr/>
          <p:nvPr/>
        </p:nvSpPr>
        <p:spPr>
          <a:xfrm>
            <a:off x="4251960" y="1600200"/>
            <a:ext cx="3703320" cy="2057400"/>
          </a:xfrm>
          <a:prstGeom prst="roundRect">
            <a:avLst/>
          </a:prstGeom>
          <a:solidFill>
            <a:srgbClr val="FFFFFF"/>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1737360"/>
            <a:ext cx="640080" cy="640080"/>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1847088"/>
            <a:ext cx="640080" cy="457200"/>
          </a:xfrm>
          <a:prstGeom prst="rect">
            <a:avLst/>
          </a:prstGeom>
          <a:noFill/>
        </p:spPr>
        <p:txBody>
          <a:bodyPr wrap="square">
            <a:spAutoFit/>
          </a:bodyPr>
          <a:lstStyle/>
          <a:p>
            <a:pPr algn="ctr">
              <a:defRPr sz="1800" b="1" i="0">
                <a:solidFill>
                  <a:srgbClr val="FFFFFF"/>
                </a:solidFill>
                <a:latin typeface="Calibri"/>
              </a:defRPr>
            </a:pPr>
            <a:r>
              <a:t>02</a:t>
            </a:r>
          </a:p>
        </p:txBody>
      </p:sp>
      <p:sp>
        <p:nvSpPr>
          <p:cNvPr id="18" name="TextBox 17"/>
          <p:cNvSpPr txBox="1"/>
          <p:nvPr/>
        </p:nvSpPr>
        <p:spPr>
          <a:xfrm>
            <a:off x="5166360" y="1828800"/>
            <a:ext cx="2697480" cy="457200"/>
          </a:xfrm>
          <a:prstGeom prst="rect">
            <a:avLst/>
          </a:prstGeom>
          <a:noFill/>
        </p:spPr>
        <p:txBody>
          <a:bodyPr wrap="square">
            <a:spAutoFit/>
          </a:bodyPr>
          <a:lstStyle/>
          <a:p>
            <a:pPr algn="l">
              <a:defRPr sz="1250" b="1" i="0">
                <a:solidFill>
                  <a:srgbClr val="2A9D8F"/>
                </a:solidFill>
                <a:latin typeface="Calibri"/>
              </a:defRPr>
            </a:pPr>
            <a:r>
              <a:t>METODOLOGIK YANGILIK</a:t>
            </a:r>
          </a:p>
        </p:txBody>
      </p:sp>
      <p:sp>
        <p:nvSpPr>
          <p:cNvPr id="19" name="TextBox 18"/>
          <p:cNvSpPr txBox="1"/>
          <p:nvPr/>
        </p:nvSpPr>
        <p:spPr>
          <a:xfrm>
            <a:off x="4480560" y="2468880"/>
            <a:ext cx="3337560" cy="1143000"/>
          </a:xfrm>
          <a:prstGeom prst="rect">
            <a:avLst/>
          </a:prstGeom>
          <a:noFill/>
        </p:spPr>
        <p:txBody>
          <a:bodyPr wrap="square">
            <a:spAutoFit/>
          </a:bodyPr>
          <a:lstStyle/>
          <a:p>
            <a:pPr algn="l">
              <a:defRPr sz="1100" b="0" i="0">
                <a:solidFill>
                  <a:srgbClr val="264653"/>
                </a:solidFill>
                <a:latin typeface="Calibri"/>
              </a:defRPr>
            </a:pPr>
            <a:r>
              <a:t>Simulyatsiya nazariyasi va virtual reallik fenomenologiyasini birlashtirgan integrativ metod taklif qilindi.</a:t>
            </a:r>
          </a:p>
        </p:txBody>
      </p:sp>
      <p:sp>
        <p:nvSpPr>
          <p:cNvPr id="20" name="Rounded Rectangle 19"/>
          <p:cNvSpPr/>
          <p:nvPr/>
        </p:nvSpPr>
        <p:spPr>
          <a:xfrm>
            <a:off x="8138160" y="1600200"/>
            <a:ext cx="3703320" cy="2057400"/>
          </a:xfrm>
          <a:prstGeom prst="roundRect">
            <a:avLst/>
          </a:prstGeom>
          <a:solidFill>
            <a:srgbClr val="FFFFFF"/>
          </a:solidFill>
          <a:ln w="254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1737360"/>
            <a:ext cx="640080" cy="640080"/>
          </a:xfrm>
          <a:prstGeom prst="ellipse">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1847088"/>
            <a:ext cx="640080" cy="457200"/>
          </a:xfrm>
          <a:prstGeom prst="rect">
            <a:avLst/>
          </a:prstGeom>
          <a:noFill/>
        </p:spPr>
        <p:txBody>
          <a:bodyPr wrap="square">
            <a:spAutoFit/>
          </a:bodyPr>
          <a:lstStyle/>
          <a:p>
            <a:pPr algn="ctr">
              <a:defRPr sz="1800" b="1" i="0">
                <a:solidFill>
                  <a:srgbClr val="FFFFFF"/>
                </a:solidFill>
                <a:latin typeface="Calibri"/>
              </a:defRPr>
            </a:pPr>
            <a:r>
              <a:t>03</a:t>
            </a:r>
          </a:p>
        </p:txBody>
      </p:sp>
      <p:sp>
        <p:nvSpPr>
          <p:cNvPr id="23" name="TextBox 22"/>
          <p:cNvSpPr txBox="1"/>
          <p:nvPr/>
        </p:nvSpPr>
        <p:spPr>
          <a:xfrm>
            <a:off x="9052560" y="1828800"/>
            <a:ext cx="2697480" cy="457200"/>
          </a:xfrm>
          <a:prstGeom prst="rect">
            <a:avLst/>
          </a:prstGeom>
          <a:noFill/>
        </p:spPr>
        <p:txBody>
          <a:bodyPr wrap="square">
            <a:spAutoFit/>
          </a:bodyPr>
          <a:lstStyle/>
          <a:p>
            <a:pPr algn="l">
              <a:defRPr sz="1250" b="1" i="0">
                <a:solidFill>
                  <a:srgbClr val="E9C46A"/>
                </a:solidFill>
                <a:latin typeface="Calibri"/>
              </a:defRPr>
            </a:pPr>
            <a:r>
              <a:t>TIPOLOGIK YANGILIK</a:t>
            </a:r>
          </a:p>
        </p:txBody>
      </p:sp>
      <p:sp>
        <p:nvSpPr>
          <p:cNvPr id="24" name="TextBox 23"/>
          <p:cNvSpPr txBox="1"/>
          <p:nvPr/>
        </p:nvSpPr>
        <p:spPr>
          <a:xfrm>
            <a:off x="8366760" y="2468880"/>
            <a:ext cx="3337560" cy="1143000"/>
          </a:xfrm>
          <a:prstGeom prst="rect">
            <a:avLst/>
          </a:prstGeom>
          <a:noFill/>
        </p:spPr>
        <p:txBody>
          <a:bodyPr wrap="square">
            <a:spAutoFit/>
          </a:bodyPr>
          <a:lstStyle/>
          <a:p>
            <a:pPr algn="l">
              <a:defRPr sz="1100" b="0" i="0">
                <a:solidFill>
                  <a:srgbClr val="264653"/>
                </a:solidFill>
                <a:latin typeface="Calibri"/>
              </a:defRPr>
            </a:pPr>
            <a:r>
              <a:t>Virtual zo'ravonlikning yangi tasnifi: simulyativ, immersiv, algoritmik va onto-axloqiy turlari ajratildi.</a:t>
            </a:r>
          </a:p>
        </p:txBody>
      </p:sp>
      <p:sp>
        <p:nvSpPr>
          <p:cNvPr id="25" name="Rounded Rectangle 24"/>
          <p:cNvSpPr/>
          <p:nvPr/>
        </p:nvSpPr>
        <p:spPr>
          <a:xfrm>
            <a:off x="365760" y="3840480"/>
            <a:ext cx="3703320" cy="2057400"/>
          </a:xfrm>
          <a:prstGeom prst="roundRect">
            <a:avLst/>
          </a:prstGeom>
          <a:solidFill>
            <a:srgbClr val="FFFFFF"/>
          </a:solidFill>
          <a:ln w="2540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48640" y="3977640"/>
            <a:ext cx="640080" cy="640080"/>
          </a:xfrm>
          <a:prstGeom prst="ellipse">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087368"/>
            <a:ext cx="640080" cy="457200"/>
          </a:xfrm>
          <a:prstGeom prst="rect">
            <a:avLst/>
          </a:prstGeom>
          <a:noFill/>
        </p:spPr>
        <p:txBody>
          <a:bodyPr wrap="square">
            <a:spAutoFit/>
          </a:bodyPr>
          <a:lstStyle/>
          <a:p>
            <a:pPr algn="ctr">
              <a:defRPr sz="1800" b="1" i="0">
                <a:solidFill>
                  <a:srgbClr val="FFFFFF"/>
                </a:solidFill>
                <a:latin typeface="Calibri"/>
              </a:defRPr>
            </a:pPr>
            <a:r>
              <a:t>04</a:t>
            </a:r>
          </a:p>
        </p:txBody>
      </p:sp>
      <p:sp>
        <p:nvSpPr>
          <p:cNvPr id="28" name="TextBox 27"/>
          <p:cNvSpPr txBox="1"/>
          <p:nvPr/>
        </p:nvSpPr>
        <p:spPr>
          <a:xfrm>
            <a:off x="1280160" y="4069080"/>
            <a:ext cx="2697480" cy="457200"/>
          </a:xfrm>
          <a:prstGeom prst="rect">
            <a:avLst/>
          </a:prstGeom>
          <a:noFill/>
        </p:spPr>
        <p:txBody>
          <a:bodyPr wrap="square">
            <a:spAutoFit/>
          </a:bodyPr>
          <a:lstStyle/>
          <a:p>
            <a:pPr algn="l">
              <a:defRPr sz="1250" b="1" i="0">
                <a:solidFill>
                  <a:srgbClr val="1D3B5C"/>
                </a:solidFill>
                <a:latin typeface="Calibri"/>
              </a:defRPr>
            </a:pPr>
            <a:r>
              <a:t>EMPIRIK YANGILIK</a:t>
            </a:r>
          </a:p>
        </p:txBody>
      </p:sp>
      <p:sp>
        <p:nvSpPr>
          <p:cNvPr id="29" name="TextBox 28"/>
          <p:cNvSpPr txBox="1"/>
          <p:nvPr/>
        </p:nvSpPr>
        <p:spPr>
          <a:xfrm>
            <a:off x="594360" y="4709160"/>
            <a:ext cx="3337560" cy="1143000"/>
          </a:xfrm>
          <a:prstGeom prst="rect">
            <a:avLst/>
          </a:prstGeom>
          <a:noFill/>
        </p:spPr>
        <p:txBody>
          <a:bodyPr wrap="square">
            <a:spAutoFit/>
          </a:bodyPr>
          <a:lstStyle/>
          <a:p>
            <a:pPr algn="l">
              <a:defRPr sz="1100" b="0" i="0">
                <a:solidFill>
                  <a:srgbClr val="264653"/>
                </a:solidFill>
                <a:latin typeface="Calibri"/>
              </a:defRPr>
            </a:pPr>
            <a:r>
              <a:t>Metaverse va deepfake fenomenlari Bodriyar nazariyasi orqali falsafiy talqin qilindi.</a:t>
            </a:r>
          </a:p>
        </p:txBody>
      </p:sp>
      <p:sp>
        <p:nvSpPr>
          <p:cNvPr id="30" name="Rounded Rectangle 29"/>
          <p:cNvSpPr/>
          <p:nvPr/>
        </p:nvSpPr>
        <p:spPr>
          <a:xfrm>
            <a:off x="4251960" y="3840480"/>
            <a:ext cx="3703320" cy="205740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34840" y="3977640"/>
            <a:ext cx="640080" cy="64008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4087368"/>
            <a:ext cx="640080" cy="457200"/>
          </a:xfrm>
          <a:prstGeom prst="rect">
            <a:avLst/>
          </a:prstGeom>
          <a:noFill/>
        </p:spPr>
        <p:txBody>
          <a:bodyPr wrap="square">
            <a:spAutoFit/>
          </a:bodyPr>
          <a:lstStyle/>
          <a:p>
            <a:pPr algn="ctr">
              <a:defRPr sz="1800" b="1" i="0">
                <a:solidFill>
                  <a:srgbClr val="FFFFFF"/>
                </a:solidFill>
                <a:latin typeface="Calibri"/>
              </a:defRPr>
            </a:pPr>
            <a:r>
              <a:t>05</a:t>
            </a:r>
          </a:p>
        </p:txBody>
      </p:sp>
      <p:sp>
        <p:nvSpPr>
          <p:cNvPr id="33" name="TextBox 32"/>
          <p:cNvSpPr txBox="1"/>
          <p:nvPr/>
        </p:nvSpPr>
        <p:spPr>
          <a:xfrm>
            <a:off x="5166360" y="4069080"/>
            <a:ext cx="2697480" cy="457200"/>
          </a:xfrm>
          <a:prstGeom prst="rect">
            <a:avLst/>
          </a:prstGeom>
          <a:noFill/>
        </p:spPr>
        <p:txBody>
          <a:bodyPr wrap="square">
            <a:spAutoFit/>
          </a:bodyPr>
          <a:lstStyle/>
          <a:p>
            <a:pPr algn="l">
              <a:defRPr sz="1250" b="1" i="0">
                <a:solidFill>
                  <a:srgbClr val="8E44AD"/>
                </a:solidFill>
                <a:latin typeface="Calibri"/>
              </a:defRPr>
            </a:pPr>
            <a:r>
              <a:t>TANQIDIY YANGILIK</a:t>
            </a:r>
          </a:p>
        </p:txBody>
      </p:sp>
      <p:sp>
        <p:nvSpPr>
          <p:cNvPr id="34" name="TextBox 33"/>
          <p:cNvSpPr txBox="1"/>
          <p:nvPr/>
        </p:nvSpPr>
        <p:spPr>
          <a:xfrm>
            <a:off x="4480560" y="4709160"/>
            <a:ext cx="3337560" cy="1143000"/>
          </a:xfrm>
          <a:prstGeom prst="rect">
            <a:avLst/>
          </a:prstGeom>
          <a:noFill/>
        </p:spPr>
        <p:txBody>
          <a:bodyPr wrap="square">
            <a:spAutoFit/>
          </a:bodyPr>
          <a:lstStyle/>
          <a:p>
            <a:pPr algn="l">
              <a:defRPr sz="1100" b="0" i="0">
                <a:solidFill>
                  <a:srgbClr val="264653"/>
                </a:solidFill>
                <a:latin typeface="Calibri"/>
              </a:defRPr>
            </a:pPr>
            <a:r>
              <a:t>Bodriyarning texno-pessimistik qarashlari muqobil sharqona axloq prizmasidan qayta baholandi.</a:t>
            </a:r>
          </a:p>
        </p:txBody>
      </p:sp>
      <p:sp>
        <p:nvSpPr>
          <p:cNvPr id="35" name="Rounded Rectangle 34"/>
          <p:cNvSpPr/>
          <p:nvPr/>
        </p:nvSpPr>
        <p:spPr>
          <a:xfrm>
            <a:off x="8138160" y="3840480"/>
            <a:ext cx="3703320" cy="2057400"/>
          </a:xfrm>
          <a:prstGeom prst="roundRect">
            <a:avLst/>
          </a:prstGeom>
          <a:solidFill>
            <a:srgbClr val="FFFFFF"/>
          </a:solidFill>
          <a:ln w="2540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21040" y="3977640"/>
            <a:ext cx="640080" cy="640080"/>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4087368"/>
            <a:ext cx="640080" cy="457200"/>
          </a:xfrm>
          <a:prstGeom prst="rect">
            <a:avLst/>
          </a:prstGeom>
          <a:noFill/>
        </p:spPr>
        <p:txBody>
          <a:bodyPr wrap="square">
            <a:spAutoFit/>
          </a:bodyPr>
          <a:lstStyle/>
          <a:p>
            <a:pPr algn="ctr">
              <a:defRPr sz="1800" b="1" i="0">
                <a:solidFill>
                  <a:srgbClr val="FFFFFF"/>
                </a:solidFill>
                <a:latin typeface="Calibri"/>
              </a:defRPr>
            </a:pPr>
            <a:r>
              <a:t>06</a:t>
            </a:r>
          </a:p>
        </p:txBody>
      </p:sp>
      <p:sp>
        <p:nvSpPr>
          <p:cNvPr id="38" name="TextBox 37"/>
          <p:cNvSpPr txBox="1"/>
          <p:nvPr/>
        </p:nvSpPr>
        <p:spPr>
          <a:xfrm>
            <a:off x="9052560" y="4069080"/>
            <a:ext cx="2697480" cy="457200"/>
          </a:xfrm>
          <a:prstGeom prst="rect">
            <a:avLst/>
          </a:prstGeom>
          <a:noFill/>
        </p:spPr>
        <p:txBody>
          <a:bodyPr wrap="square">
            <a:spAutoFit/>
          </a:bodyPr>
          <a:lstStyle/>
          <a:p>
            <a:pPr algn="l">
              <a:defRPr sz="1250" b="1" i="0">
                <a:solidFill>
                  <a:srgbClr val="E76F51"/>
                </a:solidFill>
                <a:latin typeface="Calibri"/>
              </a:defRPr>
            </a:pPr>
            <a:r>
              <a:t>AMALIY YANGILIK</a:t>
            </a:r>
          </a:p>
        </p:txBody>
      </p:sp>
      <p:sp>
        <p:nvSpPr>
          <p:cNvPr id="39" name="TextBox 38"/>
          <p:cNvSpPr txBox="1"/>
          <p:nvPr/>
        </p:nvSpPr>
        <p:spPr>
          <a:xfrm>
            <a:off x="8366760" y="4709160"/>
            <a:ext cx="3337560" cy="1143000"/>
          </a:xfrm>
          <a:prstGeom prst="rect">
            <a:avLst/>
          </a:prstGeom>
          <a:noFill/>
        </p:spPr>
        <p:txBody>
          <a:bodyPr wrap="square">
            <a:spAutoFit/>
          </a:bodyPr>
          <a:lstStyle/>
          <a:p>
            <a:pPr algn="l">
              <a:defRPr sz="1100" b="0" i="0">
                <a:solidFill>
                  <a:srgbClr val="264653"/>
                </a:solidFill>
                <a:latin typeface="Calibri"/>
              </a:defRPr>
            </a:pPr>
            <a:r>
              <a:t>Raqamli muhitda axloqiy ta'lim uchun konseptual model ishlab chiqildi va tavsiya etildi.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I BOB. BODRIYAR FALSAFASINING NAZARIY MANBALARI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5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sp>
        <p:nvSpPr>
          <p:cNvPr id="9" name="Oval 8"/>
          <p:cNvSpPr/>
          <p:nvPr/>
        </p:nvSpPr>
        <p:spPr>
          <a:xfrm>
            <a:off x="4937760" y="2743200"/>
            <a:ext cx="2286000" cy="2286000"/>
          </a:xfrm>
          <a:prstGeom prst="ellipse">
            <a:avLst/>
          </a:prstGeom>
          <a:solidFill>
            <a:srgbClr val="C73E1D"/>
          </a:solidFill>
          <a:ln w="381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3108960"/>
            <a:ext cx="2286000" cy="457200"/>
          </a:xfrm>
          <a:prstGeom prst="rect">
            <a:avLst/>
          </a:prstGeom>
          <a:noFill/>
        </p:spPr>
        <p:txBody>
          <a:bodyPr wrap="square">
            <a:spAutoFit/>
          </a:bodyPr>
          <a:lstStyle/>
          <a:p>
            <a:pPr algn="ctr">
              <a:defRPr sz="1800" b="1" i="0">
                <a:solidFill>
                  <a:srgbClr val="FFFFFF"/>
                </a:solidFill>
                <a:latin typeface="Calibri"/>
              </a:defRPr>
            </a:pPr>
            <a:r>
              <a:t>JAN</a:t>
            </a:r>
          </a:p>
        </p:txBody>
      </p:sp>
      <p:sp>
        <p:nvSpPr>
          <p:cNvPr id="11" name="TextBox 10"/>
          <p:cNvSpPr txBox="1"/>
          <p:nvPr/>
        </p:nvSpPr>
        <p:spPr>
          <a:xfrm>
            <a:off x="4937760" y="3520440"/>
            <a:ext cx="2286000" cy="457200"/>
          </a:xfrm>
          <a:prstGeom prst="rect">
            <a:avLst/>
          </a:prstGeom>
          <a:noFill/>
        </p:spPr>
        <p:txBody>
          <a:bodyPr wrap="square">
            <a:spAutoFit/>
          </a:bodyPr>
          <a:lstStyle/>
          <a:p>
            <a:pPr algn="ctr">
              <a:defRPr sz="2000" b="1" i="0">
                <a:solidFill>
                  <a:srgbClr val="FFFFFF"/>
                </a:solidFill>
                <a:latin typeface="Calibri"/>
              </a:defRPr>
            </a:pPr>
            <a:r>
              <a:t>BODRIYAR</a:t>
            </a:r>
          </a:p>
        </p:txBody>
      </p:sp>
      <p:sp>
        <p:nvSpPr>
          <p:cNvPr id="12" name="TextBox 11"/>
          <p:cNvSpPr txBox="1"/>
          <p:nvPr/>
        </p:nvSpPr>
        <p:spPr>
          <a:xfrm>
            <a:off x="4937760" y="3977639"/>
            <a:ext cx="2286000" cy="457200"/>
          </a:xfrm>
          <a:prstGeom prst="rect">
            <a:avLst/>
          </a:prstGeom>
          <a:noFill/>
        </p:spPr>
        <p:txBody>
          <a:bodyPr wrap="square">
            <a:spAutoFit/>
          </a:bodyPr>
          <a:lstStyle/>
          <a:p>
            <a:pPr algn="ctr">
              <a:defRPr sz="1200" b="0" i="1">
                <a:solidFill>
                  <a:srgbClr val="E9C46A"/>
                </a:solidFill>
                <a:latin typeface="Calibri"/>
              </a:defRPr>
            </a:pPr>
            <a:r>
              <a:t>1929–2007</a:t>
            </a:r>
          </a:p>
        </p:txBody>
      </p:sp>
      <p:sp>
        <p:nvSpPr>
          <p:cNvPr id="13" name="Rounded Rectangle 12"/>
          <p:cNvSpPr/>
          <p:nvPr/>
        </p:nvSpPr>
        <p:spPr>
          <a:xfrm>
            <a:off x="365760" y="1097280"/>
            <a:ext cx="3108960" cy="1463040"/>
          </a:xfrm>
          <a:prstGeom prst="roundRect">
            <a:avLst/>
          </a:prstGeom>
          <a:solidFill>
            <a:srgbClr val="FFFFFF"/>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097280"/>
            <a:ext cx="3108960" cy="4114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161288"/>
            <a:ext cx="3108960" cy="365760"/>
          </a:xfrm>
          <a:prstGeom prst="rect">
            <a:avLst/>
          </a:prstGeom>
          <a:noFill/>
        </p:spPr>
        <p:txBody>
          <a:bodyPr wrap="square">
            <a:spAutoFit/>
          </a:bodyPr>
          <a:lstStyle/>
          <a:p>
            <a:pPr algn="ctr">
              <a:defRPr sz="1300" b="1" i="0">
                <a:solidFill>
                  <a:srgbClr val="FFFFFF"/>
                </a:solidFill>
                <a:latin typeface="Calibri"/>
              </a:defRPr>
            </a:pPr>
            <a:r>
              <a:t>MARKSIZM</a:t>
            </a:r>
          </a:p>
        </p:txBody>
      </p:sp>
      <p:sp>
        <p:nvSpPr>
          <p:cNvPr id="16" name="TextBox 15"/>
          <p:cNvSpPr txBox="1"/>
          <p:nvPr/>
        </p:nvSpPr>
        <p:spPr>
          <a:xfrm>
            <a:off x="502920" y="1600200"/>
            <a:ext cx="2834640" cy="914400"/>
          </a:xfrm>
          <a:prstGeom prst="rect">
            <a:avLst/>
          </a:prstGeom>
          <a:noFill/>
        </p:spPr>
        <p:txBody>
          <a:bodyPr wrap="square">
            <a:spAutoFit/>
          </a:bodyPr>
          <a:lstStyle/>
          <a:p>
            <a:pPr algn="ctr">
              <a:defRPr sz="1100" b="0" i="0">
                <a:solidFill>
                  <a:srgbClr val="264653"/>
                </a:solidFill>
                <a:latin typeface="Calibri"/>
              </a:defRPr>
            </a:pPr>
            <a:r>
              <a:t>Iste'mol jamiyati,</a:t>
            </a:r>
            <a:br/>
            <a:r>
              <a:t>begonalashuv tahlili</a:t>
            </a:r>
            <a:br/>
            <a:r>
              <a:t>(K. Marks, A. Lefebvr)</a:t>
            </a:r>
          </a:p>
        </p:txBody>
      </p:sp>
      <p:sp>
        <p:nvSpPr>
          <p:cNvPr id="17" name="Rounded Rectangle 16"/>
          <p:cNvSpPr/>
          <p:nvPr/>
        </p:nvSpPr>
        <p:spPr>
          <a:xfrm>
            <a:off x="8686800" y="1097280"/>
            <a:ext cx="3108960" cy="1463040"/>
          </a:xfrm>
          <a:prstGeom prst="roundRect">
            <a:avLst/>
          </a:prstGeom>
          <a:solidFill>
            <a:srgbClr val="FFFFFF"/>
          </a:solidFill>
          <a:ln w="2540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0" y="1097280"/>
            <a:ext cx="3108960" cy="41148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1161288"/>
            <a:ext cx="3108960" cy="365760"/>
          </a:xfrm>
          <a:prstGeom prst="rect">
            <a:avLst/>
          </a:prstGeom>
          <a:noFill/>
        </p:spPr>
        <p:txBody>
          <a:bodyPr wrap="square">
            <a:spAutoFit/>
          </a:bodyPr>
          <a:lstStyle/>
          <a:p>
            <a:pPr algn="ctr">
              <a:defRPr sz="1300" b="1" i="0">
                <a:solidFill>
                  <a:srgbClr val="FFFFFF"/>
                </a:solidFill>
                <a:latin typeface="Calibri"/>
              </a:defRPr>
            </a:pPr>
            <a:r>
              <a:t>STRUKTURALIZM</a:t>
            </a:r>
          </a:p>
        </p:txBody>
      </p:sp>
      <p:sp>
        <p:nvSpPr>
          <p:cNvPr id="20" name="TextBox 19"/>
          <p:cNvSpPr txBox="1"/>
          <p:nvPr/>
        </p:nvSpPr>
        <p:spPr>
          <a:xfrm>
            <a:off x="8823960" y="1600200"/>
            <a:ext cx="2834640" cy="914400"/>
          </a:xfrm>
          <a:prstGeom prst="rect">
            <a:avLst/>
          </a:prstGeom>
          <a:noFill/>
        </p:spPr>
        <p:txBody>
          <a:bodyPr wrap="square">
            <a:spAutoFit/>
          </a:bodyPr>
          <a:lstStyle/>
          <a:p>
            <a:pPr algn="ctr">
              <a:defRPr sz="1100" b="0" i="0">
                <a:solidFill>
                  <a:srgbClr val="264653"/>
                </a:solidFill>
                <a:latin typeface="Calibri"/>
              </a:defRPr>
            </a:pPr>
            <a:r>
              <a:t>Belgilar tizimi va</a:t>
            </a:r>
            <a:br/>
            <a:r>
              <a:t>semiotika nazariyasi</a:t>
            </a:r>
            <a:br/>
            <a:r>
              <a:t>(F. de Sossyur, R. Bart)</a:t>
            </a:r>
          </a:p>
        </p:txBody>
      </p:sp>
      <p:sp>
        <p:nvSpPr>
          <p:cNvPr id="21" name="Rounded Rectangle 20"/>
          <p:cNvSpPr/>
          <p:nvPr/>
        </p:nvSpPr>
        <p:spPr>
          <a:xfrm>
            <a:off x="365760" y="3017520"/>
            <a:ext cx="3108960" cy="1463040"/>
          </a:xfrm>
          <a:prstGeom prst="roundRect">
            <a:avLst/>
          </a:prstGeom>
          <a:solidFill>
            <a:srgbClr val="FFFFFF"/>
          </a:solidFill>
          <a:ln w="2540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017520"/>
            <a:ext cx="3108960" cy="411480"/>
          </a:xfrm>
          <a:prstGeom prst="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3081528"/>
            <a:ext cx="3108960" cy="365760"/>
          </a:xfrm>
          <a:prstGeom prst="rect">
            <a:avLst/>
          </a:prstGeom>
          <a:noFill/>
        </p:spPr>
        <p:txBody>
          <a:bodyPr wrap="square">
            <a:spAutoFit/>
          </a:bodyPr>
          <a:lstStyle/>
          <a:p>
            <a:pPr algn="ctr">
              <a:defRPr sz="1300" b="1" i="0">
                <a:solidFill>
                  <a:srgbClr val="FFFFFF"/>
                </a:solidFill>
                <a:latin typeface="Calibri"/>
              </a:defRPr>
            </a:pPr>
            <a:r>
              <a:t>POSTSTRUKTURALIZM</a:t>
            </a:r>
          </a:p>
        </p:txBody>
      </p:sp>
      <p:sp>
        <p:nvSpPr>
          <p:cNvPr id="24" name="TextBox 23"/>
          <p:cNvSpPr txBox="1"/>
          <p:nvPr/>
        </p:nvSpPr>
        <p:spPr>
          <a:xfrm>
            <a:off x="502920" y="3520440"/>
            <a:ext cx="2834640" cy="914400"/>
          </a:xfrm>
          <a:prstGeom prst="rect">
            <a:avLst/>
          </a:prstGeom>
          <a:noFill/>
        </p:spPr>
        <p:txBody>
          <a:bodyPr wrap="square">
            <a:spAutoFit/>
          </a:bodyPr>
          <a:lstStyle/>
          <a:p>
            <a:pPr algn="ctr">
              <a:defRPr sz="1100" b="0" i="0">
                <a:solidFill>
                  <a:srgbClr val="264653"/>
                </a:solidFill>
                <a:latin typeface="Calibri"/>
              </a:defRPr>
            </a:pPr>
            <a:r>
              <a:t>Dekonstruksiya va</a:t>
            </a:r>
            <a:br/>
            <a:r>
              <a:t>hokimiyat-bilim</a:t>
            </a:r>
            <a:br/>
            <a:r>
              <a:t>(J. Derrida, M. Fuko)</a:t>
            </a:r>
          </a:p>
        </p:txBody>
      </p:sp>
      <p:sp>
        <p:nvSpPr>
          <p:cNvPr id="25" name="Rounded Rectangle 24"/>
          <p:cNvSpPr/>
          <p:nvPr/>
        </p:nvSpPr>
        <p:spPr>
          <a:xfrm>
            <a:off x="8686800" y="3017520"/>
            <a:ext cx="3108960" cy="1463040"/>
          </a:xfrm>
          <a:prstGeom prst="roundRect">
            <a:avLst/>
          </a:prstGeom>
          <a:solidFill>
            <a:srgbClr val="FFFFFF"/>
          </a:solid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0" y="3017520"/>
            <a:ext cx="3108960" cy="41148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3081528"/>
            <a:ext cx="3108960" cy="365760"/>
          </a:xfrm>
          <a:prstGeom prst="rect">
            <a:avLst/>
          </a:prstGeom>
          <a:noFill/>
        </p:spPr>
        <p:txBody>
          <a:bodyPr wrap="square">
            <a:spAutoFit/>
          </a:bodyPr>
          <a:lstStyle/>
          <a:p>
            <a:pPr algn="ctr">
              <a:defRPr sz="1300" b="1" i="0">
                <a:solidFill>
                  <a:srgbClr val="FFFFFF"/>
                </a:solidFill>
                <a:latin typeface="Calibri"/>
              </a:defRPr>
            </a:pPr>
            <a:r>
              <a:t>PSIXOANALIZ</a:t>
            </a:r>
          </a:p>
        </p:txBody>
      </p:sp>
      <p:sp>
        <p:nvSpPr>
          <p:cNvPr id="28" name="TextBox 27"/>
          <p:cNvSpPr txBox="1"/>
          <p:nvPr/>
        </p:nvSpPr>
        <p:spPr>
          <a:xfrm>
            <a:off x="8823960" y="3520440"/>
            <a:ext cx="2834640" cy="914400"/>
          </a:xfrm>
          <a:prstGeom prst="rect">
            <a:avLst/>
          </a:prstGeom>
          <a:noFill/>
        </p:spPr>
        <p:txBody>
          <a:bodyPr wrap="square">
            <a:spAutoFit/>
          </a:bodyPr>
          <a:lstStyle/>
          <a:p>
            <a:pPr algn="ctr">
              <a:defRPr sz="1100" b="0" i="0">
                <a:solidFill>
                  <a:srgbClr val="264653"/>
                </a:solidFill>
                <a:latin typeface="Calibri"/>
              </a:defRPr>
            </a:pPr>
            <a:r>
              <a:t>Istakning tabiati</a:t>
            </a:r>
            <a:br/>
            <a:r>
              <a:t>va ramziy tartib</a:t>
            </a:r>
            <a:br/>
            <a:r>
              <a:t>(Z. Freyd, J. Lakan)</a:t>
            </a:r>
          </a:p>
        </p:txBody>
      </p:sp>
      <p:sp>
        <p:nvSpPr>
          <p:cNvPr id="29" name="Rounded Rectangle 28"/>
          <p:cNvSpPr/>
          <p:nvPr/>
        </p:nvSpPr>
        <p:spPr>
          <a:xfrm>
            <a:off x="365760" y="4937760"/>
            <a:ext cx="3108960" cy="1463040"/>
          </a:xfrm>
          <a:prstGeom prst="roundRect">
            <a:avLst/>
          </a:prstGeom>
          <a:solidFill>
            <a:srgbClr val="FFFFFF"/>
          </a:solidFill>
          <a:ln w="254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4937760"/>
            <a:ext cx="3108960" cy="41148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5001768"/>
            <a:ext cx="3108960" cy="365760"/>
          </a:xfrm>
          <a:prstGeom prst="rect">
            <a:avLst/>
          </a:prstGeom>
          <a:noFill/>
        </p:spPr>
        <p:txBody>
          <a:bodyPr wrap="square">
            <a:spAutoFit/>
          </a:bodyPr>
          <a:lstStyle/>
          <a:p>
            <a:pPr algn="ctr">
              <a:defRPr sz="1300" b="1" i="0">
                <a:solidFill>
                  <a:srgbClr val="FFFFFF"/>
                </a:solidFill>
                <a:latin typeface="Calibri"/>
              </a:defRPr>
            </a:pPr>
            <a:r>
              <a:t>FENOMENOLOGIYA</a:t>
            </a:r>
          </a:p>
        </p:txBody>
      </p:sp>
      <p:sp>
        <p:nvSpPr>
          <p:cNvPr id="32" name="TextBox 31"/>
          <p:cNvSpPr txBox="1"/>
          <p:nvPr/>
        </p:nvSpPr>
        <p:spPr>
          <a:xfrm>
            <a:off x="502920" y="5440680"/>
            <a:ext cx="2834640" cy="914400"/>
          </a:xfrm>
          <a:prstGeom prst="rect">
            <a:avLst/>
          </a:prstGeom>
          <a:noFill/>
        </p:spPr>
        <p:txBody>
          <a:bodyPr wrap="square">
            <a:spAutoFit/>
          </a:bodyPr>
          <a:lstStyle/>
          <a:p>
            <a:pPr algn="ctr">
              <a:defRPr sz="1100" b="0" i="0">
                <a:solidFill>
                  <a:srgbClr val="264653"/>
                </a:solidFill>
                <a:latin typeface="Calibri"/>
              </a:defRPr>
            </a:pPr>
            <a:r>
              <a:t>Tajriba va idrok</a:t>
            </a:r>
            <a:br/>
            <a:r>
              <a:t>falsafasi</a:t>
            </a:r>
            <a:br/>
            <a:r>
              <a:t>(E. Husserl, M. Merlo-Ponti)</a:t>
            </a:r>
          </a:p>
        </p:txBody>
      </p:sp>
      <p:sp>
        <p:nvSpPr>
          <p:cNvPr id="33" name="Rounded Rectangle 32"/>
          <p:cNvSpPr/>
          <p:nvPr/>
        </p:nvSpPr>
        <p:spPr>
          <a:xfrm>
            <a:off x="8686800" y="4937760"/>
            <a:ext cx="3108960" cy="1463040"/>
          </a:xfrm>
          <a:prstGeom prst="roundRect">
            <a:avLst/>
          </a:prstGeom>
          <a:solidFill>
            <a:srgbClr val="FFFFFF"/>
          </a:solidFill>
          <a:ln w="2540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86800" y="4937760"/>
            <a:ext cx="3108960" cy="41148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0" y="5001768"/>
            <a:ext cx="3108960" cy="365760"/>
          </a:xfrm>
          <a:prstGeom prst="rect">
            <a:avLst/>
          </a:prstGeom>
          <a:noFill/>
        </p:spPr>
        <p:txBody>
          <a:bodyPr wrap="square">
            <a:spAutoFit/>
          </a:bodyPr>
          <a:lstStyle/>
          <a:p>
            <a:pPr algn="ctr">
              <a:defRPr sz="1300" b="1" i="0">
                <a:solidFill>
                  <a:srgbClr val="FFFFFF"/>
                </a:solidFill>
                <a:latin typeface="Calibri"/>
              </a:defRPr>
            </a:pPr>
            <a:r>
              <a:t>MEDIA NAZARIYALARI</a:t>
            </a:r>
          </a:p>
        </p:txBody>
      </p:sp>
      <p:sp>
        <p:nvSpPr>
          <p:cNvPr id="36" name="TextBox 35"/>
          <p:cNvSpPr txBox="1"/>
          <p:nvPr/>
        </p:nvSpPr>
        <p:spPr>
          <a:xfrm>
            <a:off x="8823960" y="5440680"/>
            <a:ext cx="2834640" cy="914400"/>
          </a:xfrm>
          <a:prstGeom prst="rect">
            <a:avLst/>
          </a:prstGeom>
          <a:noFill/>
        </p:spPr>
        <p:txBody>
          <a:bodyPr wrap="square">
            <a:spAutoFit/>
          </a:bodyPr>
          <a:lstStyle/>
          <a:p>
            <a:pPr algn="ctr">
              <a:defRPr sz="1100" b="0" i="0">
                <a:solidFill>
                  <a:srgbClr val="264653"/>
                </a:solidFill>
                <a:latin typeface="Calibri"/>
              </a:defRPr>
            </a:pPr>
            <a:r>
              <a:t>Media-soblidir,</a:t>
            </a:r>
            <a:br/>
            <a:r>
              <a:t>texnomadaniyat</a:t>
            </a:r>
            <a:br/>
            <a:r>
              <a:t>(M. Maklyuen)</a:t>
            </a:r>
          </a:p>
        </p:txBody>
      </p:sp>
      <p:sp>
        <p:nvSpPr>
          <p:cNvPr id="37" name="Rounded Rectangle 36"/>
          <p:cNvSpPr/>
          <p:nvPr/>
        </p:nvSpPr>
        <p:spPr>
          <a:xfrm>
            <a:off x="3200400" y="6583680"/>
            <a:ext cx="5760720" cy="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1.2. GIPERREALLIK VA HAQIQAT TANAZZULI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6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sp>
        <p:nvSpPr>
          <p:cNvPr id="9" name="Rounded Rectangle 8"/>
          <p:cNvSpPr/>
          <p:nvPr/>
        </p:nvSpPr>
        <p:spPr>
          <a:xfrm>
            <a:off x="365760" y="1005840"/>
            <a:ext cx="11430000" cy="868680"/>
          </a:xfrm>
          <a:prstGeom prst="round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097280"/>
            <a:ext cx="10972800" cy="365760"/>
          </a:xfrm>
          <a:prstGeom prst="rect">
            <a:avLst/>
          </a:prstGeom>
          <a:noFill/>
        </p:spPr>
        <p:txBody>
          <a:bodyPr wrap="square">
            <a:spAutoFit/>
          </a:bodyPr>
          <a:lstStyle/>
          <a:p>
            <a:pPr algn="ctr">
              <a:defRPr sz="1400" b="1" i="1">
                <a:solidFill>
                  <a:srgbClr val="E9C46A"/>
                </a:solidFill>
                <a:latin typeface="Calibri"/>
              </a:defRPr>
            </a:pPr>
            <a:r>
              <a:t>"Giperreallik — bu haqiqatdan ham haqiqiyroq bo'lgan modellashtirilgan voqelikdir."</a:t>
            </a:r>
          </a:p>
        </p:txBody>
      </p:sp>
      <p:sp>
        <p:nvSpPr>
          <p:cNvPr id="11" name="TextBox 10"/>
          <p:cNvSpPr txBox="1"/>
          <p:nvPr/>
        </p:nvSpPr>
        <p:spPr>
          <a:xfrm>
            <a:off x="640080" y="1508760"/>
            <a:ext cx="10972800" cy="365760"/>
          </a:xfrm>
          <a:prstGeom prst="rect">
            <a:avLst/>
          </a:prstGeom>
          <a:noFill/>
        </p:spPr>
        <p:txBody>
          <a:bodyPr wrap="square">
            <a:spAutoFit/>
          </a:bodyPr>
          <a:lstStyle/>
          <a:p>
            <a:pPr algn="ctr">
              <a:defRPr sz="1100" b="0" i="1">
                <a:solidFill>
                  <a:srgbClr val="FFFFFF"/>
                </a:solidFill>
                <a:latin typeface="Calibri"/>
              </a:defRPr>
            </a:pPr>
            <a:r>
              <a:t>— J. Bodriyar, «Simulyakr va simulyatsiya», 1981</a:t>
            </a:r>
          </a:p>
        </p:txBody>
      </p:sp>
      <p:sp>
        <p:nvSpPr>
          <p:cNvPr id="12" name="Rounded Rectangle 11"/>
          <p:cNvSpPr/>
          <p:nvPr/>
        </p:nvSpPr>
        <p:spPr>
          <a:xfrm>
            <a:off x="365760" y="2057400"/>
            <a:ext cx="5669280" cy="1828800"/>
          </a:xfrm>
          <a:prstGeom prst="roundRect">
            <a:avLst/>
          </a:prstGeom>
          <a:solidFill>
            <a:srgbClr val="F1FAEE"/>
          </a:solidFill>
          <a:ln w="1905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5760" y="2057400"/>
            <a:ext cx="5669280" cy="457200"/>
          </a:xfrm>
          <a:prstGeom prst="round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GIPERREALLIK — TUSHUNCHANING MOHIYATI</a:t>
            </a:r>
          </a:p>
        </p:txBody>
      </p:sp>
      <p:sp>
        <p:nvSpPr>
          <p:cNvPr id="14" name="TextBox 13"/>
          <p:cNvSpPr txBox="1"/>
          <p:nvPr/>
        </p:nvSpPr>
        <p:spPr>
          <a:xfrm>
            <a:off x="502920" y="2560320"/>
            <a:ext cx="5394960" cy="1280160"/>
          </a:xfrm>
          <a:prstGeom prst="rect">
            <a:avLst/>
          </a:prstGeom>
          <a:noFill/>
        </p:spPr>
        <p:txBody>
          <a:bodyPr wrap="square">
            <a:spAutoFit/>
          </a:bodyPr>
          <a:lstStyle/>
          <a:p>
            <a:pPr>
              <a:spcAft>
                <a:spcPts val="400"/>
              </a:spcAft>
              <a:defRPr sz="1100">
                <a:solidFill>
                  <a:srgbClr val="264653"/>
                </a:solidFill>
              </a:defRPr>
            </a:pPr>
            <a:r>
              <a:t>• Belgilar va modellar haqiqatni almashtirgan holat</a:t>
            </a:r>
          </a:p>
          <a:p>
            <a:pPr>
              <a:spcAft>
                <a:spcPts val="400"/>
              </a:spcAft>
              <a:defRPr sz="1100">
                <a:solidFill>
                  <a:srgbClr val="264653"/>
                </a:solidFill>
              </a:defRPr>
            </a:pPr>
            <a:r>
              <a:t>• Asl nusxa va nusxa o'rtasidagi farq yo'qoladi</a:t>
            </a:r>
          </a:p>
          <a:p>
            <a:pPr>
              <a:spcAft>
                <a:spcPts val="400"/>
              </a:spcAft>
              <a:defRPr sz="1100">
                <a:solidFill>
                  <a:srgbClr val="264653"/>
                </a:solidFill>
              </a:defRPr>
            </a:pPr>
            <a:r>
              <a:t>• Simulyakrlar avtonom tarzda yashay boshlaydi</a:t>
            </a:r>
          </a:p>
          <a:p>
            <a:pPr>
              <a:spcAft>
                <a:spcPts val="400"/>
              </a:spcAft>
              <a:defRPr sz="1100">
                <a:solidFill>
                  <a:srgbClr val="264653"/>
                </a:solidFill>
              </a:defRPr>
            </a:pPr>
            <a:r>
              <a:t>• Ontologik referent yo'qoladi — belgilar mustaqil reallik bo'ladi</a:t>
            </a:r>
          </a:p>
        </p:txBody>
      </p:sp>
      <p:sp>
        <p:nvSpPr>
          <p:cNvPr id="15" name="Rounded Rectangle 14"/>
          <p:cNvSpPr/>
          <p:nvPr/>
        </p:nvSpPr>
        <p:spPr>
          <a:xfrm>
            <a:off x="6126480" y="2057400"/>
            <a:ext cx="5669280" cy="1828800"/>
          </a:xfrm>
          <a:prstGeom prst="roundRect">
            <a:avLst/>
          </a:prstGeom>
          <a:solidFill>
            <a:srgbClr val="F1FAEE"/>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80" y="2057400"/>
            <a:ext cx="566928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ZAMONAVIY MISOLLAR</a:t>
            </a:r>
          </a:p>
        </p:txBody>
      </p:sp>
      <p:sp>
        <p:nvSpPr>
          <p:cNvPr id="17" name="TextBox 16"/>
          <p:cNvSpPr txBox="1"/>
          <p:nvPr/>
        </p:nvSpPr>
        <p:spPr>
          <a:xfrm>
            <a:off x="6263640" y="2560320"/>
            <a:ext cx="5394960" cy="1280160"/>
          </a:xfrm>
          <a:prstGeom prst="rect">
            <a:avLst/>
          </a:prstGeom>
          <a:noFill/>
        </p:spPr>
        <p:txBody>
          <a:bodyPr wrap="square">
            <a:spAutoFit/>
          </a:bodyPr>
          <a:lstStyle/>
          <a:p>
            <a:pPr>
              <a:spcAft>
                <a:spcPts val="400"/>
              </a:spcAft>
              <a:defRPr sz="1100">
                <a:solidFill>
                  <a:srgbClr val="264653"/>
                </a:solidFill>
              </a:defRPr>
            </a:pPr>
            <a:r>
              <a:t>• Disneylend (Bodriyar klassik misoli)</a:t>
            </a:r>
          </a:p>
          <a:p>
            <a:pPr>
              <a:spcAft>
                <a:spcPts val="400"/>
              </a:spcAft>
              <a:defRPr sz="1100">
                <a:solidFill>
                  <a:srgbClr val="264653"/>
                </a:solidFill>
              </a:defRPr>
            </a:pPr>
            <a:r>
              <a:t>• Instagram va TikTok filtri haqiqati</a:t>
            </a:r>
          </a:p>
          <a:p>
            <a:pPr>
              <a:spcAft>
                <a:spcPts val="400"/>
              </a:spcAft>
              <a:defRPr sz="1100">
                <a:solidFill>
                  <a:srgbClr val="264653"/>
                </a:solidFill>
              </a:defRPr>
            </a:pPr>
            <a:r>
              <a:t>• Deepfake va sun'iy intellekt kontenti</a:t>
            </a:r>
          </a:p>
          <a:p>
            <a:pPr>
              <a:spcAft>
                <a:spcPts val="400"/>
              </a:spcAft>
              <a:defRPr sz="1100">
                <a:solidFill>
                  <a:srgbClr val="264653"/>
                </a:solidFill>
              </a:defRPr>
            </a:pPr>
            <a:r>
              <a:t>• Metaverse va VR-olamlar (Meta, VRChat)</a:t>
            </a:r>
          </a:p>
          <a:p>
            <a:pPr>
              <a:spcAft>
                <a:spcPts val="400"/>
              </a:spcAft>
              <a:defRPr sz="1100">
                <a:solidFill>
                  <a:srgbClr val="264653"/>
                </a:solidFill>
              </a:defRPr>
            </a:pPr>
            <a:r>
              <a:t>• AI-influencerlar (Lil Miquela, Aitana)</a:t>
            </a:r>
          </a:p>
        </p:txBody>
      </p:sp>
      <p:sp>
        <p:nvSpPr>
          <p:cNvPr id="18" name="TextBox 17"/>
          <p:cNvSpPr txBox="1"/>
          <p:nvPr/>
        </p:nvSpPr>
        <p:spPr>
          <a:xfrm>
            <a:off x="365760" y="4069080"/>
            <a:ext cx="11430000" cy="365760"/>
          </a:xfrm>
          <a:prstGeom prst="rect">
            <a:avLst/>
          </a:prstGeom>
          <a:noFill/>
        </p:spPr>
        <p:txBody>
          <a:bodyPr wrap="square">
            <a:spAutoFit/>
          </a:bodyPr>
          <a:lstStyle/>
          <a:p>
            <a:pPr algn="l">
              <a:defRPr sz="1400" b="1" i="0">
                <a:solidFill>
                  <a:srgbClr val="1D3B5C"/>
                </a:solidFill>
                <a:latin typeface="Calibri"/>
              </a:defRPr>
            </a:pPr>
            <a:r>
              <a:t>HAQIQAT TANAZZULINING UCH BOSQICHI (Bodriyar bo'yicha):</a:t>
            </a:r>
          </a:p>
        </p:txBody>
      </p:sp>
      <p:sp>
        <p:nvSpPr>
          <p:cNvPr id="19" name="Rounded Rectangle 18"/>
          <p:cNvSpPr/>
          <p:nvPr/>
        </p:nvSpPr>
        <p:spPr>
          <a:xfrm>
            <a:off x="365760" y="4526280"/>
            <a:ext cx="3703320" cy="1828800"/>
          </a:xfrm>
          <a:prstGeom prst="roundRect">
            <a:avLst/>
          </a:prstGeom>
          <a:solidFill>
            <a:srgbClr val="FFFFFF"/>
          </a:solidFill>
          <a:ln w="254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526280"/>
            <a:ext cx="3703320" cy="45720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617720"/>
            <a:ext cx="3703320" cy="365760"/>
          </a:xfrm>
          <a:prstGeom prst="rect">
            <a:avLst/>
          </a:prstGeom>
          <a:noFill/>
        </p:spPr>
        <p:txBody>
          <a:bodyPr wrap="square">
            <a:spAutoFit/>
          </a:bodyPr>
          <a:lstStyle/>
          <a:p>
            <a:pPr algn="ctr">
              <a:defRPr sz="1400" b="1" i="0">
                <a:solidFill>
                  <a:srgbClr val="FFFFFF"/>
                </a:solidFill>
                <a:latin typeface="Calibri"/>
              </a:defRPr>
            </a:pPr>
            <a:r>
              <a:t>MODERNITET</a:t>
            </a:r>
          </a:p>
        </p:txBody>
      </p:sp>
      <p:sp>
        <p:nvSpPr>
          <p:cNvPr id="22" name="TextBox 21"/>
          <p:cNvSpPr txBox="1"/>
          <p:nvPr/>
        </p:nvSpPr>
        <p:spPr>
          <a:xfrm>
            <a:off x="548640" y="5074920"/>
            <a:ext cx="3337560" cy="548640"/>
          </a:xfrm>
          <a:prstGeom prst="rect">
            <a:avLst/>
          </a:prstGeom>
          <a:noFill/>
        </p:spPr>
        <p:txBody>
          <a:bodyPr wrap="square">
            <a:spAutoFit/>
          </a:bodyPr>
          <a:lstStyle/>
          <a:p>
            <a:pPr algn="ctr">
              <a:defRPr sz="1100" b="0" i="1">
                <a:solidFill>
                  <a:srgbClr val="6C757D"/>
                </a:solidFill>
                <a:latin typeface="Calibri"/>
              </a:defRPr>
            </a:pPr>
            <a:r>
              <a:t>Sanoat asri</a:t>
            </a:r>
            <a:br/>
            <a:r>
              <a:t>Mashina takrorlash</a:t>
            </a:r>
          </a:p>
        </p:txBody>
      </p:sp>
      <p:sp>
        <p:nvSpPr>
          <p:cNvPr id="23" name="TextBox 22"/>
          <p:cNvSpPr txBox="1"/>
          <p:nvPr/>
        </p:nvSpPr>
        <p:spPr>
          <a:xfrm>
            <a:off x="548640" y="5623560"/>
            <a:ext cx="3337560" cy="640080"/>
          </a:xfrm>
          <a:prstGeom prst="rect">
            <a:avLst/>
          </a:prstGeom>
          <a:noFill/>
        </p:spPr>
        <p:txBody>
          <a:bodyPr wrap="square">
            <a:spAutoFit/>
          </a:bodyPr>
          <a:lstStyle/>
          <a:p>
            <a:pPr algn="ctr">
              <a:defRPr sz="1200" b="1" i="0">
                <a:solidFill>
                  <a:srgbClr val="E9C46A"/>
                </a:solidFill>
                <a:latin typeface="Calibri"/>
              </a:defRPr>
            </a:pPr>
            <a:r>
              <a:t>Belgilar haqiqatni</a:t>
            </a:r>
            <a:br/>
            <a:r>
              <a:t>aks ettiradi</a:t>
            </a:r>
          </a:p>
        </p:txBody>
      </p:sp>
      <p:sp>
        <p:nvSpPr>
          <p:cNvPr id="24" name="Right Arrow 23"/>
          <p:cNvSpPr/>
          <p:nvPr/>
        </p:nvSpPr>
        <p:spPr>
          <a:xfrm>
            <a:off x="3977640" y="5303520"/>
            <a:ext cx="274320" cy="274320"/>
          </a:xfrm>
          <a:prstGeom prst="rightArrow">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251960" y="4526280"/>
            <a:ext cx="3703320" cy="1828800"/>
          </a:xfrm>
          <a:prstGeom prst="roundRect">
            <a:avLst/>
          </a:prstGeom>
          <a:solidFill>
            <a:srgbClr val="FFFFFF"/>
          </a:solidFill>
          <a:ln w="2540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51960" y="4526280"/>
            <a:ext cx="3703320" cy="457200"/>
          </a:xfrm>
          <a:prstGeom prst="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51960" y="4617720"/>
            <a:ext cx="3703320" cy="365760"/>
          </a:xfrm>
          <a:prstGeom prst="rect">
            <a:avLst/>
          </a:prstGeom>
          <a:noFill/>
        </p:spPr>
        <p:txBody>
          <a:bodyPr wrap="square">
            <a:spAutoFit/>
          </a:bodyPr>
          <a:lstStyle/>
          <a:p>
            <a:pPr algn="ctr">
              <a:defRPr sz="1400" b="1" i="0">
                <a:solidFill>
                  <a:srgbClr val="FFFFFF"/>
                </a:solidFill>
                <a:latin typeface="Calibri"/>
              </a:defRPr>
            </a:pPr>
            <a:r>
              <a:t>POSTMODERNITET</a:t>
            </a:r>
          </a:p>
        </p:txBody>
      </p:sp>
      <p:sp>
        <p:nvSpPr>
          <p:cNvPr id="28" name="TextBox 27"/>
          <p:cNvSpPr txBox="1"/>
          <p:nvPr/>
        </p:nvSpPr>
        <p:spPr>
          <a:xfrm>
            <a:off x="4434840" y="5074920"/>
            <a:ext cx="3337560" cy="548640"/>
          </a:xfrm>
          <a:prstGeom prst="rect">
            <a:avLst/>
          </a:prstGeom>
          <a:noFill/>
        </p:spPr>
        <p:txBody>
          <a:bodyPr wrap="square">
            <a:spAutoFit/>
          </a:bodyPr>
          <a:lstStyle/>
          <a:p>
            <a:pPr algn="ctr">
              <a:defRPr sz="1100" b="0" i="1">
                <a:solidFill>
                  <a:srgbClr val="6C757D"/>
                </a:solidFill>
                <a:latin typeface="Calibri"/>
              </a:defRPr>
            </a:pPr>
            <a:r>
              <a:t>Kommunikatsiya asri</a:t>
            </a:r>
            <a:br/>
            <a:r>
              <a:t>Elektron media</a:t>
            </a:r>
          </a:p>
        </p:txBody>
      </p:sp>
      <p:sp>
        <p:nvSpPr>
          <p:cNvPr id="29" name="TextBox 28"/>
          <p:cNvSpPr txBox="1"/>
          <p:nvPr/>
        </p:nvSpPr>
        <p:spPr>
          <a:xfrm>
            <a:off x="4434840" y="5623560"/>
            <a:ext cx="3337560" cy="640080"/>
          </a:xfrm>
          <a:prstGeom prst="rect">
            <a:avLst/>
          </a:prstGeom>
          <a:noFill/>
        </p:spPr>
        <p:txBody>
          <a:bodyPr wrap="square">
            <a:spAutoFit/>
          </a:bodyPr>
          <a:lstStyle/>
          <a:p>
            <a:pPr algn="ctr">
              <a:defRPr sz="1200" b="1" i="0">
                <a:solidFill>
                  <a:srgbClr val="C73E1D"/>
                </a:solidFill>
                <a:latin typeface="Calibri"/>
              </a:defRPr>
            </a:pPr>
            <a:r>
              <a:t>Belgilar haqiqatni</a:t>
            </a:r>
            <a:br/>
            <a:r>
              <a:t>buzadi</a:t>
            </a:r>
          </a:p>
        </p:txBody>
      </p:sp>
      <p:sp>
        <p:nvSpPr>
          <p:cNvPr id="30" name="Right Arrow 29"/>
          <p:cNvSpPr/>
          <p:nvPr/>
        </p:nvSpPr>
        <p:spPr>
          <a:xfrm>
            <a:off x="7863840" y="5303520"/>
            <a:ext cx="274320" cy="274320"/>
          </a:xfrm>
          <a:prstGeom prst="rightArrow">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38160" y="4526280"/>
            <a:ext cx="3703320" cy="1828800"/>
          </a:xfrm>
          <a:prstGeom prst="roundRect">
            <a:avLst/>
          </a:prstGeom>
          <a:solidFill>
            <a:srgbClr val="FFFFFF"/>
          </a:solidFill>
          <a:ln w="2540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38160" y="4526280"/>
            <a:ext cx="3703320" cy="45720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4617720"/>
            <a:ext cx="3703320" cy="365760"/>
          </a:xfrm>
          <a:prstGeom prst="rect">
            <a:avLst/>
          </a:prstGeom>
          <a:noFill/>
        </p:spPr>
        <p:txBody>
          <a:bodyPr wrap="square">
            <a:spAutoFit/>
          </a:bodyPr>
          <a:lstStyle/>
          <a:p>
            <a:pPr algn="ctr">
              <a:defRPr sz="1400" b="1" i="0">
                <a:solidFill>
                  <a:srgbClr val="FFFFFF"/>
                </a:solidFill>
                <a:latin typeface="Calibri"/>
              </a:defRPr>
            </a:pPr>
            <a:r>
              <a:t>GIPERMODERNITET</a:t>
            </a:r>
          </a:p>
        </p:txBody>
      </p:sp>
      <p:sp>
        <p:nvSpPr>
          <p:cNvPr id="34" name="TextBox 33"/>
          <p:cNvSpPr txBox="1"/>
          <p:nvPr/>
        </p:nvSpPr>
        <p:spPr>
          <a:xfrm>
            <a:off x="8321040" y="5074920"/>
            <a:ext cx="3337560" cy="548640"/>
          </a:xfrm>
          <a:prstGeom prst="rect">
            <a:avLst/>
          </a:prstGeom>
          <a:noFill/>
        </p:spPr>
        <p:txBody>
          <a:bodyPr wrap="square">
            <a:spAutoFit/>
          </a:bodyPr>
          <a:lstStyle/>
          <a:p>
            <a:pPr algn="ctr">
              <a:defRPr sz="1100" b="0" i="1">
                <a:solidFill>
                  <a:srgbClr val="6C757D"/>
                </a:solidFill>
                <a:latin typeface="Calibri"/>
              </a:defRPr>
            </a:pPr>
            <a:r>
              <a:t>Raqamli asr</a:t>
            </a:r>
            <a:br/>
            <a:r>
              <a:t>VR/AR/Metaverse</a:t>
            </a:r>
          </a:p>
        </p:txBody>
      </p:sp>
      <p:sp>
        <p:nvSpPr>
          <p:cNvPr id="35" name="TextBox 34"/>
          <p:cNvSpPr txBox="1"/>
          <p:nvPr/>
        </p:nvSpPr>
        <p:spPr>
          <a:xfrm>
            <a:off x="8321040" y="5623560"/>
            <a:ext cx="3337560" cy="640080"/>
          </a:xfrm>
          <a:prstGeom prst="rect">
            <a:avLst/>
          </a:prstGeom>
          <a:noFill/>
        </p:spPr>
        <p:txBody>
          <a:bodyPr wrap="square">
            <a:spAutoFit/>
          </a:bodyPr>
          <a:lstStyle/>
          <a:p>
            <a:pPr algn="ctr">
              <a:defRPr sz="1200" b="1" i="0">
                <a:solidFill>
                  <a:srgbClr val="1D3B5C"/>
                </a:solidFill>
                <a:latin typeface="Calibri"/>
              </a:defRPr>
            </a:pPr>
            <a:r>
              <a:t>Belgilar HAQIQATNI</a:t>
            </a:r>
            <a:br/>
            <a:r>
              <a:t>ALMASHTIRADI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SIMULYAKRNING TO'RT BOSQICH NAZARIYASI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7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pic>
        <p:nvPicPr>
          <p:cNvPr id="9" name="Picture 8" descr="chart1_simulacra_stages.png"/>
          <p:cNvPicPr>
            <a:picLocks noChangeAspect="1"/>
          </p:cNvPicPr>
          <p:nvPr/>
        </p:nvPicPr>
        <p:blipFill>
          <a:blip r:embed="rId2"/>
          <a:stretch>
            <a:fillRect/>
          </a:stretch>
        </p:blipFill>
        <p:spPr>
          <a:xfrm>
            <a:off x="274320" y="914400"/>
            <a:ext cx="7772400" cy="4754880"/>
          </a:xfrm>
          <a:prstGeom prst="rect">
            <a:avLst/>
          </a:prstGeom>
        </p:spPr>
      </p:pic>
      <p:sp>
        <p:nvSpPr>
          <p:cNvPr id="10" name="Rounded Rectangle 9"/>
          <p:cNvSpPr/>
          <p:nvPr/>
        </p:nvSpPr>
        <p:spPr>
          <a:xfrm>
            <a:off x="8229600" y="914400"/>
            <a:ext cx="3657600" cy="4754880"/>
          </a:xfrm>
          <a:prstGeom prst="roundRect">
            <a:avLst/>
          </a:prstGeom>
          <a:solidFill>
            <a:srgbClr val="FFFFFF"/>
          </a:solidFill>
          <a:ln w="2540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005840"/>
            <a:ext cx="3383280" cy="365760"/>
          </a:xfrm>
          <a:prstGeom prst="rect">
            <a:avLst/>
          </a:prstGeom>
          <a:noFill/>
        </p:spPr>
        <p:txBody>
          <a:bodyPr wrap="square">
            <a:spAutoFit/>
          </a:bodyPr>
          <a:lstStyle/>
          <a:p>
            <a:pPr algn="l">
              <a:defRPr sz="1400" b="1" i="0">
                <a:solidFill>
                  <a:srgbClr val="1D3B5C"/>
                </a:solidFill>
                <a:latin typeface="Calibri"/>
              </a:defRPr>
            </a:pPr>
            <a:r>
              <a:t>NAZARIY TUSHUNTIRISH</a:t>
            </a:r>
          </a:p>
        </p:txBody>
      </p:sp>
      <p:sp>
        <p:nvSpPr>
          <p:cNvPr id="12" name="TextBox 11"/>
          <p:cNvSpPr txBox="1"/>
          <p:nvPr/>
        </p:nvSpPr>
        <p:spPr>
          <a:xfrm>
            <a:off x="8412480" y="1417320"/>
            <a:ext cx="3291840" cy="320040"/>
          </a:xfrm>
          <a:prstGeom prst="rect">
            <a:avLst/>
          </a:prstGeom>
          <a:noFill/>
        </p:spPr>
        <p:txBody>
          <a:bodyPr wrap="square">
            <a:spAutoFit/>
          </a:bodyPr>
          <a:lstStyle/>
          <a:p>
            <a:pPr algn="l">
              <a:defRPr sz="1200" b="1" i="0">
                <a:solidFill>
                  <a:srgbClr val="C73E1D"/>
                </a:solidFill>
                <a:latin typeface="Calibri"/>
              </a:defRPr>
            </a:pPr>
            <a:r>
              <a:t>I bosqich:</a:t>
            </a:r>
          </a:p>
        </p:txBody>
      </p:sp>
      <p:sp>
        <p:nvSpPr>
          <p:cNvPr id="13" name="TextBox 12"/>
          <p:cNvSpPr txBox="1"/>
          <p:nvPr/>
        </p:nvSpPr>
        <p:spPr>
          <a:xfrm>
            <a:off x="8412480" y="1737360"/>
            <a:ext cx="3291840" cy="548640"/>
          </a:xfrm>
          <a:prstGeom prst="rect">
            <a:avLst/>
          </a:prstGeom>
          <a:noFill/>
        </p:spPr>
        <p:txBody>
          <a:bodyPr wrap="square">
            <a:spAutoFit/>
          </a:bodyPr>
          <a:lstStyle/>
          <a:p>
            <a:pPr algn="l">
              <a:defRPr sz="1100" b="0" i="0">
                <a:solidFill>
                  <a:srgbClr val="264653"/>
                </a:solidFill>
                <a:latin typeface="Calibri"/>
              </a:defRPr>
            </a:pPr>
            <a:r>
              <a:t>Sodda, samimiy mashinaviy nusxa</a:t>
            </a:r>
          </a:p>
        </p:txBody>
      </p:sp>
      <p:sp>
        <p:nvSpPr>
          <p:cNvPr id="14" name="TextBox 13"/>
          <p:cNvSpPr txBox="1"/>
          <p:nvPr/>
        </p:nvSpPr>
        <p:spPr>
          <a:xfrm>
            <a:off x="8412480" y="2331720"/>
            <a:ext cx="3291840" cy="320040"/>
          </a:xfrm>
          <a:prstGeom prst="rect">
            <a:avLst/>
          </a:prstGeom>
          <a:noFill/>
        </p:spPr>
        <p:txBody>
          <a:bodyPr wrap="square">
            <a:spAutoFit/>
          </a:bodyPr>
          <a:lstStyle/>
          <a:p>
            <a:pPr algn="l">
              <a:defRPr sz="1200" b="1" i="0">
                <a:solidFill>
                  <a:srgbClr val="C73E1D"/>
                </a:solidFill>
                <a:latin typeface="Calibri"/>
              </a:defRPr>
            </a:pPr>
            <a:r>
              <a:t>II bosqich:</a:t>
            </a:r>
          </a:p>
        </p:txBody>
      </p:sp>
      <p:sp>
        <p:nvSpPr>
          <p:cNvPr id="15" name="TextBox 14"/>
          <p:cNvSpPr txBox="1"/>
          <p:nvPr/>
        </p:nvSpPr>
        <p:spPr>
          <a:xfrm>
            <a:off x="8412480" y="2651760"/>
            <a:ext cx="3291840" cy="548640"/>
          </a:xfrm>
          <a:prstGeom prst="rect">
            <a:avLst/>
          </a:prstGeom>
          <a:noFill/>
        </p:spPr>
        <p:txBody>
          <a:bodyPr wrap="square">
            <a:spAutoFit/>
          </a:bodyPr>
          <a:lstStyle/>
          <a:p>
            <a:pPr algn="l">
              <a:defRPr sz="1100" b="0" i="0">
                <a:solidFill>
                  <a:srgbClr val="264653"/>
                </a:solidFill>
                <a:latin typeface="Calibri"/>
              </a:defRPr>
            </a:pPr>
            <a:r>
              <a:t>Sanoat asri — yolg'on aks ettirish, mafkura</a:t>
            </a:r>
          </a:p>
        </p:txBody>
      </p:sp>
      <p:sp>
        <p:nvSpPr>
          <p:cNvPr id="16" name="TextBox 15"/>
          <p:cNvSpPr txBox="1"/>
          <p:nvPr/>
        </p:nvSpPr>
        <p:spPr>
          <a:xfrm>
            <a:off x="8412480" y="3246120"/>
            <a:ext cx="3291840" cy="320040"/>
          </a:xfrm>
          <a:prstGeom prst="rect">
            <a:avLst/>
          </a:prstGeom>
          <a:noFill/>
        </p:spPr>
        <p:txBody>
          <a:bodyPr wrap="square">
            <a:spAutoFit/>
          </a:bodyPr>
          <a:lstStyle/>
          <a:p>
            <a:pPr algn="l">
              <a:defRPr sz="1200" b="1" i="0">
                <a:solidFill>
                  <a:srgbClr val="C73E1D"/>
                </a:solidFill>
                <a:latin typeface="Calibri"/>
              </a:defRPr>
            </a:pPr>
            <a:r>
              <a:t>III bosqich:</a:t>
            </a:r>
          </a:p>
        </p:txBody>
      </p:sp>
      <p:sp>
        <p:nvSpPr>
          <p:cNvPr id="17" name="TextBox 16"/>
          <p:cNvSpPr txBox="1"/>
          <p:nvPr/>
        </p:nvSpPr>
        <p:spPr>
          <a:xfrm>
            <a:off x="8412480" y="3566160"/>
            <a:ext cx="3291840" cy="548640"/>
          </a:xfrm>
          <a:prstGeom prst="rect">
            <a:avLst/>
          </a:prstGeom>
          <a:noFill/>
        </p:spPr>
        <p:txBody>
          <a:bodyPr wrap="square">
            <a:spAutoFit/>
          </a:bodyPr>
          <a:lstStyle/>
          <a:p>
            <a:pPr algn="l">
              <a:defRPr sz="1100" b="0" i="0">
                <a:solidFill>
                  <a:srgbClr val="264653"/>
                </a:solidFill>
                <a:latin typeface="Calibri"/>
              </a:defRPr>
            </a:pPr>
            <a:r>
              <a:t>Aks ettiriladigan haqiqat o'zi yo'q</a:t>
            </a:r>
          </a:p>
        </p:txBody>
      </p:sp>
      <p:sp>
        <p:nvSpPr>
          <p:cNvPr id="18" name="TextBox 17"/>
          <p:cNvSpPr txBox="1"/>
          <p:nvPr/>
        </p:nvSpPr>
        <p:spPr>
          <a:xfrm>
            <a:off x="8412480" y="4160520"/>
            <a:ext cx="3291840" cy="320040"/>
          </a:xfrm>
          <a:prstGeom prst="rect">
            <a:avLst/>
          </a:prstGeom>
          <a:noFill/>
        </p:spPr>
        <p:txBody>
          <a:bodyPr wrap="square">
            <a:spAutoFit/>
          </a:bodyPr>
          <a:lstStyle/>
          <a:p>
            <a:pPr algn="l">
              <a:defRPr sz="1200" b="1" i="0">
                <a:solidFill>
                  <a:srgbClr val="C73E1D"/>
                </a:solidFill>
                <a:latin typeface="Calibri"/>
              </a:defRPr>
            </a:pPr>
            <a:r>
              <a:t>IV bosqich:</a:t>
            </a:r>
          </a:p>
        </p:txBody>
      </p:sp>
      <p:sp>
        <p:nvSpPr>
          <p:cNvPr id="19" name="TextBox 18"/>
          <p:cNvSpPr txBox="1"/>
          <p:nvPr/>
        </p:nvSpPr>
        <p:spPr>
          <a:xfrm>
            <a:off x="8412480" y="4480559"/>
            <a:ext cx="3291840" cy="548640"/>
          </a:xfrm>
          <a:prstGeom prst="rect">
            <a:avLst/>
          </a:prstGeom>
          <a:noFill/>
        </p:spPr>
        <p:txBody>
          <a:bodyPr wrap="square">
            <a:spAutoFit/>
          </a:bodyPr>
          <a:lstStyle/>
          <a:p>
            <a:pPr algn="l">
              <a:defRPr sz="1100" b="0" i="0">
                <a:solidFill>
                  <a:srgbClr val="264653"/>
                </a:solidFill>
                <a:latin typeface="Calibri"/>
              </a:defRPr>
            </a:pPr>
            <a:r>
              <a:t>Sof simulyakr — o'z-o'zidan amal qiluvchi belgi</a:t>
            </a:r>
          </a:p>
        </p:txBody>
      </p:sp>
      <p:sp>
        <p:nvSpPr>
          <p:cNvPr id="20" name="Rounded Rectangle 19"/>
          <p:cNvSpPr/>
          <p:nvPr/>
        </p:nvSpPr>
        <p:spPr>
          <a:xfrm>
            <a:off x="365760" y="5852160"/>
            <a:ext cx="11430000" cy="594360"/>
          </a:xfrm>
          <a:prstGeom prst="round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943600"/>
            <a:ext cx="11064240" cy="457200"/>
          </a:xfrm>
          <a:prstGeom prst="rect">
            <a:avLst/>
          </a:prstGeom>
          <a:noFill/>
        </p:spPr>
        <p:txBody>
          <a:bodyPr wrap="square">
            <a:spAutoFit/>
          </a:bodyPr>
          <a:lstStyle/>
          <a:p>
            <a:pPr algn="l">
              <a:defRPr sz="1200" b="1" i="0">
                <a:solidFill>
                  <a:srgbClr val="1D3B5C"/>
                </a:solidFill>
                <a:latin typeface="Calibri"/>
              </a:defRPr>
            </a:pPr>
            <a:r>
              <a:t>MUHIM XULOSA: Hozirgi virtual reallik (VR) — bu IV bosqichdagi sof simulyakrning texnologik mujassamlanishidir. U asl haqiqatga emas, o'zining ichki kodiga asoslanadi.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II BOB. VIRTUAL REALLIKNING ONTOLOGIK MAQOMI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8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pic>
        <p:nvPicPr>
          <p:cNvPr id="9" name="Picture 8" descr="chart6_conceptual_scheme.png"/>
          <p:cNvPicPr>
            <a:picLocks noChangeAspect="1"/>
          </p:cNvPicPr>
          <p:nvPr/>
        </p:nvPicPr>
        <p:blipFill>
          <a:blip r:embed="rId2"/>
          <a:stretch>
            <a:fillRect/>
          </a:stretch>
        </p:blipFill>
        <p:spPr>
          <a:xfrm>
            <a:off x="365760" y="960120"/>
            <a:ext cx="11430000" cy="3840480"/>
          </a:xfrm>
          <a:prstGeom prst="rect">
            <a:avLst/>
          </a:prstGeom>
        </p:spPr>
      </p:pic>
      <p:sp>
        <p:nvSpPr>
          <p:cNvPr id="10" name="TextBox 9"/>
          <p:cNvSpPr txBox="1"/>
          <p:nvPr/>
        </p:nvSpPr>
        <p:spPr>
          <a:xfrm>
            <a:off x="365760" y="4892040"/>
            <a:ext cx="11430000" cy="365760"/>
          </a:xfrm>
          <a:prstGeom prst="rect">
            <a:avLst/>
          </a:prstGeom>
          <a:noFill/>
        </p:spPr>
        <p:txBody>
          <a:bodyPr wrap="square">
            <a:spAutoFit/>
          </a:bodyPr>
          <a:lstStyle/>
          <a:p>
            <a:pPr algn="l">
              <a:defRPr sz="1400" b="1" i="0">
                <a:solidFill>
                  <a:srgbClr val="1D3B5C"/>
                </a:solidFill>
                <a:latin typeface="Calibri"/>
              </a:defRPr>
            </a:pPr>
            <a:r>
              <a:t>VIRTUAL REALLIKNING ONTOLOGIK PARAMETRLARI:</a:t>
            </a:r>
          </a:p>
        </p:txBody>
      </p:sp>
      <p:sp>
        <p:nvSpPr>
          <p:cNvPr id="11" name="Rounded Rectangle 10"/>
          <p:cNvSpPr/>
          <p:nvPr/>
        </p:nvSpPr>
        <p:spPr>
          <a:xfrm>
            <a:off x="365760" y="5349240"/>
            <a:ext cx="2743200" cy="1097280"/>
          </a:xfrm>
          <a:prstGeom prst="roundRect">
            <a:avLst/>
          </a:prstGeom>
          <a:solidFill>
            <a:srgbClr val="FFFFFF"/>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5440680"/>
            <a:ext cx="2743200" cy="365760"/>
          </a:xfrm>
          <a:prstGeom prst="rect">
            <a:avLst/>
          </a:prstGeom>
          <a:noFill/>
        </p:spPr>
        <p:txBody>
          <a:bodyPr wrap="square">
            <a:spAutoFit/>
          </a:bodyPr>
          <a:lstStyle/>
          <a:p>
            <a:pPr algn="ctr">
              <a:defRPr sz="1300" b="1" i="0">
                <a:solidFill>
                  <a:srgbClr val="2A9D8F"/>
                </a:solidFill>
                <a:latin typeface="Calibri"/>
              </a:defRPr>
            </a:pPr>
            <a:r>
              <a:t>IMMATERIALLIK</a:t>
            </a:r>
          </a:p>
        </p:txBody>
      </p:sp>
      <p:sp>
        <p:nvSpPr>
          <p:cNvPr id="13" name="TextBox 12"/>
          <p:cNvSpPr txBox="1"/>
          <p:nvPr/>
        </p:nvSpPr>
        <p:spPr>
          <a:xfrm>
            <a:off x="502920" y="5806440"/>
            <a:ext cx="2468880" cy="640080"/>
          </a:xfrm>
          <a:prstGeom prst="rect">
            <a:avLst/>
          </a:prstGeom>
          <a:noFill/>
        </p:spPr>
        <p:txBody>
          <a:bodyPr wrap="square">
            <a:spAutoFit/>
          </a:bodyPr>
          <a:lstStyle/>
          <a:p>
            <a:pPr algn="ctr">
              <a:defRPr sz="1050" b="0" i="0">
                <a:solidFill>
                  <a:srgbClr val="264653"/>
                </a:solidFill>
                <a:latin typeface="Calibri"/>
              </a:defRPr>
            </a:pPr>
            <a:r>
              <a:t>Moddiy substansiyaga ega emas,</a:t>
            </a:r>
            <a:br/>
            <a:r>
              <a:t>lekin haqiqiy ta'sir ko'rsatadi</a:t>
            </a:r>
          </a:p>
        </p:txBody>
      </p:sp>
      <p:sp>
        <p:nvSpPr>
          <p:cNvPr id="14" name="Rounded Rectangle 13"/>
          <p:cNvSpPr/>
          <p:nvPr/>
        </p:nvSpPr>
        <p:spPr>
          <a:xfrm>
            <a:off x="3273552" y="5349240"/>
            <a:ext cx="2743200" cy="1097280"/>
          </a:xfrm>
          <a:prstGeom prst="roundRect">
            <a:avLst/>
          </a:prstGeom>
          <a:solidFill>
            <a:srgbClr val="FFFFFF"/>
          </a:solidFill>
          <a:ln w="2540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73552" y="5440680"/>
            <a:ext cx="2743200" cy="365760"/>
          </a:xfrm>
          <a:prstGeom prst="rect">
            <a:avLst/>
          </a:prstGeom>
          <a:noFill/>
        </p:spPr>
        <p:txBody>
          <a:bodyPr wrap="square">
            <a:spAutoFit/>
          </a:bodyPr>
          <a:lstStyle/>
          <a:p>
            <a:pPr algn="ctr">
              <a:defRPr sz="1300" b="1" i="0">
                <a:solidFill>
                  <a:srgbClr val="C73E1D"/>
                </a:solidFill>
                <a:latin typeface="Calibri"/>
              </a:defRPr>
            </a:pPr>
            <a:r>
              <a:t>INTERAKTIVLIK</a:t>
            </a:r>
          </a:p>
        </p:txBody>
      </p:sp>
      <p:sp>
        <p:nvSpPr>
          <p:cNvPr id="16" name="TextBox 15"/>
          <p:cNvSpPr txBox="1"/>
          <p:nvPr/>
        </p:nvSpPr>
        <p:spPr>
          <a:xfrm>
            <a:off x="3410712" y="5806440"/>
            <a:ext cx="2468880" cy="640080"/>
          </a:xfrm>
          <a:prstGeom prst="rect">
            <a:avLst/>
          </a:prstGeom>
          <a:noFill/>
        </p:spPr>
        <p:txBody>
          <a:bodyPr wrap="square">
            <a:spAutoFit/>
          </a:bodyPr>
          <a:lstStyle/>
          <a:p>
            <a:pPr algn="ctr">
              <a:defRPr sz="1050" b="0" i="0">
                <a:solidFill>
                  <a:srgbClr val="264653"/>
                </a:solidFill>
                <a:latin typeface="Calibri"/>
              </a:defRPr>
            </a:pPr>
            <a:r>
              <a:t>Foydalanuvchi bilan o'zaro</a:t>
            </a:r>
            <a:br/>
            <a:r>
              <a:t>ta'sirga kirisha oladi</a:t>
            </a:r>
          </a:p>
        </p:txBody>
      </p:sp>
      <p:sp>
        <p:nvSpPr>
          <p:cNvPr id="17" name="Rounded Rectangle 16"/>
          <p:cNvSpPr/>
          <p:nvPr/>
        </p:nvSpPr>
        <p:spPr>
          <a:xfrm>
            <a:off x="6181344" y="5349240"/>
            <a:ext cx="2743200" cy="1097280"/>
          </a:xfrm>
          <a:prstGeom prst="roundRect">
            <a:avLst/>
          </a:prstGeom>
          <a:solidFill>
            <a:srgbClr val="FFFFFF"/>
          </a:solidFill>
          <a:ln w="254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81344" y="5440680"/>
            <a:ext cx="2743200" cy="365760"/>
          </a:xfrm>
          <a:prstGeom prst="rect">
            <a:avLst/>
          </a:prstGeom>
          <a:noFill/>
        </p:spPr>
        <p:txBody>
          <a:bodyPr wrap="square">
            <a:spAutoFit/>
          </a:bodyPr>
          <a:lstStyle/>
          <a:p>
            <a:pPr algn="ctr">
              <a:defRPr sz="1300" b="1" i="0">
                <a:solidFill>
                  <a:srgbClr val="E9C46A"/>
                </a:solidFill>
                <a:latin typeface="Calibri"/>
              </a:defRPr>
            </a:pPr>
            <a:r>
              <a:t>IMMERSIVLIK</a:t>
            </a:r>
          </a:p>
        </p:txBody>
      </p:sp>
      <p:sp>
        <p:nvSpPr>
          <p:cNvPr id="19" name="TextBox 18"/>
          <p:cNvSpPr txBox="1"/>
          <p:nvPr/>
        </p:nvSpPr>
        <p:spPr>
          <a:xfrm>
            <a:off x="6318504" y="5806440"/>
            <a:ext cx="2468880" cy="640080"/>
          </a:xfrm>
          <a:prstGeom prst="rect">
            <a:avLst/>
          </a:prstGeom>
          <a:noFill/>
        </p:spPr>
        <p:txBody>
          <a:bodyPr wrap="square">
            <a:spAutoFit/>
          </a:bodyPr>
          <a:lstStyle/>
          <a:p>
            <a:pPr algn="ctr">
              <a:defRPr sz="1050" b="0" i="0">
                <a:solidFill>
                  <a:srgbClr val="264653"/>
                </a:solidFill>
                <a:latin typeface="Calibri"/>
              </a:defRPr>
            </a:pPr>
            <a:r>
              <a:t>Inson ongini to'liq</a:t>
            </a:r>
            <a:br/>
            <a:r>
              <a:t>o'ziga jalb qiladi</a:t>
            </a:r>
          </a:p>
        </p:txBody>
      </p:sp>
      <p:sp>
        <p:nvSpPr>
          <p:cNvPr id="20" name="Rounded Rectangle 19"/>
          <p:cNvSpPr/>
          <p:nvPr/>
        </p:nvSpPr>
        <p:spPr>
          <a:xfrm>
            <a:off x="9089136" y="5349240"/>
            <a:ext cx="2743200" cy="1097280"/>
          </a:xfrm>
          <a:prstGeom prst="roundRect">
            <a:avLst/>
          </a:prstGeom>
          <a:solidFill>
            <a:srgbClr val="FFFFFF"/>
          </a:solidFill>
          <a:ln w="2540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9136" y="5440680"/>
            <a:ext cx="2743200" cy="365760"/>
          </a:xfrm>
          <a:prstGeom prst="rect">
            <a:avLst/>
          </a:prstGeom>
          <a:noFill/>
        </p:spPr>
        <p:txBody>
          <a:bodyPr wrap="square">
            <a:spAutoFit/>
          </a:bodyPr>
          <a:lstStyle/>
          <a:p>
            <a:pPr algn="ctr">
              <a:defRPr sz="1300" b="1" i="0">
                <a:solidFill>
                  <a:srgbClr val="1D3B5C"/>
                </a:solidFill>
                <a:latin typeface="Calibri"/>
              </a:defRPr>
            </a:pPr>
            <a:r>
              <a:t>AVTONOMIYA</a:t>
            </a:r>
          </a:p>
        </p:txBody>
      </p:sp>
      <p:sp>
        <p:nvSpPr>
          <p:cNvPr id="22" name="TextBox 21"/>
          <p:cNvSpPr txBox="1"/>
          <p:nvPr/>
        </p:nvSpPr>
        <p:spPr>
          <a:xfrm>
            <a:off x="9226296" y="5806440"/>
            <a:ext cx="2468880" cy="640080"/>
          </a:xfrm>
          <a:prstGeom prst="rect">
            <a:avLst/>
          </a:prstGeom>
          <a:noFill/>
        </p:spPr>
        <p:txBody>
          <a:bodyPr wrap="square">
            <a:spAutoFit/>
          </a:bodyPr>
          <a:lstStyle/>
          <a:p>
            <a:pPr algn="ctr">
              <a:defRPr sz="1050" b="0" i="0">
                <a:solidFill>
                  <a:srgbClr val="264653"/>
                </a:solidFill>
                <a:latin typeface="Calibri"/>
              </a:defRPr>
            </a:pPr>
            <a:r>
              <a:t>Asl haqiqatga muhtoj emas,</a:t>
            </a:r>
            <a:br/>
            <a:r>
              <a:t>o'zi reallik yaratadi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VIRTUAL REALLIKNING AXLOQIY IMPLIKATSIYALARI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9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pic>
        <p:nvPicPr>
          <p:cNvPr id="9" name="Picture 8" descr="chart3_ethical_problems.png"/>
          <p:cNvPicPr>
            <a:picLocks noChangeAspect="1"/>
          </p:cNvPicPr>
          <p:nvPr/>
        </p:nvPicPr>
        <p:blipFill>
          <a:blip r:embed="rId2"/>
          <a:stretch>
            <a:fillRect/>
          </a:stretch>
        </p:blipFill>
        <p:spPr>
          <a:xfrm>
            <a:off x="274320" y="914400"/>
            <a:ext cx="6400800" cy="5029200"/>
          </a:xfrm>
          <a:prstGeom prst="rect">
            <a:avLst/>
          </a:prstGeom>
        </p:spPr>
      </p:pic>
      <p:sp>
        <p:nvSpPr>
          <p:cNvPr id="10" name="TextBox 9"/>
          <p:cNvSpPr txBox="1"/>
          <p:nvPr/>
        </p:nvSpPr>
        <p:spPr>
          <a:xfrm>
            <a:off x="6949440" y="960120"/>
            <a:ext cx="4937760" cy="365760"/>
          </a:xfrm>
          <a:prstGeom prst="rect">
            <a:avLst/>
          </a:prstGeom>
          <a:noFill/>
        </p:spPr>
        <p:txBody>
          <a:bodyPr wrap="square">
            <a:spAutoFit/>
          </a:bodyPr>
          <a:lstStyle/>
          <a:p>
            <a:pPr algn="l">
              <a:defRPr sz="1500" b="1" i="0">
                <a:solidFill>
                  <a:srgbClr val="1D3B5C"/>
                </a:solidFill>
                <a:latin typeface="Calibri"/>
              </a:defRPr>
            </a:pPr>
            <a:r>
              <a:t>ASOSIY AXLOQIY DILEMMALAR</a:t>
            </a:r>
          </a:p>
        </p:txBody>
      </p:sp>
      <p:sp>
        <p:nvSpPr>
          <p:cNvPr id="11" name="TextBox 10"/>
          <p:cNvSpPr txBox="1"/>
          <p:nvPr/>
        </p:nvSpPr>
        <p:spPr>
          <a:xfrm>
            <a:off x="7040880" y="1417320"/>
            <a:ext cx="4846320" cy="365760"/>
          </a:xfrm>
          <a:prstGeom prst="rect">
            <a:avLst/>
          </a:prstGeom>
          <a:noFill/>
        </p:spPr>
        <p:txBody>
          <a:bodyPr wrap="square">
            <a:spAutoFit/>
          </a:bodyPr>
          <a:lstStyle/>
          <a:p>
            <a:pPr algn="l">
              <a:defRPr sz="1200" b="1" i="0">
                <a:solidFill>
                  <a:srgbClr val="C73E1D"/>
                </a:solidFill>
                <a:latin typeface="Calibri"/>
              </a:defRPr>
            </a:pPr>
            <a:r>
              <a:t>■  Avatar paradoksi:</a:t>
            </a:r>
          </a:p>
        </p:txBody>
      </p:sp>
      <p:sp>
        <p:nvSpPr>
          <p:cNvPr id="12" name="TextBox 11"/>
          <p:cNvSpPr txBox="1"/>
          <p:nvPr/>
        </p:nvSpPr>
        <p:spPr>
          <a:xfrm>
            <a:off x="7315200" y="1691640"/>
            <a:ext cx="4572000" cy="640080"/>
          </a:xfrm>
          <a:prstGeom prst="rect">
            <a:avLst/>
          </a:prstGeom>
          <a:noFill/>
        </p:spPr>
        <p:txBody>
          <a:bodyPr wrap="square">
            <a:spAutoFit/>
          </a:bodyPr>
          <a:lstStyle/>
          <a:p>
            <a:pPr algn="l">
              <a:defRPr sz="1100" b="0" i="1">
                <a:solidFill>
                  <a:srgbClr val="264653"/>
                </a:solidFill>
                <a:latin typeface="Calibri"/>
              </a:defRPr>
            </a:pPr>
            <a:r>
              <a:t>Virtual avatar orqali sodir etilgan harakat — kimning javobgarligi?</a:t>
            </a:r>
          </a:p>
        </p:txBody>
      </p:sp>
      <p:sp>
        <p:nvSpPr>
          <p:cNvPr id="13" name="TextBox 12"/>
          <p:cNvSpPr txBox="1"/>
          <p:nvPr/>
        </p:nvSpPr>
        <p:spPr>
          <a:xfrm>
            <a:off x="7040880" y="2331720"/>
            <a:ext cx="4846320" cy="365760"/>
          </a:xfrm>
          <a:prstGeom prst="rect">
            <a:avLst/>
          </a:prstGeom>
          <a:noFill/>
        </p:spPr>
        <p:txBody>
          <a:bodyPr wrap="square">
            <a:spAutoFit/>
          </a:bodyPr>
          <a:lstStyle/>
          <a:p>
            <a:pPr algn="l">
              <a:defRPr sz="1200" b="1" i="0">
                <a:solidFill>
                  <a:srgbClr val="C73E1D"/>
                </a:solidFill>
                <a:latin typeface="Calibri"/>
              </a:defRPr>
            </a:pPr>
            <a:r>
              <a:t>■  Identitet krizisi:</a:t>
            </a:r>
          </a:p>
        </p:txBody>
      </p:sp>
      <p:sp>
        <p:nvSpPr>
          <p:cNvPr id="14" name="TextBox 13"/>
          <p:cNvSpPr txBox="1"/>
          <p:nvPr/>
        </p:nvSpPr>
        <p:spPr>
          <a:xfrm>
            <a:off x="7315200" y="2606039"/>
            <a:ext cx="4572000" cy="640080"/>
          </a:xfrm>
          <a:prstGeom prst="rect">
            <a:avLst/>
          </a:prstGeom>
          <a:noFill/>
        </p:spPr>
        <p:txBody>
          <a:bodyPr wrap="square">
            <a:spAutoFit/>
          </a:bodyPr>
          <a:lstStyle/>
          <a:p>
            <a:pPr algn="l">
              <a:defRPr sz="1100" b="0" i="1">
                <a:solidFill>
                  <a:srgbClr val="264653"/>
                </a:solidFill>
                <a:latin typeface="Calibri"/>
              </a:defRPr>
            </a:pPr>
            <a:r>
              <a:t>Bir nechta virtual «men» — hammasi haqiqiymi?</a:t>
            </a:r>
          </a:p>
        </p:txBody>
      </p:sp>
      <p:sp>
        <p:nvSpPr>
          <p:cNvPr id="15" name="TextBox 14"/>
          <p:cNvSpPr txBox="1"/>
          <p:nvPr/>
        </p:nvSpPr>
        <p:spPr>
          <a:xfrm>
            <a:off x="7040880" y="3246120"/>
            <a:ext cx="4846320" cy="365760"/>
          </a:xfrm>
          <a:prstGeom prst="rect">
            <a:avLst/>
          </a:prstGeom>
          <a:noFill/>
        </p:spPr>
        <p:txBody>
          <a:bodyPr wrap="square">
            <a:spAutoFit/>
          </a:bodyPr>
          <a:lstStyle/>
          <a:p>
            <a:pPr algn="l">
              <a:defRPr sz="1200" b="1" i="0">
                <a:solidFill>
                  <a:srgbClr val="C73E1D"/>
                </a:solidFill>
                <a:latin typeface="Calibri"/>
              </a:defRPr>
            </a:pPr>
            <a:r>
              <a:t>■  Mas'uliyat tarqalishi:</a:t>
            </a:r>
          </a:p>
        </p:txBody>
      </p:sp>
      <p:sp>
        <p:nvSpPr>
          <p:cNvPr id="16" name="TextBox 15"/>
          <p:cNvSpPr txBox="1"/>
          <p:nvPr/>
        </p:nvSpPr>
        <p:spPr>
          <a:xfrm>
            <a:off x="7315200" y="3520439"/>
            <a:ext cx="4572000" cy="640080"/>
          </a:xfrm>
          <a:prstGeom prst="rect">
            <a:avLst/>
          </a:prstGeom>
          <a:noFill/>
        </p:spPr>
        <p:txBody>
          <a:bodyPr wrap="square">
            <a:spAutoFit/>
          </a:bodyPr>
          <a:lstStyle/>
          <a:p>
            <a:pPr algn="l">
              <a:defRPr sz="1100" b="0" i="1">
                <a:solidFill>
                  <a:srgbClr val="264653"/>
                </a:solidFill>
                <a:latin typeface="Calibri"/>
              </a:defRPr>
            </a:pPr>
            <a:r>
              <a:t>Algoritmik qaror — kim mas'ul: dasturchimi, mashinami, foydalanuvchimi?</a:t>
            </a:r>
          </a:p>
        </p:txBody>
      </p:sp>
      <p:sp>
        <p:nvSpPr>
          <p:cNvPr id="17" name="TextBox 16"/>
          <p:cNvSpPr txBox="1"/>
          <p:nvPr/>
        </p:nvSpPr>
        <p:spPr>
          <a:xfrm>
            <a:off x="7040880" y="4160520"/>
            <a:ext cx="4846320" cy="365760"/>
          </a:xfrm>
          <a:prstGeom prst="rect">
            <a:avLst/>
          </a:prstGeom>
          <a:noFill/>
        </p:spPr>
        <p:txBody>
          <a:bodyPr wrap="square">
            <a:spAutoFit/>
          </a:bodyPr>
          <a:lstStyle/>
          <a:p>
            <a:pPr algn="l">
              <a:defRPr sz="1200" b="1" i="0">
                <a:solidFill>
                  <a:srgbClr val="C73E1D"/>
                </a:solidFill>
                <a:latin typeface="Calibri"/>
              </a:defRPr>
            </a:pPr>
            <a:r>
              <a:t>■  Empatiya yo'qolishi:</a:t>
            </a:r>
          </a:p>
        </p:txBody>
      </p:sp>
      <p:sp>
        <p:nvSpPr>
          <p:cNvPr id="18" name="TextBox 17"/>
          <p:cNvSpPr txBox="1"/>
          <p:nvPr/>
        </p:nvSpPr>
        <p:spPr>
          <a:xfrm>
            <a:off x="7315200" y="4434840"/>
            <a:ext cx="4572000" cy="640080"/>
          </a:xfrm>
          <a:prstGeom prst="rect">
            <a:avLst/>
          </a:prstGeom>
          <a:noFill/>
        </p:spPr>
        <p:txBody>
          <a:bodyPr wrap="square">
            <a:spAutoFit/>
          </a:bodyPr>
          <a:lstStyle/>
          <a:p>
            <a:pPr algn="l">
              <a:defRPr sz="1100" b="0" i="1">
                <a:solidFill>
                  <a:srgbClr val="264653"/>
                </a:solidFill>
                <a:latin typeface="Calibri"/>
              </a:defRPr>
            </a:pPr>
            <a:r>
              <a:t>Virtual qurbon — chinakam qurbonmi?</a:t>
            </a:r>
          </a:p>
        </p:txBody>
      </p:sp>
      <p:sp>
        <p:nvSpPr>
          <p:cNvPr id="19" name="TextBox 18"/>
          <p:cNvSpPr txBox="1"/>
          <p:nvPr/>
        </p:nvSpPr>
        <p:spPr>
          <a:xfrm>
            <a:off x="7040880" y="5074920"/>
            <a:ext cx="4846320" cy="365760"/>
          </a:xfrm>
          <a:prstGeom prst="rect">
            <a:avLst/>
          </a:prstGeom>
          <a:noFill/>
        </p:spPr>
        <p:txBody>
          <a:bodyPr wrap="square">
            <a:spAutoFit/>
          </a:bodyPr>
          <a:lstStyle/>
          <a:p>
            <a:pPr algn="l">
              <a:defRPr sz="1200" b="1" i="0">
                <a:solidFill>
                  <a:srgbClr val="C73E1D"/>
                </a:solidFill>
                <a:latin typeface="Calibri"/>
              </a:defRPr>
            </a:pPr>
            <a:r>
              <a:t>■  Axloqiy relativizm:</a:t>
            </a:r>
          </a:p>
        </p:txBody>
      </p:sp>
      <p:sp>
        <p:nvSpPr>
          <p:cNvPr id="20" name="TextBox 19"/>
          <p:cNvSpPr txBox="1"/>
          <p:nvPr/>
        </p:nvSpPr>
        <p:spPr>
          <a:xfrm>
            <a:off x="7315200" y="5349240"/>
            <a:ext cx="4572000" cy="640080"/>
          </a:xfrm>
          <a:prstGeom prst="rect">
            <a:avLst/>
          </a:prstGeom>
          <a:noFill/>
        </p:spPr>
        <p:txBody>
          <a:bodyPr wrap="square">
            <a:spAutoFit/>
          </a:bodyPr>
          <a:lstStyle/>
          <a:p>
            <a:pPr algn="l">
              <a:defRPr sz="1100" b="0" i="1">
                <a:solidFill>
                  <a:srgbClr val="264653"/>
                </a:solidFill>
                <a:latin typeface="Calibri"/>
              </a:defRPr>
            </a:pPr>
            <a:r>
              <a:t>Har bir virtual olamning o'z axloqi bo'lsa, umumbashariy axloq qoladimi?</a:t>
            </a:r>
          </a:p>
        </p:txBody>
      </p:sp>
      <p:sp>
        <p:nvSpPr>
          <p:cNvPr id="21" name="Rounded Rectangle 20"/>
          <p:cNvSpPr/>
          <p:nvPr/>
        </p:nvSpPr>
        <p:spPr>
          <a:xfrm>
            <a:off x="365760" y="5989320"/>
            <a:ext cx="11430000" cy="457200"/>
          </a:xfrm>
          <a:prstGeom prst="round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035040"/>
            <a:ext cx="11064240" cy="365760"/>
          </a:xfrm>
          <a:prstGeom prst="rect">
            <a:avLst/>
          </a:prstGeom>
          <a:noFill/>
        </p:spPr>
        <p:txBody>
          <a:bodyPr wrap="square">
            <a:spAutoFit/>
          </a:bodyPr>
          <a:lstStyle/>
          <a:p>
            <a:pPr algn="ctr">
              <a:defRPr sz="1250" b="1" i="1">
                <a:solidFill>
                  <a:srgbClr val="FFFFFF"/>
                </a:solidFill>
                <a:latin typeface="Calibri"/>
              </a:defRPr>
            </a:pPr>
            <a:r>
              <a:t>Bodriyarning prognozi: virtual axloq — bu axloqning yo'qolishi emas, balki uning «giperreal kodlash»idir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2.2. RAQAMLI GIPERREALLIK VA VIRTUAL ZO'RAVONLIK</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10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pic>
        <p:nvPicPr>
          <p:cNvPr id="9" name="Picture 8" descr="chart2_vr_dynamics.png"/>
          <p:cNvPicPr>
            <a:picLocks noChangeAspect="1"/>
          </p:cNvPicPr>
          <p:nvPr/>
        </p:nvPicPr>
        <p:blipFill>
          <a:blip r:embed="rId2"/>
          <a:stretch>
            <a:fillRect/>
          </a:stretch>
        </p:blipFill>
        <p:spPr>
          <a:xfrm>
            <a:off x="274320" y="960120"/>
            <a:ext cx="7315200" cy="4023360"/>
          </a:xfrm>
          <a:prstGeom prst="rect">
            <a:avLst/>
          </a:prstGeom>
        </p:spPr>
      </p:pic>
      <p:sp>
        <p:nvSpPr>
          <p:cNvPr id="10" name="TextBox 9"/>
          <p:cNvSpPr txBox="1"/>
          <p:nvPr/>
        </p:nvSpPr>
        <p:spPr>
          <a:xfrm>
            <a:off x="7772400" y="960120"/>
            <a:ext cx="4206240" cy="365760"/>
          </a:xfrm>
          <a:prstGeom prst="rect">
            <a:avLst/>
          </a:prstGeom>
          <a:noFill/>
        </p:spPr>
        <p:txBody>
          <a:bodyPr wrap="square">
            <a:spAutoFit/>
          </a:bodyPr>
          <a:lstStyle/>
          <a:p>
            <a:pPr algn="l">
              <a:defRPr sz="1400" b="1" i="0">
                <a:solidFill>
                  <a:srgbClr val="C73E1D"/>
                </a:solidFill>
                <a:latin typeface="Calibri"/>
              </a:defRPr>
            </a:pPr>
            <a:r>
              <a:t>VIRTUAL ZO'RAVONLIK TURLARI</a:t>
            </a:r>
          </a:p>
        </p:txBody>
      </p:sp>
      <p:sp>
        <p:nvSpPr>
          <p:cNvPr id="11" name="Rounded Rectangle 10"/>
          <p:cNvSpPr/>
          <p:nvPr/>
        </p:nvSpPr>
        <p:spPr>
          <a:xfrm>
            <a:off x="7772400" y="1417320"/>
            <a:ext cx="4114800" cy="777240"/>
          </a:xfrm>
          <a:prstGeom prst="roundRect">
            <a:avLst/>
          </a:prstGeom>
          <a:solidFill>
            <a:srgbClr val="FFFFFF"/>
          </a:solidFill>
          <a:ln w="1905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9560" y="1463040"/>
            <a:ext cx="3931920" cy="274320"/>
          </a:xfrm>
          <a:prstGeom prst="rect">
            <a:avLst/>
          </a:prstGeom>
          <a:noFill/>
        </p:spPr>
        <p:txBody>
          <a:bodyPr wrap="square">
            <a:spAutoFit/>
          </a:bodyPr>
          <a:lstStyle/>
          <a:p>
            <a:pPr algn="l">
              <a:defRPr sz="1200" b="1" i="0">
                <a:solidFill>
                  <a:srgbClr val="C73E1D"/>
                </a:solidFill>
                <a:latin typeface="Calibri"/>
              </a:defRPr>
            </a:pPr>
            <a:r>
              <a:t>1. Simulyativ</a:t>
            </a:r>
          </a:p>
        </p:txBody>
      </p:sp>
      <p:sp>
        <p:nvSpPr>
          <p:cNvPr id="13" name="TextBox 12"/>
          <p:cNvSpPr txBox="1"/>
          <p:nvPr/>
        </p:nvSpPr>
        <p:spPr>
          <a:xfrm>
            <a:off x="7909560" y="1709928"/>
            <a:ext cx="3931920" cy="502920"/>
          </a:xfrm>
          <a:prstGeom prst="rect">
            <a:avLst/>
          </a:prstGeom>
          <a:noFill/>
        </p:spPr>
        <p:txBody>
          <a:bodyPr wrap="square">
            <a:spAutoFit/>
          </a:bodyPr>
          <a:lstStyle/>
          <a:p>
            <a:pPr algn="l">
              <a:defRPr sz="1050" b="0" i="0">
                <a:solidFill>
                  <a:srgbClr val="264653"/>
                </a:solidFill>
                <a:latin typeface="Calibri"/>
              </a:defRPr>
            </a:pPr>
            <a:r>
              <a:t>VR o'yinlardagi zo'ravonlik</a:t>
            </a:r>
            <a:br/>
            <a:r>
              <a:t>(GTA, FPS o'yinlari)</a:t>
            </a:r>
          </a:p>
        </p:txBody>
      </p:sp>
      <p:sp>
        <p:nvSpPr>
          <p:cNvPr id="14" name="Rounded Rectangle 13"/>
          <p:cNvSpPr/>
          <p:nvPr/>
        </p:nvSpPr>
        <p:spPr>
          <a:xfrm>
            <a:off x="7772400" y="2286000"/>
            <a:ext cx="4114800" cy="777240"/>
          </a:xfrm>
          <a:prstGeom prst="roundRect">
            <a:avLst/>
          </a:prstGeom>
          <a:solidFill>
            <a:srgbClr val="FFFFFF"/>
          </a:solidFill>
          <a:ln w="1905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2331720"/>
            <a:ext cx="3931920" cy="274320"/>
          </a:xfrm>
          <a:prstGeom prst="rect">
            <a:avLst/>
          </a:prstGeom>
          <a:noFill/>
        </p:spPr>
        <p:txBody>
          <a:bodyPr wrap="square">
            <a:spAutoFit/>
          </a:bodyPr>
          <a:lstStyle/>
          <a:p>
            <a:pPr algn="l">
              <a:defRPr sz="1200" b="1" i="0">
                <a:solidFill>
                  <a:srgbClr val="C73E1D"/>
                </a:solidFill>
                <a:latin typeface="Calibri"/>
              </a:defRPr>
            </a:pPr>
            <a:r>
              <a:t>2. Immersiv</a:t>
            </a:r>
          </a:p>
        </p:txBody>
      </p:sp>
      <p:sp>
        <p:nvSpPr>
          <p:cNvPr id="16" name="TextBox 15"/>
          <p:cNvSpPr txBox="1"/>
          <p:nvPr/>
        </p:nvSpPr>
        <p:spPr>
          <a:xfrm>
            <a:off x="7909560" y="2578608"/>
            <a:ext cx="3931920" cy="502920"/>
          </a:xfrm>
          <a:prstGeom prst="rect">
            <a:avLst/>
          </a:prstGeom>
          <a:noFill/>
        </p:spPr>
        <p:txBody>
          <a:bodyPr wrap="square">
            <a:spAutoFit/>
          </a:bodyPr>
          <a:lstStyle/>
          <a:p>
            <a:pPr algn="l">
              <a:defRPr sz="1050" b="0" i="0">
                <a:solidFill>
                  <a:srgbClr val="264653"/>
                </a:solidFill>
                <a:latin typeface="Calibri"/>
              </a:defRPr>
            </a:pPr>
            <a:r>
              <a:t>VR-da to'liq sho'ng'igan</a:t>
            </a:r>
            <a:br/>
            <a:r>
              <a:t>holda kechiriladigan tajriba</a:t>
            </a:r>
          </a:p>
        </p:txBody>
      </p:sp>
      <p:sp>
        <p:nvSpPr>
          <p:cNvPr id="17" name="Rounded Rectangle 16"/>
          <p:cNvSpPr/>
          <p:nvPr/>
        </p:nvSpPr>
        <p:spPr>
          <a:xfrm>
            <a:off x="7772400" y="3154680"/>
            <a:ext cx="4114800" cy="777240"/>
          </a:xfrm>
          <a:prstGeom prst="roundRect">
            <a:avLst/>
          </a:prstGeom>
          <a:solidFill>
            <a:srgbClr val="FFFFFF"/>
          </a:solidFill>
          <a:ln w="1905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3200400"/>
            <a:ext cx="3931920" cy="274320"/>
          </a:xfrm>
          <a:prstGeom prst="rect">
            <a:avLst/>
          </a:prstGeom>
          <a:noFill/>
        </p:spPr>
        <p:txBody>
          <a:bodyPr wrap="square">
            <a:spAutoFit/>
          </a:bodyPr>
          <a:lstStyle/>
          <a:p>
            <a:pPr algn="l">
              <a:defRPr sz="1200" b="1" i="0">
                <a:solidFill>
                  <a:srgbClr val="C73E1D"/>
                </a:solidFill>
                <a:latin typeface="Calibri"/>
              </a:defRPr>
            </a:pPr>
            <a:r>
              <a:t>3. Algoritmik</a:t>
            </a:r>
          </a:p>
        </p:txBody>
      </p:sp>
      <p:sp>
        <p:nvSpPr>
          <p:cNvPr id="19" name="TextBox 18"/>
          <p:cNvSpPr txBox="1"/>
          <p:nvPr/>
        </p:nvSpPr>
        <p:spPr>
          <a:xfrm>
            <a:off x="7909560" y="3447288"/>
            <a:ext cx="3931920" cy="502920"/>
          </a:xfrm>
          <a:prstGeom prst="rect">
            <a:avLst/>
          </a:prstGeom>
          <a:noFill/>
        </p:spPr>
        <p:txBody>
          <a:bodyPr wrap="square">
            <a:spAutoFit/>
          </a:bodyPr>
          <a:lstStyle/>
          <a:p>
            <a:pPr algn="l">
              <a:defRPr sz="1050" b="0" i="0">
                <a:solidFill>
                  <a:srgbClr val="264653"/>
                </a:solidFill>
                <a:latin typeface="Calibri"/>
              </a:defRPr>
            </a:pPr>
            <a:r>
              <a:t>AI tomonidan amalga</a:t>
            </a:r>
            <a:br/>
            <a:r>
              <a:t>oshirilgan psixologik bosim</a:t>
            </a:r>
          </a:p>
        </p:txBody>
      </p:sp>
      <p:sp>
        <p:nvSpPr>
          <p:cNvPr id="20" name="Rounded Rectangle 19"/>
          <p:cNvSpPr/>
          <p:nvPr/>
        </p:nvSpPr>
        <p:spPr>
          <a:xfrm>
            <a:off x="7772400" y="4023360"/>
            <a:ext cx="4114800" cy="777240"/>
          </a:xfrm>
          <a:prstGeom prst="roundRect">
            <a:avLst/>
          </a:prstGeom>
          <a:solidFill>
            <a:srgbClr val="FFFFFF"/>
          </a:solidFill>
          <a:ln w="1905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4069080"/>
            <a:ext cx="3931920" cy="274320"/>
          </a:xfrm>
          <a:prstGeom prst="rect">
            <a:avLst/>
          </a:prstGeom>
          <a:noFill/>
        </p:spPr>
        <p:txBody>
          <a:bodyPr wrap="square">
            <a:spAutoFit/>
          </a:bodyPr>
          <a:lstStyle/>
          <a:p>
            <a:pPr algn="l">
              <a:defRPr sz="1200" b="1" i="0">
                <a:solidFill>
                  <a:srgbClr val="C73E1D"/>
                </a:solidFill>
                <a:latin typeface="Calibri"/>
              </a:defRPr>
            </a:pPr>
            <a:r>
              <a:t>4. Onto-axloqiy</a:t>
            </a:r>
          </a:p>
        </p:txBody>
      </p:sp>
      <p:sp>
        <p:nvSpPr>
          <p:cNvPr id="22" name="TextBox 21"/>
          <p:cNvSpPr txBox="1"/>
          <p:nvPr/>
        </p:nvSpPr>
        <p:spPr>
          <a:xfrm>
            <a:off x="7909560" y="4315968"/>
            <a:ext cx="3931920" cy="502920"/>
          </a:xfrm>
          <a:prstGeom prst="rect">
            <a:avLst/>
          </a:prstGeom>
          <a:noFill/>
        </p:spPr>
        <p:txBody>
          <a:bodyPr wrap="square">
            <a:spAutoFit/>
          </a:bodyPr>
          <a:lstStyle/>
          <a:p>
            <a:pPr algn="l">
              <a:defRPr sz="1050" b="0" i="0">
                <a:solidFill>
                  <a:srgbClr val="264653"/>
                </a:solidFill>
                <a:latin typeface="Calibri"/>
              </a:defRPr>
            </a:pPr>
            <a:r>
              <a:t>Identitet va mavjudlikka</a:t>
            </a:r>
            <a:br/>
            <a:r>
              <a:t>qilingan tahdid</a:t>
            </a:r>
          </a:p>
        </p:txBody>
      </p:sp>
      <p:sp>
        <p:nvSpPr>
          <p:cNvPr id="23" name="Rounded Rectangle 22"/>
          <p:cNvSpPr/>
          <p:nvPr/>
        </p:nvSpPr>
        <p:spPr>
          <a:xfrm>
            <a:off x="365760" y="5074920"/>
            <a:ext cx="11430000" cy="1417320"/>
          </a:xfrm>
          <a:prstGeom prst="roundRect">
            <a:avLst/>
          </a:prstGeom>
          <a:solidFill>
            <a:srgbClr val="F1FAEE"/>
          </a:solidFill>
          <a:ln w="1905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65760" y="5074920"/>
            <a:ext cx="11430000" cy="457200"/>
          </a:xfrm>
          <a:prstGeom prst="round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BODRIYAR PARADOKSI: Virtualda yo'q narsa, real ta'sir ko'rsatadi</a:t>
            </a:r>
          </a:p>
        </p:txBody>
      </p:sp>
      <p:sp>
        <p:nvSpPr>
          <p:cNvPr id="25" name="TextBox 24"/>
          <p:cNvSpPr txBox="1"/>
          <p:nvPr/>
        </p:nvSpPr>
        <p:spPr>
          <a:xfrm>
            <a:off x="502920" y="5577840"/>
            <a:ext cx="11155680" cy="868680"/>
          </a:xfrm>
          <a:prstGeom prst="rect">
            <a:avLst/>
          </a:prstGeom>
          <a:noFill/>
        </p:spPr>
        <p:txBody>
          <a:bodyPr wrap="square">
            <a:spAutoFit/>
          </a:bodyPr>
          <a:lstStyle/>
          <a:p>
            <a:pPr>
              <a:spcAft>
                <a:spcPts val="400"/>
              </a:spcAft>
              <a:defRPr sz="1100">
                <a:solidFill>
                  <a:srgbClr val="264653"/>
                </a:solidFill>
              </a:defRPr>
            </a:pPr>
            <a:r>
              <a:t>• Empirik dalillar: VR-zo'ravonlikni ko'rgan inson real PTSD belgilari namoyish qiladi (Stanford Univ., 2023)</a:t>
            </a:r>
          </a:p>
          <a:p>
            <a:pPr>
              <a:spcAft>
                <a:spcPts val="400"/>
              </a:spcAft>
              <a:defRPr sz="1100">
                <a:solidFill>
                  <a:srgbClr val="264653"/>
                </a:solidFill>
              </a:defRPr>
            </a:pPr>
            <a:r>
              <a:t>• Ontologik nuance: virtual zo'ravonlikning «chegarasi» yo'q — qurbon ham, jallod ham simulyakrdir</a:t>
            </a:r>
          </a:p>
          <a:p>
            <a:pPr>
              <a:spcAft>
                <a:spcPts val="400"/>
              </a:spcAft>
              <a:defRPr sz="1100">
                <a:solidFill>
                  <a:srgbClr val="264653"/>
                </a:solidFill>
              </a:defRPr>
            </a:pPr>
            <a:r>
              <a:t>• Axloqiy paradoks: jismoniy zarar yo'q, lekin onglar transformatsiyasi va begonalashuv yuzaga keladi</a:t>
            </a:r>
          </a:p>
          <a:p>
            <a:pPr>
              <a:spcAft>
                <a:spcPts val="400"/>
              </a:spcAft>
              <a:defRPr sz="1100">
                <a:solidFill>
                  <a:srgbClr val="264653"/>
                </a:solidFill>
              </a:defRPr>
            </a:pPr>
            <a:r>
              <a:t>• Yangilik: 2024-yilda BMT Inson huquqlari kengashi virtual zo'ravonlikni rasman tan oldi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III BOB. SIMULYATSIYANING IJTIMOIY-SIYOSIY ROLI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11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pic>
        <p:nvPicPr>
          <p:cNvPr id="9" name="Picture 8" descr="chart4_simulation_spheres.png"/>
          <p:cNvPicPr>
            <a:picLocks noChangeAspect="1"/>
          </p:cNvPicPr>
          <p:nvPr/>
        </p:nvPicPr>
        <p:blipFill>
          <a:blip r:embed="rId2"/>
          <a:stretch>
            <a:fillRect/>
          </a:stretch>
        </p:blipFill>
        <p:spPr>
          <a:xfrm>
            <a:off x="274320" y="914400"/>
            <a:ext cx="7315200" cy="4114800"/>
          </a:xfrm>
          <a:prstGeom prst="rect">
            <a:avLst/>
          </a:prstGeom>
        </p:spPr>
      </p:pic>
      <p:sp>
        <p:nvSpPr>
          <p:cNvPr id="10" name="TextBox 9"/>
          <p:cNvSpPr txBox="1"/>
          <p:nvPr/>
        </p:nvSpPr>
        <p:spPr>
          <a:xfrm>
            <a:off x="7772400" y="960120"/>
            <a:ext cx="4206240" cy="365760"/>
          </a:xfrm>
          <a:prstGeom prst="rect">
            <a:avLst/>
          </a:prstGeom>
          <a:noFill/>
        </p:spPr>
        <p:txBody>
          <a:bodyPr wrap="square">
            <a:spAutoFit/>
          </a:bodyPr>
          <a:lstStyle/>
          <a:p>
            <a:pPr algn="l">
              <a:defRPr sz="1300" b="1" i="0">
                <a:solidFill>
                  <a:srgbClr val="1D3B5C"/>
                </a:solidFill>
                <a:latin typeface="Calibri"/>
              </a:defRPr>
            </a:pPr>
            <a:r>
              <a:t>SIMULYATSIYA NAMOYON BO'LISH SOHALARI</a:t>
            </a:r>
          </a:p>
        </p:txBody>
      </p:sp>
      <p:sp>
        <p:nvSpPr>
          <p:cNvPr id="11" name="TextBox 10"/>
          <p:cNvSpPr txBox="1"/>
          <p:nvPr/>
        </p:nvSpPr>
        <p:spPr>
          <a:xfrm>
            <a:off x="7818120" y="1417320"/>
            <a:ext cx="4114800" cy="292608"/>
          </a:xfrm>
          <a:prstGeom prst="rect">
            <a:avLst/>
          </a:prstGeom>
          <a:noFill/>
        </p:spPr>
        <p:txBody>
          <a:bodyPr wrap="square">
            <a:spAutoFit/>
          </a:bodyPr>
          <a:lstStyle/>
          <a:p>
            <a:pPr algn="l">
              <a:defRPr sz="1200" b="1" i="0">
                <a:solidFill>
                  <a:srgbClr val="C73E1D"/>
                </a:solidFill>
                <a:latin typeface="Calibri"/>
              </a:defRPr>
            </a:pPr>
            <a:r>
              <a:t>▸ Saylov:</a:t>
            </a:r>
          </a:p>
        </p:txBody>
      </p:sp>
      <p:sp>
        <p:nvSpPr>
          <p:cNvPr id="12" name="TextBox 11"/>
          <p:cNvSpPr txBox="1"/>
          <p:nvPr/>
        </p:nvSpPr>
        <p:spPr>
          <a:xfrm>
            <a:off x="8092440" y="1691640"/>
            <a:ext cx="3840480" cy="320040"/>
          </a:xfrm>
          <a:prstGeom prst="rect">
            <a:avLst/>
          </a:prstGeom>
          <a:noFill/>
        </p:spPr>
        <p:txBody>
          <a:bodyPr wrap="square">
            <a:spAutoFit/>
          </a:bodyPr>
          <a:lstStyle/>
          <a:p>
            <a:pPr algn="l">
              <a:defRPr sz="1100" b="0" i="1">
                <a:solidFill>
                  <a:srgbClr val="264653"/>
                </a:solidFill>
                <a:latin typeface="Calibri"/>
              </a:defRPr>
            </a:pPr>
            <a:r>
              <a:t>Imidj &gt; dastur, brending &gt; g'oya</a:t>
            </a:r>
          </a:p>
        </p:txBody>
      </p:sp>
      <p:sp>
        <p:nvSpPr>
          <p:cNvPr id="13" name="TextBox 12"/>
          <p:cNvSpPr txBox="1"/>
          <p:nvPr/>
        </p:nvSpPr>
        <p:spPr>
          <a:xfrm>
            <a:off x="7818120" y="2011680"/>
            <a:ext cx="4114800" cy="292608"/>
          </a:xfrm>
          <a:prstGeom prst="rect">
            <a:avLst/>
          </a:prstGeom>
          <a:noFill/>
        </p:spPr>
        <p:txBody>
          <a:bodyPr wrap="square">
            <a:spAutoFit/>
          </a:bodyPr>
          <a:lstStyle/>
          <a:p>
            <a:pPr algn="l">
              <a:defRPr sz="1200" b="1" i="0">
                <a:solidFill>
                  <a:srgbClr val="C73E1D"/>
                </a:solidFill>
                <a:latin typeface="Calibri"/>
              </a:defRPr>
            </a:pPr>
            <a:r>
              <a:t>▸ Media:</a:t>
            </a:r>
          </a:p>
        </p:txBody>
      </p:sp>
      <p:sp>
        <p:nvSpPr>
          <p:cNvPr id="14" name="TextBox 13"/>
          <p:cNvSpPr txBox="1"/>
          <p:nvPr/>
        </p:nvSpPr>
        <p:spPr>
          <a:xfrm>
            <a:off x="8092440" y="2286000"/>
            <a:ext cx="3840480" cy="320040"/>
          </a:xfrm>
          <a:prstGeom prst="rect">
            <a:avLst/>
          </a:prstGeom>
          <a:noFill/>
        </p:spPr>
        <p:txBody>
          <a:bodyPr wrap="square">
            <a:spAutoFit/>
          </a:bodyPr>
          <a:lstStyle/>
          <a:p>
            <a:pPr algn="l">
              <a:defRPr sz="1100" b="0" i="1">
                <a:solidFill>
                  <a:srgbClr val="264653"/>
                </a:solidFill>
                <a:latin typeface="Calibri"/>
              </a:defRPr>
            </a:pPr>
            <a:r>
              <a:t>Yangilik faktdan ko'ra dramaturgiya</a:t>
            </a:r>
          </a:p>
        </p:txBody>
      </p:sp>
      <p:sp>
        <p:nvSpPr>
          <p:cNvPr id="15" name="TextBox 14"/>
          <p:cNvSpPr txBox="1"/>
          <p:nvPr/>
        </p:nvSpPr>
        <p:spPr>
          <a:xfrm>
            <a:off x="7818120" y="2606040"/>
            <a:ext cx="4114800" cy="292608"/>
          </a:xfrm>
          <a:prstGeom prst="rect">
            <a:avLst/>
          </a:prstGeom>
          <a:noFill/>
        </p:spPr>
        <p:txBody>
          <a:bodyPr wrap="square">
            <a:spAutoFit/>
          </a:bodyPr>
          <a:lstStyle/>
          <a:p>
            <a:pPr algn="l">
              <a:defRPr sz="1200" b="1" i="0">
                <a:solidFill>
                  <a:srgbClr val="C73E1D"/>
                </a:solidFill>
                <a:latin typeface="Calibri"/>
              </a:defRPr>
            </a:pPr>
            <a:r>
              <a:t>▸ Iste'mol:</a:t>
            </a:r>
          </a:p>
        </p:txBody>
      </p:sp>
      <p:sp>
        <p:nvSpPr>
          <p:cNvPr id="16" name="TextBox 15"/>
          <p:cNvSpPr txBox="1"/>
          <p:nvPr/>
        </p:nvSpPr>
        <p:spPr>
          <a:xfrm>
            <a:off x="8092440" y="2880360"/>
            <a:ext cx="3840480" cy="320040"/>
          </a:xfrm>
          <a:prstGeom prst="rect">
            <a:avLst/>
          </a:prstGeom>
          <a:noFill/>
        </p:spPr>
        <p:txBody>
          <a:bodyPr wrap="square">
            <a:spAutoFit/>
          </a:bodyPr>
          <a:lstStyle/>
          <a:p>
            <a:pPr algn="l">
              <a:defRPr sz="1100" b="0" i="1">
                <a:solidFill>
                  <a:srgbClr val="264653"/>
                </a:solidFill>
                <a:latin typeface="Calibri"/>
              </a:defRPr>
            </a:pPr>
            <a:r>
              <a:t>Mahsulot emas — orzu sotiladi</a:t>
            </a:r>
          </a:p>
        </p:txBody>
      </p:sp>
      <p:sp>
        <p:nvSpPr>
          <p:cNvPr id="17" name="TextBox 16"/>
          <p:cNvSpPr txBox="1"/>
          <p:nvPr/>
        </p:nvSpPr>
        <p:spPr>
          <a:xfrm>
            <a:off x="7818120" y="3200400"/>
            <a:ext cx="4114800" cy="292608"/>
          </a:xfrm>
          <a:prstGeom prst="rect">
            <a:avLst/>
          </a:prstGeom>
          <a:noFill/>
        </p:spPr>
        <p:txBody>
          <a:bodyPr wrap="square">
            <a:spAutoFit/>
          </a:bodyPr>
          <a:lstStyle/>
          <a:p>
            <a:pPr algn="l">
              <a:defRPr sz="1200" b="1" i="0">
                <a:solidFill>
                  <a:srgbClr val="C73E1D"/>
                </a:solidFill>
                <a:latin typeface="Calibri"/>
              </a:defRPr>
            </a:pPr>
            <a:r>
              <a:t>▸ Geosiyosat:</a:t>
            </a:r>
          </a:p>
        </p:txBody>
      </p:sp>
      <p:sp>
        <p:nvSpPr>
          <p:cNvPr id="18" name="TextBox 17"/>
          <p:cNvSpPr txBox="1"/>
          <p:nvPr/>
        </p:nvSpPr>
        <p:spPr>
          <a:xfrm>
            <a:off x="8092440" y="3474720"/>
            <a:ext cx="3840480" cy="320040"/>
          </a:xfrm>
          <a:prstGeom prst="rect">
            <a:avLst/>
          </a:prstGeom>
          <a:noFill/>
        </p:spPr>
        <p:txBody>
          <a:bodyPr wrap="square">
            <a:spAutoFit/>
          </a:bodyPr>
          <a:lstStyle/>
          <a:p>
            <a:pPr algn="l">
              <a:defRPr sz="1100" b="0" i="1">
                <a:solidFill>
                  <a:srgbClr val="264653"/>
                </a:solidFill>
                <a:latin typeface="Calibri"/>
              </a:defRPr>
            </a:pPr>
            <a:r>
              <a:t>«Xalifalik urushi» (Bodriyar, 1991)</a:t>
            </a:r>
          </a:p>
        </p:txBody>
      </p:sp>
      <p:sp>
        <p:nvSpPr>
          <p:cNvPr id="19" name="TextBox 18"/>
          <p:cNvSpPr txBox="1"/>
          <p:nvPr/>
        </p:nvSpPr>
        <p:spPr>
          <a:xfrm>
            <a:off x="7818120" y="3794760"/>
            <a:ext cx="4114800" cy="292608"/>
          </a:xfrm>
          <a:prstGeom prst="rect">
            <a:avLst/>
          </a:prstGeom>
          <a:noFill/>
        </p:spPr>
        <p:txBody>
          <a:bodyPr wrap="square">
            <a:spAutoFit/>
          </a:bodyPr>
          <a:lstStyle/>
          <a:p>
            <a:pPr algn="l">
              <a:defRPr sz="1200" b="1" i="0">
                <a:solidFill>
                  <a:srgbClr val="C73E1D"/>
                </a:solidFill>
                <a:latin typeface="Calibri"/>
              </a:defRPr>
            </a:pPr>
            <a:r>
              <a:t>▸ Ijtimoiy tarmoq:</a:t>
            </a:r>
          </a:p>
        </p:txBody>
      </p:sp>
      <p:sp>
        <p:nvSpPr>
          <p:cNvPr id="20" name="TextBox 19"/>
          <p:cNvSpPr txBox="1"/>
          <p:nvPr/>
        </p:nvSpPr>
        <p:spPr>
          <a:xfrm>
            <a:off x="8092440" y="4069080"/>
            <a:ext cx="3840480" cy="320040"/>
          </a:xfrm>
          <a:prstGeom prst="rect">
            <a:avLst/>
          </a:prstGeom>
          <a:noFill/>
        </p:spPr>
        <p:txBody>
          <a:bodyPr wrap="square">
            <a:spAutoFit/>
          </a:bodyPr>
          <a:lstStyle/>
          <a:p>
            <a:pPr algn="l">
              <a:defRPr sz="1100" b="0" i="1">
                <a:solidFill>
                  <a:srgbClr val="264653"/>
                </a:solidFill>
                <a:latin typeface="Calibri"/>
              </a:defRPr>
            </a:pPr>
            <a:r>
              <a:t>Profil &gt; shaxs, lijklar &gt; qadr</a:t>
            </a:r>
          </a:p>
        </p:txBody>
      </p:sp>
      <p:sp>
        <p:nvSpPr>
          <p:cNvPr id="21" name="TextBox 20"/>
          <p:cNvSpPr txBox="1"/>
          <p:nvPr/>
        </p:nvSpPr>
        <p:spPr>
          <a:xfrm>
            <a:off x="7818120" y="4389120"/>
            <a:ext cx="4114800" cy="292608"/>
          </a:xfrm>
          <a:prstGeom prst="rect">
            <a:avLst/>
          </a:prstGeom>
          <a:noFill/>
        </p:spPr>
        <p:txBody>
          <a:bodyPr wrap="square">
            <a:spAutoFit/>
          </a:bodyPr>
          <a:lstStyle/>
          <a:p>
            <a:pPr algn="l">
              <a:defRPr sz="1200" b="1" i="0">
                <a:solidFill>
                  <a:srgbClr val="C73E1D"/>
                </a:solidFill>
                <a:latin typeface="Calibri"/>
              </a:defRPr>
            </a:pPr>
            <a:r>
              <a:t>▸ Ta'lim:</a:t>
            </a:r>
          </a:p>
        </p:txBody>
      </p:sp>
      <p:sp>
        <p:nvSpPr>
          <p:cNvPr id="22" name="TextBox 21"/>
          <p:cNvSpPr txBox="1"/>
          <p:nvPr/>
        </p:nvSpPr>
        <p:spPr>
          <a:xfrm>
            <a:off x="8092440" y="4663440"/>
            <a:ext cx="3840480" cy="320040"/>
          </a:xfrm>
          <a:prstGeom prst="rect">
            <a:avLst/>
          </a:prstGeom>
          <a:noFill/>
        </p:spPr>
        <p:txBody>
          <a:bodyPr wrap="square">
            <a:spAutoFit/>
          </a:bodyPr>
          <a:lstStyle/>
          <a:p>
            <a:pPr algn="l">
              <a:defRPr sz="1100" b="0" i="1">
                <a:solidFill>
                  <a:srgbClr val="264653"/>
                </a:solidFill>
                <a:latin typeface="Calibri"/>
              </a:defRPr>
            </a:pPr>
            <a:r>
              <a:t>Ko'rsatkichlar &gt; bilim mazmuni</a:t>
            </a:r>
          </a:p>
        </p:txBody>
      </p:sp>
      <p:sp>
        <p:nvSpPr>
          <p:cNvPr id="23" name="Rounded Rectangle 22"/>
          <p:cNvSpPr/>
          <p:nvPr/>
        </p:nvSpPr>
        <p:spPr>
          <a:xfrm>
            <a:off x="365760" y="5120640"/>
            <a:ext cx="11430000" cy="1371600"/>
          </a:xfrm>
          <a:prstGeom prst="roundRect">
            <a:avLst/>
          </a:prstGeom>
          <a:solidFill>
            <a:srgbClr val="1D3B5C"/>
          </a:solidFill>
          <a:ln w="254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212080"/>
            <a:ext cx="11064240" cy="365760"/>
          </a:xfrm>
          <a:prstGeom prst="rect">
            <a:avLst/>
          </a:prstGeom>
          <a:noFill/>
        </p:spPr>
        <p:txBody>
          <a:bodyPr wrap="square">
            <a:spAutoFit/>
          </a:bodyPr>
          <a:lstStyle/>
          <a:p>
            <a:pPr algn="l">
              <a:defRPr sz="1400" b="1" i="0">
                <a:solidFill>
                  <a:srgbClr val="E9C46A"/>
                </a:solidFill>
                <a:latin typeface="Calibri"/>
              </a:defRPr>
            </a:pPr>
            <a:r>
              <a:t>KEYS: «KO'RFAZ URUSHI BO'LIB O'TMADI» (BODRIYAR, 1991)</a:t>
            </a:r>
          </a:p>
        </p:txBody>
      </p:sp>
      <p:sp>
        <p:nvSpPr>
          <p:cNvPr id="25" name="TextBox 24"/>
          <p:cNvSpPr txBox="1"/>
          <p:nvPr/>
        </p:nvSpPr>
        <p:spPr>
          <a:xfrm>
            <a:off x="548640" y="5577840"/>
            <a:ext cx="11064240" cy="914400"/>
          </a:xfrm>
          <a:prstGeom prst="rect">
            <a:avLst/>
          </a:prstGeom>
          <a:noFill/>
        </p:spPr>
        <p:txBody>
          <a:bodyPr wrap="square">
            <a:spAutoFit/>
          </a:bodyPr>
          <a:lstStyle/>
          <a:p>
            <a:pPr algn="l">
              <a:defRPr sz="1150" b="0" i="0">
                <a:solidFill>
                  <a:srgbClr val="FFFFFF"/>
                </a:solidFill>
                <a:latin typeface="Calibri"/>
              </a:defRPr>
            </a:pPr>
            <a:r>
              <a:t>Bodriyarning mashhur essesida 1991-yilgi Ko'rfaz urushi haqiqiy urush emas, balki CNN tomonidan teleekranda yaratilgan simulyakr ekanligi ta'kidlanadi. Tomoshabin uchun urush — bu video o'yin estetikasi, ko'r raketalarning yorug' chizig'i, lekin asl o'lim, qon va azob — ekrandan tashqarida qoladi. Bu — simulyatsiyaning eng yorqin siyosiy misoli.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3.1. OMMAVIY KOMMUNIKATSIYADA SIMULYATSIYA</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12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sp>
        <p:nvSpPr>
          <p:cNvPr id="9" name="TextBox 8"/>
          <p:cNvSpPr txBox="1"/>
          <p:nvPr/>
        </p:nvSpPr>
        <p:spPr>
          <a:xfrm>
            <a:off x="365760" y="914400"/>
            <a:ext cx="11430000" cy="457200"/>
          </a:xfrm>
          <a:prstGeom prst="rect">
            <a:avLst/>
          </a:prstGeom>
          <a:noFill/>
        </p:spPr>
        <p:txBody>
          <a:bodyPr wrap="square">
            <a:spAutoFit/>
          </a:bodyPr>
          <a:lstStyle/>
          <a:p>
            <a:pPr algn="ctr">
              <a:defRPr sz="1400" b="1" i="1">
                <a:solidFill>
                  <a:srgbClr val="1D3B5C"/>
                </a:solidFill>
                <a:latin typeface="Calibri"/>
              </a:defRPr>
            </a:pPr>
            <a:r>
              <a:t>Bodriyar bo'yicha media — bu kommunikatsiya emas, balki kommunikatsiyaning simulyatsiyasidir</a:t>
            </a:r>
          </a:p>
        </p:txBody>
      </p:sp>
      <p:sp>
        <p:nvSpPr>
          <p:cNvPr id="10" name="Rounded Rectangle 9"/>
          <p:cNvSpPr/>
          <p:nvPr/>
        </p:nvSpPr>
        <p:spPr>
          <a:xfrm>
            <a:off x="365760" y="1554480"/>
            <a:ext cx="3703320" cy="3931920"/>
          </a:xfrm>
          <a:prstGeom prst="roundRect">
            <a:avLst/>
          </a:prstGeom>
          <a:solidFill>
            <a:srgbClr val="FFFFFF"/>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1554480"/>
            <a:ext cx="3703320" cy="6400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645920"/>
            <a:ext cx="3703320" cy="365760"/>
          </a:xfrm>
          <a:prstGeom prst="rect">
            <a:avLst/>
          </a:prstGeom>
          <a:noFill/>
        </p:spPr>
        <p:txBody>
          <a:bodyPr wrap="square">
            <a:spAutoFit/>
          </a:bodyPr>
          <a:lstStyle/>
          <a:p>
            <a:pPr algn="ctr">
              <a:defRPr sz="1400" b="1" i="0">
                <a:solidFill>
                  <a:srgbClr val="FFFFFF"/>
                </a:solidFill>
                <a:latin typeface="Calibri"/>
              </a:defRPr>
            </a:pPr>
            <a:r>
              <a:t>AN'ANAVIY MEDIA</a:t>
            </a:r>
          </a:p>
        </p:txBody>
      </p:sp>
      <p:sp>
        <p:nvSpPr>
          <p:cNvPr id="13" name="TextBox 12"/>
          <p:cNvSpPr txBox="1"/>
          <p:nvPr/>
        </p:nvSpPr>
        <p:spPr>
          <a:xfrm>
            <a:off x="365760" y="1920240"/>
            <a:ext cx="3703320" cy="274320"/>
          </a:xfrm>
          <a:prstGeom prst="rect">
            <a:avLst/>
          </a:prstGeom>
          <a:noFill/>
        </p:spPr>
        <p:txBody>
          <a:bodyPr wrap="square">
            <a:spAutoFit/>
          </a:bodyPr>
          <a:lstStyle/>
          <a:p>
            <a:pPr algn="ctr">
              <a:defRPr sz="1000" b="0" i="1">
                <a:solidFill>
                  <a:srgbClr val="FFFFFF"/>
                </a:solidFill>
                <a:latin typeface="Calibri"/>
              </a:defRPr>
            </a:pPr>
            <a:r>
              <a:t>(matn — gazeta — TV)</a:t>
            </a:r>
          </a:p>
        </p:txBody>
      </p:sp>
      <p:sp>
        <p:nvSpPr>
          <p:cNvPr id="14" name="TextBox 13"/>
          <p:cNvSpPr txBox="1"/>
          <p:nvPr/>
        </p:nvSpPr>
        <p:spPr>
          <a:xfrm>
            <a:off x="548640" y="2331720"/>
            <a:ext cx="3337560" cy="502920"/>
          </a:xfrm>
          <a:prstGeom prst="rect">
            <a:avLst/>
          </a:prstGeom>
          <a:noFill/>
        </p:spPr>
        <p:txBody>
          <a:bodyPr wrap="square">
            <a:spAutoFit/>
          </a:bodyPr>
          <a:lstStyle/>
          <a:p>
            <a:pPr algn="l">
              <a:defRPr sz="1150" b="0" i="0">
                <a:solidFill>
                  <a:srgbClr val="264653"/>
                </a:solidFill>
                <a:latin typeface="Calibri"/>
              </a:defRPr>
            </a:pPr>
            <a:r>
              <a:t>✓  Bir tomonlama ma'lumot</a:t>
            </a:r>
          </a:p>
        </p:txBody>
      </p:sp>
      <p:sp>
        <p:nvSpPr>
          <p:cNvPr id="15" name="TextBox 14"/>
          <p:cNvSpPr txBox="1"/>
          <p:nvPr/>
        </p:nvSpPr>
        <p:spPr>
          <a:xfrm>
            <a:off x="548640" y="2880360"/>
            <a:ext cx="3337560" cy="502920"/>
          </a:xfrm>
          <a:prstGeom prst="rect">
            <a:avLst/>
          </a:prstGeom>
          <a:noFill/>
        </p:spPr>
        <p:txBody>
          <a:bodyPr wrap="square">
            <a:spAutoFit/>
          </a:bodyPr>
          <a:lstStyle/>
          <a:p>
            <a:pPr algn="l">
              <a:defRPr sz="1150" b="0" i="0">
                <a:solidFill>
                  <a:srgbClr val="264653"/>
                </a:solidFill>
                <a:latin typeface="Calibri"/>
              </a:defRPr>
            </a:pPr>
            <a:r>
              <a:t>✓  Faktga asoslangan</a:t>
            </a:r>
          </a:p>
        </p:txBody>
      </p:sp>
      <p:sp>
        <p:nvSpPr>
          <p:cNvPr id="16" name="TextBox 15"/>
          <p:cNvSpPr txBox="1"/>
          <p:nvPr/>
        </p:nvSpPr>
        <p:spPr>
          <a:xfrm>
            <a:off x="548640" y="3428999"/>
            <a:ext cx="3337560" cy="502920"/>
          </a:xfrm>
          <a:prstGeom prst="rect">
            <a:avLst/>
          </a:prstGeom>
          <a:noFill/>
        </p:spPr>
        <p:txBody>
          <a:bodyPr wrap="square">
            <a:spAutoFit/>
          </a:bodyPr>
          <a:lstStyle/>
          <a:p>
            <a:pPr algn="l">
              <a:defRPr sz="1150" b="0" i="0">
                <a:solidFill>
                  <a:srgbClr val="264653"/>
                </a:solidFill>
                <a:latin typeface="Calibri"/>
              </a:defRPr>
            </a:pPr>
            <a:r>
              <a:t>✓  Manba ko'rsatiladi</a:t>
            </a:r>
          </a:p>
        </p:txBody>
      </p:sp>
      <p:sp>
        <p:nvSpPr>
          <p:cNvPr id="17" name="TextBox 16"/>
          <p:cNvSpPr txBox="1"/>
          <p:nvPr/>
        </p:nvSpPr>
        <p:spPr>
          <a:xfrm>
            <a:off x="548640" y="3977640"/>
            <a:ext cx="3337560" cy="502920"/>
          </a:xfrm>
          <a:prstGeom prst="rect">
            <a:avLst/>
          </a:prstGeom>
          <a:noFill/>
        </p:spPr>
        <p:txBody>
          <a:bodyPr wrap="square">
            <a:spAutoFit/>
          </a:bodyPr>
          <a:lstStyle/>
          <a:p>
            <a:pPr algn="l">
              <a:defRPr sz="1150" b="0" i="0">
                <a:solidFill>
                  <a:srgbClr val="264653"/>
                </a:solidFill>
                <a:latin typeface="Calibri"/>
              </a:defRPr>
            </a:pPr>
            <a:r>
              <a:t>✓  Saralash mavjud</a:t>
            </a:r>
          </a:p>
        </p:txBody>
      </p:sp>
      <p:sp>
        <p:nvSpPr>
          <p:cNvPr id="18" name="TextBox 17"/>
          <p:cNvSpPr txBox="1"/>
          <p:nvPr/>
        </p:nvSpPr>
        <p:spPr>
          <a:xfrm>
            <a:off x="548640" y="4526280"/>
            <a:ext cx="3337560" cy="502920"/>
          </a:xfrm>
          <a:prstGeom prst="rect">
            <a:avLst/>
          </a:prstGeom>
          <a:noFill/>
        </p:spPr>
        <p:txBody>
          <a:bodyPr wrap="square">
            <a:spAutoFit/>
          </a:bodyPr>
          <a:lstStyle/>
          <a:p>
            <a:pPr algn="l">
              <a:defRPr sz="1150" b="0" i="0">
                <a:solidFill>
                  <a:srgbClr val="264653"/>
                </a:solidFill>
                <a:latin typeface="Calibri"/>
              </a:defRPr>
            </a:pPr>
            <a:r>
              <a:t>✓  Vaqt sekin</a:t>
            </a:r>
          </a:p>
        </p:txBody>
      </p:sp>
      <p:sp>
        <p:nvSpPr>
          <p:cNvPr id="19" name="Rounded Rectangle 18"/>
          <p:cNvSpPr/>
          <p:nvPr/>
        </p:nvSpPr>
        <p:spPr>
          <a:xfrm>
            <a:off x="4251960" y="1554480"/>
            <a:ext cx="3703320" cy="3931920"/>
          </a:xfrm>
          <a:prstGeom prst="roundRect">
            <a:avLst/>
          </a:prstGeom>
          <a:solidFill>
            <a:srgbClr val="FFFFFF"/>
          </a:solidFill>
          <a:ln w="2540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51960" y="1554480"/>
            <a:ext cx="3703320" cy="640080"/>
          </a:xfrm>
          <a:prstGeom prst="round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51960" y="1645920"/>
            <a:ext cx="3703320" cy="365760"/>
          </a:xfrm>
          <a:prstGeom prst="rect">
            <a:avLst/>
          </a:prstGeom>
          <a:noFill/>
        </p:spPr>
        <p:txBody>
          <a:bodyPr wrap="square">
            <a:spAutoFit/>
          </a:bodyPr>
          <a:lstStyle/>
          <a:p>
            <a:pPr algn="ctr">
              <a:defRPr sz="1400" b="1" i="0">
                <a:solidFill>
                  <a:srgbClr val="FFFFFF"/>
                </a:solidFill>
                <a:latin typeface="Calibri"/>
              </a:defRPr>
            </a:pPr>
            <a:r>
              <a:t>RAQAMLI MEDIA</a:t>
            </a:r>
          </a:p>
        </p:txBody>
      </p:sp>
      <p:sp>
        <p:nvSpPr>
          <p:cNvPr id="22" name="TextBox 21"/>
          <p:cNvSpPr txBox="1"/>
          <p:nvPr/>
        </p:nvSpPr>
        <p:spPr>
          <a:xfrm>
            <a:off x="4251960" y="1920240"/>
            <a:ext cx="3703320" cy="274320"/>
          </a:xfrm>
          <a:prstGeom prst="rect">
            <a:avLst/>
          </a:prstGeom>
          <a:noFill/>
        </p:spPr>
        <p:txBody>
          <a:bodyPr wrap="square">
            <a:spAutoFit/>
          </a:bodyPr>
          <a:lstStyle/>
          <a:p>
            <a:pPr algn="ctr">
              <a:defRPr sz="1000" b="0" i="1">
                <a:solidFill>
                  <a:srgbClr val="FFFFFF"/>
                </a:solidFill>
                <a:latin typeface="Calibri"/>
              </a:defRPr>
            </a:pPr>
            <a:r>
              <a:t>(internet — ijtimoiy tarmoq)</a:t>
            </a:r>
          </a:p>
        </p:txBody>
      </p:sp>
      <p:sp>
        <p:nvSpPr>
          <p:cNvPr id="23" name="TextBox 22"/>
          <p:cNvSpPr txBox="1"/>
          <p:nvPr/>
        </p:nvSpPr>
        <p:spPr>
          <a:xfrm>
            <a:off x="4434840" y="2331720"/>
            <a:ext cx="3337560" cy="502920"/>
          </a:xfrm>
          <a:prstGeom prst="rect">
            <a:avLst/>
          </a:prstGeom>
          <a:noFill/>
        </p:spPr>
        <p:txBody>
          <a:bodyPr wrap="square">
            <a:spAutoFit/>
          </a:bodyPr>
          <a:lstStyle/>
          <a:p>
            <a:pPr algn="l">
              <a:defRPr sz="1150" b="0" i="0">
                <a:solidFill>
                  <a:srgbClr val="264653"/>
                </a:solidFill>
                <a:latin typeface="Calibri"/>
              </a:defRPr>
            </a:pPr>
            <a:r>
              <a:t>✓  Interaktiv platforma</a:t>
            </a:r>
          </a:p>
        </p:txBody>
      </p:sp>
      <p:sp>
        <p:nvSpPr>
          <p:cNvPr id="24" name="TextBox 23"/>
          <p:cNvSpPr txBox="1"/>
          <p:nvPr/>
        </p:nvSpPr>
        <p:spPr>
          <a:xfrm>
            <a:off x="4434840" y="2880360"/>
            <a:ext cx="3337560" cy="502920"/>
          </a:xfrm>
          <a:prstGeom prst="rect">
            <a:avLst/>
          </a:prstGeom>
          <a:noFill/>
        </p:spPr>
        <p:txBody>
          <a:bodyPr wrap="square">
            <a:spAutoFit/>
          </a:bodyPr>
          <a:lstStyle/>
          <a:p>
            <a:pPr algn="l">
              <a:defRPr sz="1150" b="0" i="0">
                <a:solidFill>
                  <a:srgbClr val="264653"/>
                </a:solidFill>
                <a:latin typeface="Calibri"/>
              </a:defRPr>
            </a:pPr>
            <a:r>
              <a:t>✓  Faktdan ko'ra hissiyot</a:t>
            </a:r>
          </a:p>
        </p:txBody>
      </p:sp>
      <p:sp>
        <p:nvSpPr>
          <p:cNvPr id="25" name="TextBox 24"/>
          <p:cNvSpPr txBox="1"/>
          <p:nvPr/>
        </p:nvSpPr>
        <p:spPr>
          <a:xfrm>
            <a:off x="4434840" y="3428999"/>
            <a:ext cx="3337560" cy="502920"/>
          </a:xfrm>
          <a:prstGeom prst="rect">
            <a:avLst/>
          </a:prstGeom>
          <a:noFill/>
        </p:spPr>
        <p:txBody>
          <a:bodyPr wrap="square">
            <a:spAutoFit/>
          </a:bodyPr>
          <a:lstStyle/>
          <a:p>
            <a:pPr algn="l">
              <a:defRPr sz="1150" b="0" i="0">
                <a:solidFill>
                  <a:srgbClr val="264653"/>
                </a:solidFill>
                <a:latin typeface="Calibri"/>
              </a:defRPr>
            </a:pPr>
            <a:r>
              <a:t>✓  Manbalar aralash</a:t>
            </a:r>
          </a:p>
        </p:txBody>
      </p:sp>
      <p:sp>
        <p:nvSpPr>
          <p:cNvPr id="26" name="TextBox 25"/>
          <p:cNvSpPr txBox="1"/>
          <p:nvPr/>
        </p:nvSpPr>
        <p:spPr>
          <a:xfrm>
            <a:off x="4434840" y="3977640"/>
            <a:ext cx="3337560" cy="502920"/>
          </a:xfrm>
          <a:prstGeom prst="rect">
            <a:avLst/>
          </a:prstGeom>
          <a:noFill/>
        </p:spPr>
        <p:txBody>
          <a:bodyPr wrap="square">
            <a:spAutoFit/>
          </a:bodyPr>
          <a:lstStyle/>
          <a:p>
            <a:pPr algn="l">
              <a:defRPr sz="1150" b="0" i="0">
                <a:solidFill>
                  <a:srgbClr val="264653"/>
                </a:solidFill>
                <a:latin typeface="Calibri"/>
              </a:defRPr>
            </a:pPr>
            <a:r>
              <a:t>✓  Saralash algoritmik</a:t>
            </a:r>
          </a:p>
        </p:txBody>
      </p:sp>
      <p:sp>
        <p:nvSpPr>
          <p:cNvPr id="27" name="TextBox 26"/>
          <p:cNvSpPr txBox="1"/>
          <p:nvPr/>
        </p:nvSpPr>
        <p:spPr>
          <a:xfrm>
            <a:off x="4434840" y="4526280"/>
            <a:ext cx="3337560" cy="502920"/>
          </a:xfrm>
          <a:prstGeom prst="rect">
            <a:avLst/>
          </a:prstGeom>
          <a:noFill/>
        </p:spPr>
        <p:txBody>
          <a:bodyPr wrap="square">
            <a:spAutoFit/>
          </a:bodyPr>
          <a:lstStyle/>
          <a:p>
            <a:pPr algn="l">
              <a:defRPr sz="1150" b="0" i="0">
                <a:solidFill>
                  <a:srgbClr val="264653"/>
                </a:solidFill>
                <a:latin typeface="Calibri"/>
              </a:defRPr>
            </a:pPr>
            <a:r>
              <a:t>✓  Real-vaqt rejimi</a:t>
            </a:r>
          </a:p>
        </p:txBody>
      </p:sp>
      <p:sp>
        <p:nvSpPr>
          <p:cNvPr id="28" name="Rounded Rectangle 27"/>
          <p:cNvSpPr/>
          <p:nvPr/>
        </p:nvSpPr>
        <p:spPr>
          <a:xfrm>
            <a:off x="8138160" y="1554480"/>
            <a:ext cx="3703320" cy="3931920"/>
          </a:xfrm>
          <a:prstGeom prst="roundRect">
            <a:avLst/>
          </a:prstGeom>
          <a:solidFill>
            <a:srgbClr val="FFFFFF"/>
          </a:solidFill>
          <a:ln w="2540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38160" y="1554480"/>
            <a:ext cx="3703320" cy="640080"/>
          </a:xfrm>
          <a:prstGeom prst="round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1645920"/>
            <a:ext cx="3703320" cy="365760"/>
          </a:xfrm>
          <a:prstGeom prst="rect">
            <a:avLst/>
          </a:prstGeom>
          <a:noFill/>
        </p:spPr>
        <p:txBody>
          <a:bodyPr wrap="square">
            <a:spAutoFit/>
          </a:bodyPr>
          <a:lstStyle/>
          <a:p>
            <a:pPr algn="ctr">
              <a:defRPr sz="1400" b="1" i="0">
                <a:solidFill>
                  <a:srgbClr val="FFFFFF"/>
                </a:solidFill>
                <a:latin typeface="Calibri"/>
              </a:defRPr>
            </a:pPr>
            <a:r>
              <a:t>GIPERREAL MEDIA</a:t>
            </a:r>
          </a:p>
        </p:txBody>
      </p:sp>
      <p:sp>
        <p:nvSpPr>
          <p:cNvPr id="31" name="TextBox 30"/>
          <p:cNvSpPr txBox="1"/>
          <p:nvPr/>
        </p:nvSpPr>
        <p:spPr>
          <a:xfrm>
            <a:off x="8138160" y="1920240"/>
            <a:ext cx="3703320" cy="274320"/>
          </a:xfrm>
          <a:prstGeom prst="rect">
            <a:avLst/>
          </a:prstGeom>
          <a:noFill/>
        </p:spPr>
        <p:txBody>
          <a:bodyPr wrap="square">
            <a:spAutoFit/>
          </a:bodyPr>
          <a:lstStyle/>
          <a:p>
            <a:pPr algn="ctr">
              <a:defRPr sz="1000" b="0" i="1">
                <a:solidFill>
                  <a:srgbClr val="FFFFFF"/>
                </a:solidFill>
                <a:latin typeface="Calibri"/>
              </a:defRPr>
            </a:pPr>
            <a:r>
              <a:t>(TikTok, AI, deepfake)</a:t>
            </a:r>
          </a:p>
        </p:txBody>
      </p:sp>
      <p:sp>
        <p:nvSpPr>
          <p:cNvPr id="32" name="TextBox 31"/>
          <p:cNvSpPr txBox="1"/>
          <p:nvPr/>
        </p:nvSpPr>
        <p:spPr>
          <a:xfrm>
            <a:off x="8321040" y="2331720"/>
            <a:ext cx="3337560" cy="502920"/>
          </a:xfrm>
          <a:prstGeom prst="rect">
            <a:avLst/>
          </a:prstGeom>
          <a:noFill/>
        </p:spPr>
        <p:txBody>
          <a:bodyPr wrap="square">
            <a:spAutoFit/>
          </a:bodyPr>
          <a:lstStyle/>
          <a:p>
            <a:pPr algn="l">
              <a:defRPr sz="1150" b="0" i="0">
                <a:solidFill>
                  <a:srgbClr val="264653"/>
                </a:solidFill>
                <a:latin typeface="Calibri"/>
              </a:defRPr>
            </a:pPr>
            <a:r>
              <a:t>✓  Foydalanuvchi — kontent yaratuvchisi</a:t>
            </a:r>
          </a:p>
        </p:txBody>
      </p:sp>
      <p:sp>
        <p:nvSpPr>
          <p:cNvPr id="33" name="TextBox 32"/>
          <p:cNvSpPr txBox="1"/>
          <p:nvPr/>
        </p:nvSpPr>
        <p:spPr>
          <a:xfrm>
            <a:off x="8321040" y="2880360"/>
            <a:ext cx="3337560" cy="502920"/>
          </a:xfrm>
          <a:prstGeom prst="rect">
            <a:avLst/>
          </a:prstGeom>
          <a:noFill/>
        </p:spPr>
        <p:txBody>
          <a:bodyPr wrap="square">
            <a:spAutoFit/>
          </a:bodyPr>
          <a:lstStyle/>
          <a:p>
            <a:pPr algn="l">
              <a:defRPr sz="1150" b="0" i="0">
                <a:solidFill>
                  <a:srgbClr val="264653"/>
                </a:solidFill>
                <a:latin typeface="Calibri"/>
              </a:defRPr>
            </a:pPr>
            <a:r>
              <a:t>✓  Tarkibsiz spektakl</a:t>
            </a:r>
          </a:p>
        </p:txBody>
      </p:sp>
      <p:sp>
        <p:nvSpPr>
          <p:cNvPr id="34" name="TextBox 33"/>
          <p:cNvSpPr txBox="1"/>
          <p:nvPr/>
        </p:nvSpPr>
        <p:spPr>
          <a:xfrm>
            <a:off x="8321040" y="3428999"/>
            <a:ext cx="3337560" cy="502920"/>
          </a:xfrm>
          <a:prstGeom prst="rect">
            <a:avLst/>
          </a:prstGeom>
          <a:noFill/>
        </p:spPr>
        <p:txBody>
          <a:bodyPr wrap="square">
            <a:spAutoFit/>
          </a:bodyPr>
          <a:lstStyle/>
          <a:p>
            <a:pPr algn="l">
              <a:defRPr sz="1150" b="0" i="0">
                <a:solidFill>
                  <a:srgbClr val="264653"/>
                </a:solidFill>
                <a:latin typeface="Calibri"/>
              </a:defRPr>
            </a:pPr>
            <a:r>
              <a:t>✓  Manba — ALGORITM</a:t>
            </a:r>
          </a:p>
        </p:txBody>
      </p:sp>
      <p:sp>
        <p:nvSpPr>
          <p:cNvPr id="35" name="TextBox 34"/>
          <p:cNvSpPr txBox="1"/>
          <p:nvPr/>
        </p:nvSpPr>
        <p:spPr>
          <a:xfrm>
            <a:off x="8321040" y="3977640"/>
            <a:ext cx="3337560" cy="502920"/>
          </a:xfrm>
          <a:prstGeom prst="rect">
            <a:avLst/>
          </a:prstGeom>
          <a:noFill/>
        </p:spPr>
        <p:txBody>
          <a:bodyPr wrap="square">
            <a:spAutoFit/>
          </a:bodyPr>
          <a:lstStyle/>
          <a:p>
            <a:pPr algn="l">
              <a:defRPr sz="1150" b="0" i="0">
                <a:solidFill>
                  <a:srgbClr val="264653"/>
                </a:solidFill>
                <a:latin typeface="Calibri"/>
              </a:defRPr>
            </a:pPr>
            <a:r>
              <a:t>✓  Filtrlangan reallik</a:t>
            </a:r>
          </a:p>
        </p:txBody>
      </p:sp>
      <p:sp>
        <p:nvSpPr>
          <p:cNvPr id="36" name="TextBox 35"/>
          <p:cNvSpPr txBox="1"/>
          <p:nvPr/>
        </p:nvSpPr>
        <p:spPr>
          <a:xfrm>
            <a:off x="8321040" y="4526280"/>
            <a:ext cx="3337560" cy="502920"/>
          </a:xfrm>
          <a:prstGeom prst="rect">
            <a:avLst/>
          </a:prstGeom>
          <a:noFill/>
        </p:spPr>
        <p:txBody>
          <a:bodyPr wrap="square">
            <a:spAutoFit/>
          </a:bodyPr>
          <a:lstStyle/>
          <a:p>
            <a:pPr algn="l">
              <a:defRPr sz="1150" b="0" i="0">
                <a:solidFill>
                  <a:srgbClr val="264653"/>
                </a:solidFill>
                <a:latin typeface="Calibri"/>
              </a:defRPr>
            </a:pPr>
            <a:r>
              <a:t>✓  Vaqt yo'qoladi</a:t>
            </a:r>
          </a:p>
        </p:txBody>
      </p:sp>
      <p:sp>
        <p:nvSpPr>
          <p:cNvPr id="37" name="Rounded Rectangle 36"/>
          <p:cNvSpPr/>
          <p:nvPr/>
        </p:nvSpPr>
        <p:spPr>
          <a:xfrm>
            <a:off x="365760" y="5669280"/>
            <a:ext cx="11430000" cy="777240"/>
          </a:xfrm>
          <a:prstGeom prst="round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760720"/>
            <a:ext cx="11064240" cy="365760"/>
          </a:xfrm>
          <a:prstGeom prst="rect">
            <a:avLst/>
          </a:prstGeom>
          <a:noFill/>
        </p:spPr>
        <p:txBody>
          <a:bodyPr wrap="square">
            <a:spAutoFit/>
          </a:bodyPr>
          <a:lstStyle/>
          <a:p>
            <a:pPr algn="l">
              <a:defRPr sz="1200" b="1" i="0">
                <a:solidFill>
                  <a:srgbClr val="E9C46A"/>
                </a:solidFill>
                <a:latin typeface="Calibri"/>
              </a:defRPr>
            </a:pPr>
            <a:r>
              <a:t>BODRIYARNING ASOSIY TEZISI:</a:t>
            </a:r>
          </a:p>
        </p:txBody>
      </p:sp>
      <p:sp>
        <p:nvSpPr>
          <p:cNvPr id="39" name="TextBox 38"/>
          <p:cNvSpPr txBox="1"/>
          <p:nvPr/>
        </p:nvSpPr>
        <p:spPr>
          <a:xfrm>
            <a:off x="548640" y="6080760"/>
            <a:ext cx="11064240" cy="365760"/>
          </a:xfrm>
          <a:prstGeom prst="rect">
            <a:avLst/>
          </a:prstGeom>
          <a:noFill/>
        </p:spPr>
        <p:txBody>
          <a:bodyPr wrap="square">
            <a:spAutoFit/>
          </a:bodyPr>
          <a:lstStyle/>
          <a:p>
            <a:pPr algn="l">
              <a:defRPr sz="1200" b="0" i="1">
                <a:solidFill>
                  <a:srgbClr val="FFFFFF"/>
                </a:solidFill>
                <a:latin typeface="Calibri"/>
              </a:defRPr>
            </a:pPr>
            <a:r>
              <a:t>«Axborot ko'paygan sari, ma'no kamayadi» — informatsion o'sish ma'no inflatsiyasini keltirib chiqaradi.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3.2. BODRIYAR G'OYALARINING TANQIDIY TAHLILI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13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sp>
        <p:nvSpPr>
          <p:cNvPr id="9" name="Rounded Rectangle 8"/>
          <p:cNvSpPr/>
          <p:nvPr/>
        </p:nvSpPr>
        <p:spPr>
          <a:xfrm>
            <a:off x="365760" y="960120"/>
            <a:ext cx="5669280" cy="2560320"/>
          </a:xfrm>
          <a:prstGeom prst="roundRect">
            <a:avLst/>
          </a:prstGeom>
          <a:solidFill>
            <a:srgbClr val="FFFFFF"/>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960120"/>
            <a:ext cx="5669280" cy="4572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051560"/>
            <a:ext cx="5669280" cy="365760"/>
          </a:xfrm>
          <a:prstGeom prst="rect">
            <a:avLst/>
          </a:prstGeom>
          <a:noFill/>
        </p:spPr>
        <p:txBody>
          <a:bodyPr wrap="square">
            <a:spAutoFit/>
          </a:bodyPr>
          <a:lstStyle/>
          <a:p>
            <a:pPr algn="ctr">
              <a:defRPr sz="1400" b="1" i="0">
                <a:solidFill>
                  <a:srgbClr val="FFFFFF"/>
                </a:solidFill>
                <a:latin typeface="Calibri"/>
              </a:defRPr>
            </a:pPr>
            <a:r>
              <a:t>✚  NAZARIYANING KUCHLI TOMONLARI</a:t>
            </a:r>
          </a:p>
        </p:txBody>
      </p:sp>
      <p:sp>
        <p:nvSpPr>
          <p:cNvPr id="12" name="TextBox 11"/>
          <p:cNvSpPr txBox="1"/>
          <p:nvPr/>
        </p:nvSpPr>
        <p:spPr>
          <a:xfrm>
            <a:off x="548640" y="1554480"/>
            <a:ext cx="5394960" cy="365760"/>
          </a:xfrm>
          <a:prstGeom prst="rect">
            <a:avLst/>
          </a:prstGeom>
          <a:noFill/>
        </p:spPr>
        <p:txBody>
          <a:bodyPr wrap="square">
            <a:spAutoFit/>
          </a:bodyPr>
          <a:lstStyle/>
          <a:p>
            <a:pPr algn="l">
              <a:defRPr sz="1150" b="0" i="0">
                <a:solidFill>
                  <a:srgbClr val="264653"/>
                </a:solidFill>
                <a:latin typeface="Calibri"/>
              </a:defRPr>
            </a:pPr>
            <a:r>
              <a:t>✓  Raqamli asrning ontologik tahlili uchun tayanch nazariya</a:t>
            </a:r>
          </a:p>
        </p:txBody>
      </p:sp>
      <p:sp>
        <p:nvSpPr>
          <p:cNvPr id="13" name="TextBox 12"/>
          <p:cNvSpPr txBox="1"/>
          <p:nvPr/>
        </p:nvSpPr>
        <p:spPr>
          <a:xfrm>
            <a:off x="548640" y="1920240"/>
            <a:ext cx="5394960" cy="365760"/>
          </a:xfrm>
          <a:prstGeom prst="rect">
            <a:avLst/>
          </a:prstGeom>
          <a:noFill/>
        </p:spPr>
        <p:txBody>
          <a:bodyPr wrap="square">
            <a:spAutoFit/>
          </a:bodyPr>
          <a:lstStyle/>
          <a:p>
            <a:pPr algn="l">
              <a:defRPr sz="1150" b="0" i="0">
                <a:solidFill>
                  <a:srgbClr val="264653"/>
                </a:solidFill>
                <a:latin typeface="Calibri"/>
              </a:defRPr>
            </a:pPr>
            <a:r>
              <a:t>✓  Iste'mol madaniyatining tanqidiy talqini</a:t>
            </a:r>
          </a:p>
        </p:txBody>
      </p:sp>
      <p:sp>
        <p:nvSpPr>
          <p:cNvPr id="14" name="TextBox 13"/>
          <p:cNvSpPr txBox="1"/>
          <p:nvPr/>
        </p:nvSpPr>
        <p:spPr>
          <a:xfrm>
            <a:off x="548640" y="2286000"/>
            <a:ext cx="5394960" cy="365760"/>
          </a:xfrm>
          <a:prstGeom prst="rect">
            <a:avLst/>
          </a:prstGeom>
          <a:noFill/>
        </p:spPr>
        <p:txBody>
          <a:bodyPr wrap="square">
            <a:spAutoFit/>
          </a:bodyPr>
          <a:lstStyle/>
          <a:p>
            <a:pPr algn="l">
              <a:defRPr sz="1150" b="0" i="0">
                <a:solidFill>
                  <a:srgbClr val="264653"/>
                </a:solidFill>
                <a:latin typeface="Calibri"/>
              </a:defRPr>
            </a:pPr>
            <a:r>
              <a:t>✓  Media-tahlilning sivilizatsion miqyosi</a:t>
            </a:r>
          </a:p>
        </p:txBody>
      </p:sp>
      <p:sp>
        <p:nvSpPr>
          <p:cNvPr id="15" name="TextBox 14"/>
          <p:cNvSpPr txBox="1"/>
          <p:nvPr/>
        </p:nvSpPr>
        <p:spPr>
          <a:xfrm>
            <a:off x="548640" y="2651760"/>
            <a:ext cx="5394960" cy="365760"/>
          </a:xfrm>
          <a:prstGeom prst="rect">
            <a:avLst/>
          </a:prstGeom>
          <a:noFill/>
        </p:spPr>
        <p:txBody>
          <a:bodyPr wrap="square">
            <a:spAutoFit/>
          </a:bodyPr>
          <a:lstStyle/>
          <a:p>
            <a:pPr algn="l">
              <a:defRPr sz="1150" b="0" i="0">
                <a:solidFill>
                  <a:srgbClr val="264653"/>
                </a:solidFill>
                <a:latin typeface="Calibri"/>
              </a:defRPr>
            </a:pPr>
            <a:r>
              <a:t>✓  Postmodern hodisalarni bashorat qilish qudrati</a:t>
            </a:r>
          </a:p>
        </p:txBody>
      </p:sp>
      <p:sp>
        <p:nvSpPr>
          <p:cNvPr id="16" name="TextBox 15"/>
          <p:cNvSpPr txBox="1"/>
          <p:nvPr/>
        </p:nvSpPr>
        <p:spPr>
          <a:xfrm>
            <a:off x="548640" y="3017520"/>
            <a:ext cx="5394960" cy="365760"/>
          </a:xfrm>
          <a:prstGeom prst="rect">
            <a:avLst/>
          </a:prstGeom>
          <a:noFill/>
        </p:spPr>
        <p:txBody>
          <a:bodyPr wrap="square">
            <a:spAutoFit/>
          </a:bodyPr>
          <a:lstStyle/>
          <a:p>
            <a:pPr algn="l">
              <a:defRPr sz="1150" b="0" i="0">
                <a:solidFill>
                  <a:srgbClr val="264653"/>
                </a:solidFill>
                <a:latin typeface="Calibri"/>
              </a:defRPr>
            </a:pPr>
            <a:r>
              <a:t>✓  Belgilar tizimining falsafiy konseptualizatsiyasi</a:t>
            </a:r>
          </a:p>
        </p:txBody>
      </p:sp>
      <p:sp>
        <p:nvSpPr>
          <p:cNvPr id="17" name="Rounded Rectangle 16"/>
          <p:cNvSpPr/>
          <p:nvPr/>
        </p:nvSpPr>
        <p:spPr>
          <a:xfrm>
            <a:off x="6126480" y="960120"/>
            <a:ext cx="5669280" cy="2560320"/>
          </a:xfrm>
          <a:prstGeom prst="roundRect">
            <a:avLst/>
          </a:prstGeom>
          <a:solidFill>
            <a:srgbClr val="FFFFFF"/>
          </a:solidFill>
          <a:ln w="25400">
            <a:solidFill>
              <a:srgbClr val="C73E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960120"/>
            <a:ext cx="5669280" cy="457200"/>
          </a:xfrm>
          <a:prstGeom prst="rect">
            <a:avLst/>
          </a:prstGeom>
          <a:solidFill>
            <a:srgbClr val="C73E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051560"/>
            <a:ext cx="5669280" cy="365760"/>
          </a:xfrm>
          <a:prstGeom prst="rect">
            <a:avLst/>
          </a:prstGeom>
          <a:noFill/>
        </p:spPr>
        <p:txBody>
          <a:bodyPr wrap="square">
            <a:spAutoFit/>
          </a:bodyPr>
          <a:lstStyle/>
          <a:p>
            <a:pPr algn="ctr">
              <a:defRPr sz="1400" b="1" i="0">
                <a:solidFill>
                  <a:srgbClr val="FFFFFF"/>
                </a:solidFill>
                <a:latin typeface="Calibri"/>
              </a:defRPr>
            </a:pPr>
            <a:r>
              <a:t>✕  TANQIDIY ZAIFLIKLAR</a:t>
            </a:r>
          </a:p>
        </p:txBody>
      </p:sp>
      <p:sp>
        <p:nvSpPr>
          <p:cNvPr id="20" name="TextBox 19"/>
          <p:cNvSpPr txBox="1"/>
          <p:nvPr/>
        </p:nvSpPr>
        <p:spPr>
          <a:xfrm>
            <a:off x="6309360" y="1554480"/>
            <a:ext cx="5394960" cy="365760"/>
          </a:xfrm>
          <a:prstGeom prst="rect">
            <a:avLst/>
          </a:prstGeom>
          <a:noFill/>
        </p:spPr>
        <p:txBody>
          <a:bodyPr wrap="square">
            <a:spAutoFit/>
          </a:bodyPr>
          <a:lstStyle/>
          <a:p>
            <a:pPr algn="l">
              <a:defRPr sz="1150" b="0" i="0">
                <a:solidFill>
                  <a:srgbClr val="264653"/>
                </a:solidFill>
                <a:latin typeface="Calibri"/>
              </a:defRPr>
            </a:pPr>
            <a:r>
              <a:t>✗  Texno-pessimizm — alternativalar ko'rsatilmagan</a:t>
            </a:r>
          </a:p>
        </p:txBody>
      </p:sp>
      <p:sp>
        <p:nvSpPr>
          <p:cNvPr id="21" name="TextBox 20"/>
          <p:cNvSpPr txBox="1"/>
          <p:nvPr/>
        </p:nvSpPr>
        <p:spPr>
          <a:xfrm>
            <a:off x="6309360" y="1920240"/>
            <a:ext cx="5394960" cy="365760"/>
          </a:xfrm>
          <a:prstGeom prst="rect">
            <a:avLst/>
          </a:prstGeom>
          <a:noFill/>
        </p:spPr>
        <p:txBody>
          <a:bodyPr wrap="square">
            <a:spAutoFit/>
          </a:bodyPr>
          <a:lstStyle/>
          <a:p>
            <a:pPr algn="l">
              <a:defRPr sz="1150" b="0" i="0">
                <a:solidFill>
                  <a:srgbClr val="264653"/>
                </a:solidFill>
                <a:latin typeface="Calibri"/>
              </a:defRPr>
            </a:pPr>
            <a:r>
              <a:t>✗  Empirik isbotlar yetishmaydi (essecistik uslub)</a:t>
            </a:r>
          </a:p>
        </p:txBody>
      </p:sp>
      <p:sp>
        <p:nvSpPr>
          <p:cNvPr id="22" name="TextBox 21"/>
          <p:cNvSpPr txBox="1"/>
          <p:nvPr/>
        </p:nvSpPr>
        <p:spPr>
          <a:xfrm>
            <a:off x="6309360" y="2286000"/>
            <a:ext cx="5394960" cy="365760"/>
          </a:xfrm>
          <a:prstGeom prst="rect">
            <a:avLst/>
          </a:prstGeom>
          <a:noFill/>
        </p:spPr>
        <p:txBody>
          <a:bodyPr wrap="square">
            <a:spAutoFit/>
          </a:bodyPr>
          <a:lstStyle/>
          <a:p>
            <a:pPr algn="l">
              <a:defRPr sz="1150" b="0" i="0">
                <a:solidFill>
                  <a:srgbClr val="264653"/>
                </a:solidFill>
                <a:latin typeface="Calibri"/>
              </a:defRPr>
            </a:pPr>
            <a:r>
              <a:t>✗  Universalizm — Sharq madaniyati hisobga olinmagan</a:t>
            </a:r>
          </a:p>
        </p:txBody>
      </p:sp>
      <p:sp>
        <p:nvSpPr>
          <p:cNvPr id="23" name="TextBox 22"/>
          <p:cNvSpPr txBox="1"/>
          <p:nvPr/>
        </p:nvSpPr>
        <p:spPr>
          <a:xfrm>
            <a:off x="6309360" y="2651760"/>
            <a:ext cx="5394960" cy="365760"/>
          </a:xfrm>
          <a:prstGeom prst="rect">
            <a:avLst/>
          </a:prstGeom>
          <a:noFill/>
        </p:spPr>
        <p:txBody>
          <a:bodyPr wrap="square">
            <a:spAutoFit/>
          </a:bodyPr>
          <a:lstStyle/>
          <a:p>
            <a:pPr algn="l">
              <a:defRPr sz="1150" b="0" i="0">
                <a:solidFill>
                  <a:srgbClr val="264653"/>
                </a:solidFill>
                <a:latin typeface="Calibri"/>
              </a:defRPr>
            </a:pPr>
            <a:r>
              <a:t>✗  Inson agentligi rolini kamaytirish</a:t>
            </a:r>
          </a:p>
        </p:txBody>
      </p:sp>
      <p:sp>
        <p:nvSpPr>
          <p:cNvPr id="24" name="TextBox 23"/>
          <p:cNvSpPr txBox="1"/>
          <p:nvPr/>
        </p:nvSpPr>
        <p:spPr>
          <a:xfrm>
            <a:off x="6309360" y="3017520"/>
            <a:ext cx="5394960" cy="365760"/>
          </a:xfrm>
          <a:prstGeom prst="rect">
            <a:avLst/>
          </a:prstGeom>
          <a:noFill/>
        </p:spPr>
        <p:txBody>
          <a:bodyPr wrap="square">
            <a:spAutoFit/>
          </a:bodyPr>
          <a:lstStyle/>
          <a:p>
            <a:pPr algn="l">
              <a:defRPr sz="1150" b="0" i="0">
                <a:solidFill>
                  <a:srgbClr val="264653"/>
                </a:solidFill>
                <a:latin typeface="Calibri"/>
              </a:defRPr>
            </a:pPr>
            <a:r>
              <a:t>✗  Determinizm — texnologiya hal qiluvchi omil sifatida</a:t>
            </a:r>
          </a:p>
        </p:txBody>
      </p:sp>
      <p:sp>
        <p:nvSpPr>
          <p:cNvPr id="25" name="TextBox 24"/>
          <p:cNvSpPr txBox="1"/>
          <p:nvPr/>
        </p:nvSpPr>
        <p:spPr>
          <a:xfrm>
            <a:off x="365760" y="3703320"/>
            <a:ext cx="11430000" cy="365760"/>
          </a:xfrm>
          <a:prstGeom prst="rect">
            <a:avLst/>
          </a:prstGeom>
          <a:noFill/>
        </p:spPr>
        <p:txBody>
          <a:bodyPr wrap="square">
            <a:spAutoFit/>
          </a:bodyPr>
          <a:lstStyle/>
          <a:p>
            <a:pPr algn="l">
              <a:defRPr sz="1400" b="1" i="0">
                <a:solidFill>
                  <a:srgbClr val="1D3B5C"/>
                </a:solidFill>
                <a:latin typeface="Calibri"/>
              </a:defRPr>
            </a:pPr>
            <a:r>
              <a:t>ASOSIY TANQIDCHILAR VA MUQOBIL POZITSIYALAR:</a:t>
            </a:r>
          </a:p>
        </p:txBody>
      </p:sp>
      <p:sp>
        <p:nvSpPr>
          <p:cNvPr id="26" name="Rounded Rectangle 25"/>
          <p:cNvSpPr/>
          <p:nvPr/>
        </p:nvSpPr>
        <p:spPr>
          <a:xfrm>
            <a:off x="365760" y="4160520"/>
            <a:ext cx="5669280" cy="1005840"/>
          </a:xfrm>
          <a:prstGeom prst="roundRect">
            <a:avLst/>
          </a:prstGeom>
          <a:solidFill>
            <a:srgbClr val="FFFFFF"/>
          </a:solidFill>
          <a:ln w="1905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4297680"/>
            <a:ext cx="1280160" cy="411480"/>
          </a:xfrm>
          <a:prstGeom prst="round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361688"/>
            <a:ext cx="1280160" cy="365760"/>
          </a:xfrm>
          <a:prstGeom prst="rect">
            <a:avLst/>
          </a:prstGeom>
          <a:noFill/>
        </p:spPr>
        <p:txBody>
          <a:bodyPr wrap="square">
            <a:spAutoFit/>
          </a:bodyPr>
          <a:lstStyle/>
          <a:p>
            <a:pPr algn="ctr">
              <a:defRPr sz="1200" b="1" i="0">
                <a:solidFill>
                  <a:srgbClr val="FFFFFF"/>
                </a:solidFill>
                <a:latin typeface="Calibri"/>
              </a:defRPr>
            </a:pPr>
            <a:r>
              <a:t>D. Kelner</a:t>
            </a:r>
          </a:p>
        </p:txBody>
      </p:sp>
      <p:sp>
        <p:nvSpPr>
          <p:cNvPr id="29" name="TextBox 28"/>
          <p:cNvSpPr txBox="1"/>
          <p:nvPr/>
        </p:nvSpPr>
        <p:spPr>
          <a:xfrm>
            <a:off x="1874520" y="4325112"/>
            <a:ext cx="4069080" cy="777240"/>
          </a:xfrm>
          <a:prstGeom prst="rect">
            <a:avLst/>
          </a:prstGeom>
          <a:noFill/>
        </p:spPr>
        <p:txBody>
          <a:bodyPr wrap="square">
            <a:spAutoFit/>
          </a:bodyPr>
          <a:lstStyle/>
          <a:p>
            <a:pPr algn="l">
              <a:defRPr sz="1150" b="0" i="1">
                <a:solidFill>
                  <a:srgbClr val="264653"/>
                </a:solidFill>
                <a:latin typeface="Calibri"/>
              </a:defRPr>
            </a:pPr>
            <a:r>
              <a:t>Tanqidiy nazariya pozitsiyasidan: Bodriyar siyosatni e'tiborsiz qoldirgan</a:t>
            </a:r>
          </a:p>
        </p:txBody>
      </p:sp>
      <p:sp>
        <p:nvSpPr>
          <p:cNvPr id="30" name="Rounded Rectangle 29"/>
          <p:cNvSpPr/>
          <p:nvPr/>
        </p:nvSpPr>
        <p:spPr>
          <a:xfrm>
            <a:off x="6126480" y="4160520"/>
            <a:ext cx="5669280" cy="1005840"/>
          </a:xfrm>
          <a:prstGeom prst="roundRect">
            <a:avLst/>
          </a:prstGeom>
          <a:solidFill>
            <a:srgbClr val="FFFFFF"/>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63640" y="4297680"/>
            <a:ext cx="1280160" cy="41148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4361688"/>
            <a:ext cx="1280160" cy="365760"/>
          </a:xfrm>
          <a:prstGeom prst="rect">
            <a:avLst/>
          </a:prstGeom>
          <a:noFill/>
        </p:spPr>
        <p:txBody>
          <a:bodyPr wrap="square">
            <a:spAutoFit/>
          </a:bodyPr>
          <a:lstStyle/>
          <a:p>
            <a:pPr algn="ctr">
              <a:defRPr sz="1200" b="1" i="0">
                <a:solidFill>
                  <a:srgbClr val="FFFFFF"/>
                </a:solidFill>
                <a:latin typeface="Calibri"/>
              </a:defRPr>
            </a:pPr>
            <a:r>
              <a:t>M. Gane</a:t>
            </a:r>
          </a:p>
        </p:txBody>
      </p:sp>
      <p:sp>
        <p:nvSpPr>
          <p:cNvPr id="33" name="TextBox 32"/>
          <p:cNvSpPr txBox="1"/>
          <p:nvPr/>
        </p:nvSpPr>
        <p:spPr>
          <a:xfrm>
            <a:off x="7635240" y="4325112"/>
            <a:ext cx="4069080" cy="777240"/>
          </a:xfrm>
          <a:prstGeom prst="rect">
            <a:avLst/>
          </a:prstGeom>
          <a:noFill/>
        </p:spPr>
        <p:txBody>
          <a:bodyPr wrap="square">
            <a:spAutoFit/>
          </a:bodyPr>
          <a:lstStyle/>
          <a:p>
            <a:pPr algn="l">
              <a:defRPr sz="1150" b="0" i="1">
                <a:solidFill>
                  <a:srgbClr val="264653"/>
                </a:solidFill>
                <a:latin typeface="Calibri"/>
              </a:defRPr>
            </a:pPr>
            <a:r>
              <a:t>Bodriyar nazariyasi falsafa emas, badiiy provokatsiyadir</a:t>
            </a:r>
          </a:p>
        </p:txBody>
      </p:sp>
      <p:sp>
        <p:nvSpPr>
          <p:cNvPr id="34" name="Rounded Rectangle 33"/>
          <p:cNvSpPr/>
          <p:nvPr/>
        </p:nvSpPr>
        <p:spPr>
          <a:xfrm>
            <a:off x="365760" y="5303520"/>
            <a:ext cx="5669280" cy="1005840"/>
          </a:xfrm>
          <a:prstGeom prst="roundRect">
            <a:avLst/>
          </a:prstGeom>
          <a:solidFill>
            <a:srgbClr val="FFFFFF"/>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02920" y="5440680"/>
            <a:ext cx="1280160" cy="4114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5504688"/>
            <a:ext cx="1280160" cy="365760"/>
          </a:xfrm>
          <a:prstGeom prst="rect">
            <a:avLst/>
          </a:prstGeom>
          <a:noFill/>
        </p:spPr>
        <p:txBody>
          <a:bodyPr wrap="square">
            <a:spAutoFit/>
          </a:bodyPr>
          <a:lstStyle/>
          <a:p>
            <a:pPr algn="ctr">
              <a:defRPr sz="1200" b="1" i="0">
                <a:solidFill>
                  <a:srgbClr val="FFFFFF"/>
                </a:solidFill>
                <a:latin typeface="Calibri"/>
              </a:defRPr>
            </a:pPr>
            <a:r>
              <a:t>S. Best</a:t>
            </a:r>
          </a:p>
        </p:txBody>
      </p:sp>
      <p:sp>
        <p:nvSpPr>
          <p:cNvPr id="37" name="TextBox 36"/>
          <p:cNvSpPr txBox="1"/>
          <p:nvPr/>
        </p:nvSpPr>
        <p:spPr>
          <a:xfrm>
            <a:off x="1874520" y="5468112"/>
            <a:ext cx="4069080" cy="777240"/>
          </a:xfrm>
          <a:prstGeom prst="rect">
            <a:avLst/>
          </a:prstGeom>
          <a:noFill/>
        </p:spPr>
        <p:txBody>
          <a:bodyPr wrap="square">
            <a:spAutoFit/>
          </a:bodyPr>
          <a:lstStyle/>
          <a:p>
            <a:pPr algn="l">
              <a:defRPr sz="1150" b="0" i="1">
                <a:solidFill>
                  <a:srgbClr val="264653"/>
                </a:solidFill>
                <a:latin typeface="Calibri"/>
              </a:defRPr>
            </a:pPr>
            <a:r>
              <a:t>Postmodern apoteoz — yangi diskursiv strategiyalar kerak</a:t>
            </a:r>
          </a:p>
        </p:txBody>
      </p:sp>
      <p:sp>
        <p:nvSpPr>
          <p:cNvPr id="38" name="Rounded Rectangle 37"/>
          <p:cNvSpPr/>
          <p:nvPr/>
        </p:nvSpPr>
        <p:spPr>
          <a:xfrm>
            <a:off x="6126480" y="5303520"/>
            <a:ext cx="5669280" cy="1005840"/>
          </a:xfrm>
          <a:prstGeom prst="roundRect">
            <a:avLst/>
          </a:prstGeom>
          <a:solidFill>
            <a:srgbClr val="FFFFFF"/>
          </a:solidFill>
          <a:ln w="19050">
            <a:solidFill>
              <a:srgbClr val="1D3B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263640" y="5440680"/>
            <a:ext cx="1280160" cy="411480"/>
          </a:xfrm>
          <a:prstGeom prst="round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5504688"/>
            <a:ext cx="1280160" cy="365760"/>
          </a:xfrm>
          <a:prstGeom prst="rect">
            <a:avLst/>
          </a:prstGeom>
          <a:noFill/>
        </p:spPr>
        <p:txBody>
          <a:bodyPr wrap="square">
            <a:spAutoFit/>
          </a:bodyPr>
          <a:lstStyle/>
          <a:p>
            <a:pPr algn="ctr">
              <a:defRPr sz="1200" b="1" i="0">
                <a:solidFill>
                  <a:srgbClr val="FFFFFF"/>
                </a:solidFill>
                <a:latin typeface="Calibri"/>
              </a:defRPr>
            </a:pPr>
            <a:r>
              <a:t>M. Castells</a:t>
            </a:r>
          </a:p>
        </p:txBody>
      </p:sp>
      <p:sp>
        <p:nvSpPr>
          <p:cNvPr id="41" name="TextBox 40"/>
          <p:cNvSpPr txBox="1"/>
          <p:nvPr/>
        </p:nvSpPr>
        <p:spPr>
          <a:xfrm>
            <a:off x="7635240" y="5468112"/>
            <a:ext cx="4069080" cy="777240"/>
          </a:xfrm>
          <a:prstGeom prst="rect">
            <a:avLst/>
          </a:prstGeom>
          <a:noFill/>
        </p:spPr>
        <p:txBody>
          <a:bodyPr wrap="square">
            <a:spAutoFit/>
          </a:bodyPr>
          <a:lstStyle/>
          <a:p>
            <a:pPr algn="l">
              <a:defRPr sz="1150" b="0" i="1">
                <a:solidFill>
                  <a:srgbClr val="264653"/>
                </a:solidFill>
                <a:latin typeface="Calibri"/>
              </a:defRPr>
            </a:pPr>
            <a:r>
              <a:t>Tarmoq jamiyati nazariyasi — muqobil va konstruktivroq</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VIRTUAL REALLIK VA INSONIY BEGONALASHUV</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14 / 15</a:t>
            </a:r>
          </a:p>
        </p:txBody>
      </p:sp>
      <p:sp>
        <p:nvSpPr>
          <p:cNvPr id="7" name="Rectangle 6"/>
          <p:cNvSpPr/>
          <p:nvPr/>
        </p:nvSpPr>
        <p:spPr>
          <a:xfrm>
            <a:off x="0" y="6537960"/>
            <a:ext cx="12191695" cy="3200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none">
            <a:spAutoFit/>
          </a:bodyPr>
          <a:lstStyle/>
          <a:p>
            <a:pPr>
              <a:defRPr sz="1000" i="1">
                <a:solidFill>
                  <a:srgbClr val="E9C46A"/>
                </a:solidFill>
              </a:defRPr>
            </a:pPr>
            <a:r>
              <a:t>Jan Bodriyar g'oyalari asosida virtual reallik va axloqiy muammolar tahlili</a:t>
            </a:r>
          </a:p>
        </p:txBody>
      </p:sp>
      <p:pic>
        <p:nvPicPr>
          <p:cNvPr id="9" name="Picture 8" descr="chart5_alienation.png"/>
          <p:cNvPicPr>
            <a:picLocks noChangeAspect="1"/>
          </p:cNvPicPr>
          <p:nvPr/>
        </p:nvPicPr>
        <p:blipFill>
          <a:blip r:embed="rId2"/>
          <a:stretch>
            <a:fillRect/>
          </a:stretch>
        </p:blipFill>
        <p:spPr>
          <a:xfrm>
            <a:off x="182880" y="914400"/>
            <a:ext cx="6858000" cy="4937760"/>
          </a:xfrm>
          <a:prstGeom prst="rect">
            <a:avLst/>
          </a:prstGeom>
        </p:spPr>
      </p:pic>
      <p:sp>
        <p:nvSpPr>
          <p:cNvPr id="10" name="TextBox 9"/>
          <p:cNvSpPr txBox="1"/>
          <p:nvPr/>
        </p:nvSpPr>
        <p:spPr>
          <a:xfrm>
            <a:off x="7223760" y="960120"/>
            <a:ext cx="4754880" cy="365760"/>
          </a:xfrm>
          <a:prstGeom prst="rect">
            <a:avLst/>
          </a:prstGeom>
          <a:noFill/>
        </p:spPr>
        <p:txBody>
          <a:bodyPr wrap="square">
            <a:spAutoFit/>
          </a:bodyPr>
          <a:lstStyle/>
          <a:p>
            <a:pPr algn="l">
              <a:defRPr sz="1300" b="1" i="0">
                <a:solidFill>
                  <a:srgbClr val="1D3B5C"/>
                </a:solidFill>
                <a:latin typeface="Calibri"/>
              </a:defRPr>
            </a:pPr>
            <a:r>
              <a:t>RAQAMLI BEGONALASHUV TIPOLOGIYASI</a:t>
            </a:r>
          </a:p>
        </p:txBody>
      </p:sp>
      <p:sp>
        <p:nvSpPr>
          <p:cNvPr id="11" name="TextBox 10"/>
          <p:cNvSpPr txBox="1"/>
          <p:nvPr/>
        </p:nvSpPr>
        <p:spPr>
          <a:xfrm>
            <a:off x="7315200" y="1417320"/>
            <a:ext cx="4572000" cy="292608"/>
          </a:xfrm>
          <a:prstGeom prst="rect">
            <a:avLst/>
          </a:prstGeom>
          <a:noFill/>
        </p:spPr>
        <p:txBody>
          <a:bodyPr wrap="square">
            <a:spAutoFit/>
          </a:bodyPr>
          <a:lstStyle/>
          <a:p>
            <a:pPr algn="l">
              <a:defRPr sz="1200" b="1" i="0">
                <a:solidFill>
                  <a:srgbClr val="C73E1D"/>
                </a:solidFill>
                <a:latin typeface="Calibri"/>
              </a:defRPr>
            </a:pPr>
            <a:r>
              <a:t>■  Onto-begonalashuv:</a:t>
            </a:r>
          </a:p>
        </p:txBody>
      </p:sp>
      <p:sp>
        <p:nvSpPr>
          <p:cNvPr id="12" name="TextBox 11"/>
          <p:cNvSpPr txBox="1"/>
          <p:nvPr/>
        </p:nvSpPr>
        <p:spPr>
          <a:xfrm>
            <a:off x="7589520" y="1691640"/>
            <a:ext cx="4297680" cy="594360"/>
          </a:xfrm>
          <a:prstGeom prst="rect">
            <a:avLst/>
          </a:prstGeom>
          <a:noFill/>
        </p:spPr>
        <p:txBody>
          <a:bodyPr wrap="square">
            <a:spAutoFit/>
          </a:bodyPr>
          <a:lstStyle/>
          <a:p>
            <a:pPr algn="l">
              <a:defRPr sz="1050" b="0" i="1">
                <a:solidFill>
                  <a:srgbClr val="264653"/>
                </a:solidFill>
                <a:latin typeface="Calibri"/>
              </a:defRPr>
            </a:pPr>
            <a:r>
              <a:t>O'z mavjudligidan uzilish.</a:t>
            </a:r>
            <a:br/>
            <a:r>
              <a:t>Avatar — chinakam «men»dan ustun</a:t>
            </a:r>
          </a:p>
        </p:txBody>
      </p:sp>
      <p:sp>
        <p:nvSpPr>
          <p:cNvPr id="13" name="TextBox 12"/>
          <p:cNvSpPr txBox="1"/>
          <p:nvPr/>
        </p:nvSpPr>
        <p:spPr>
          <a:xfrm>
            <a:off x="7315200" y="2331720"/>
            <a:ext cx="4572000" cy="292608"/>
          </a:xfrm>
          <a:prstGeom prst="rect">
            <a:avLst/>
          </a:prstGeom>
          <a:noFill/>
        </p:spPr>
        <p:txBody>
          <a:bodyPr wrap="square">
            <a:spAutoFit/>
          </a:bodyPr>
          <a:lstStyle/>
          <a:p>
            <a:pPr algn="l">
              <a:defRPr sz="1200" b="1" i="0">
                <a:solidFill>
                  <a:srgbClr val="C73E1D"/>
                </a:solidFill>
                <a:latin typeface="Calibri"/>
              </a:defRPr>
            </a:pPr>
            <a:r>
              <a:t>■  Aksiologik begonalashuv:</a:t>
            </a:r>
          </a:p>
        </p:txBody>
      </p:sp>
      <p:sp>
        <p:nvSpPr>
          <p:cNvPr id="14" name="TextBox 13"/>
          <p:cNvSpPr txBox="1"/>
          <p:nvPr/>
        </p:nvSpPr>
        <p:spPr>
          <a:xfrm>
            <a:off x="7589520" y="2606039"/>
            <a:ext cx="4297680" cy="594360"/>
          </a:xfrm>
          <a:prstGeom prst="rect">
            <a:avLst/>
          </a:prstGeom>
          <a:noFill/>
        </p:spPr>
        <p:txBody>
          <a:bodyPr wrap="square">
            <a:spAutoFit/>
          </a:bodyPr>
          <a:lstStyle/>
          <a:p>
            <a:pPr algn="l">
              <a:defRPr sz="1050" b="0" i="1">
                <a:solidFill>
                  <a:srgbClr val="264653"/>
                </a:solidFill>
                <a:latin typeface="Calibri"/>
              </a:defRPr>
            </a:pPr>
            <a:r>
              <a:t>Qadriyatlar orientatsiyasini</a:t>
            </a:r>
            <a:br/>
            <a:r>
              <a:t>yo'qotish, axloqiy relyativizm</a:t>
            </a:r>
          </a:p>
        </p:txBody>
      </p:sp>
      <p:sp>
        <p:nvSpPr>
          <p:cNvPr id="15" name="TextBox 14"/>
          <p:cNvSpPr txBox="1"/>
          <p:nvPr/>
        </p:nvSpPr>
        <p:spPr>
          <a:xfrm>
            <a:off x="7315200" y="3246120"/>
            <a:ext cx="4572000" cy="292608"/>
          </a:xfrm>
          <a:prstGeom prst="rect">
            <a:avLst/>
          </a:prstGeom>
          <a:noFill/>
        </p:spPr>
        <p:txBody>
          <a:bodyPr wrap="square">
            <a:spAutoFit/>
          </a:bodyPr>
          <a:lstStyle/>
          <a:p>
            <a:pPr algn="l">
              <a:defRPr sz="1200" b="1" i="0">
                <a:solidFill>
                  <a:srgbClr val="C73E1D"/>
                </a:solidFill>
                <a:latin typeface="Calibri"/>
              </a:defRPr>
            </a:pPr>
            <a:r>
              <a:t>■  Kommunikativ begonalashuv:</a:t>
            </a:r>
          </a:p>
        </p:txBody>
      </p:sp>
      <p:sp>
        <p:nvSpPr>
          <p:cNvPr id="16" name="TextBox 15"/>
          <p:cNvSpPr txBox="1"/>
          <p:nvPr/>
        </p:nvSpPr>
        <p:spPr>
          <a:xfrm>
            <a:off x="7589520" y="3520439"/>
            <a:ext cx="4297680" cy="594360"/>
          </a:xfrm>
          <a:prstGeom prst="rect">
            <a:avLst/>
          </a:prstGeom>
          <a:noFill/>
        </p:spPr>
        <p:txBody>
          <a:bodyPr wrap="square">
            <a:spAutoFit/>
          </a:bodyPr>
          <a:lstStyle/>
          <a:p>
            <a:pPr algn="l">
              <a:defRPr sz="1050" b="0" i="1">
                <a:solidFill>
                  <a:srgbClr val="264653"/>
                </a:solidFill>
                <a:latin typeface="Calibri"/>
              </a:defRPr>
            </a:pPr>
            <a:r>
              <a:t>Boshqalarsiz «do'stlik» —</a:t>
            </a:r>
            <a:br/>
            <a:r>
              <a:t>emoji va laykning fonologiyasi</a:t>
            </a:r>
          </a:p>
        </p:txBody>
      </p:sp>
      <p:sp>
        <p:nvSpPr>
          <p:cNvPr id="17" name="TextBox 16"/>
          <p:cNvSpPr txBox="1"/>
          <p:nvPr/>
        </p:nvSpPr>
        <p:spPr>
          <a:xfrm>
            <a:off x="7315200" y="4160520"/>
            <a:ext cx="4572000" cy="292608"/>
          </a:xfrm>
          <a:prstGeom prst="rect">
            <a:avLst/>
          </a:prstGeom>
          <a:noFill/>
        </p:spPr>
        <p:txBody>
          <a:bodyPr wrap="square">
            <a:spAutoFit/>
          </a:bodyPr>
          <a:lstStyle/>
          <a:p>
            <a:pPr algn="l">
              <a:defRPr sz="1200" b="1" i="0">
                <a:solidFill>
                  <a:srgbClr val="C73E1D"/>
                </a:solidFill>
                <a:latin typeface="Calibri"/>
              </a:defRPr>
            </a:pPr>
            <a:r>
              <a:t>■  Temporal begonalashuv:</a:t>
            </a:r>
          </a:p>
        </p:txBody>
      </p:sp>
      <p:sp>
        <p:nvSpPr>
          <p:cNvPr id="18" name="TextBox 17"/>
          <p:cNvSpPr txBox="1"/>
          <p:nvPr/>
        </p:nvSpPr>
        <p:spPr>
          <a:xfrm>
            <a:off x="7589520" y="4434840"/>
            <a:ext cx="4297680" cy="594360"/>
          </a:xfrm>
          <a:prstGeom prst="rect">
            <a:avLst/>
          </a:prstGeom>
          <a:noFill/>
        </p:spPr>
        <p:txBody>
          <a:bodyPr wrap="square">
            <a:spAutoFit/>
          </a:bodyPr>
          <a:lstStyle/>
          <a:p>
            <a:pPr algn="l">
              <a:defRPr sz="1050" b="0" i="1">
                <a:solidFill>
                  <a:srgbClr val="264653"/>
                </a:solidFill>
                <a:latin typeface="Calibri"/>
              </a:defRPr>
            </a:pPr>
            <a:r>
              <a:t>Chinakam vaqtdan tushish —</a:t>
            </a:r>
            <a:br/>
            <a:r>
              <a:t>cheksiz «hozir» (real-time)</a:t>
            </a:r>
          </a:p>
        </p:txBody>
      </p:sp>
      <p:sp>
        <p:nvSpPr>
          <p:cNvPr id="19" name="TextBox 18"/>
          <p:cNvSpPr txBox="1"/>
          <p:nvPr/>
        </p:nvSpPr>
        <p:spPr>
          <a:xfrm>
            <a:off x="7315200" y="5074920"/>
            <a:ext cx="4572000" cy="292608"/>
          </a:xfrm>
          <a:prstGeom prst="rect">
            <a:avLst/>
          </a:prstGeom>
          <a:noFill/>
        </p:spPr>
        <p:txBody>
          <a:bodyPr wrap="square">
            <a:spAutoFit/>
          </a:bodyPr>
          <a:lstStyle/>
          <a:p>
            <a:pPr algn="l">
              <a:defRPr sz="1200" b="1" i="0">
                <a:solidFill>
                  <a:srgbClr val="C73E1D"/>
                </a:solidFill>
                <a:latin typeface="Calibri"/>
              </a:defRPr>
            </a:pPr>
            <a:r>
              <a:t>■  Tana begonalashuvi:</a:t>
            </a:r>
          </a:p>
        </p:txBody>
      </p:sp>
      <p:sp>
        <p:nvSpPr>
          <p:cNvPr id="20" name="TextBox 19"/>
          <p:cNvSpPr txBox="1"/>
          <p:nvPr/>
        </p:nvSpPr>
        <p:spPr>
          <a:xfrm>
            <a:off x="7589520" y="5349240"/>
            <a:ext cx="4297680" cy="594360"/>
          </a:xfrm>
          <a:prstGeom prst="rect">
            <a:avLst/>
          </a:prstGeom>
          <a:noFill/>
        </p:spPr>
        <p:txBody>
          <a:bodyPr wrap="square">
            <a:spAutoFit/>
          </a:bodyPr>
          <a:lstStyle/>
          <a:p>
            <a:pPr algn="l">
              <a:defRPr sz="1050" b="0" i="1">
                <a:solidFill>
                  <a:srgbClr val="264653"/>
                </a:solidFill>
                <a:latin typeface="Calibri"/>
              </a:defRPr>
            </a:pPr>
            <a:r>
              <a:t>Jismoniy tanani inkor etish,</a:t>
            </a:r>
            <a:br/>
            <a:r>
              <a:t>sof raqamli ekzistensiya orzu</a:t>
            </a:r>
          </a:p>
        </p:txBody>
      </p:sp>
      <p:sp>
        <p:nvSpPr>
          <p:cNvPr id="21" name="Rounded Rectangle 20"/>
          <p:cNvSpPr/>
          <p:nvPr/>
        </p:nvSpPr>
        <p:spPr>
          <a:xfrm>
            <a:off x="365760" y="5943600"/>
            <a:ext cx="1143000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989320"/>
            <a:ext cx="11064240" cy="411480"/>
          </a:xfrm>
          <a:prstGeom prst="rect">
            <a:avLst/>
          </a:prstGeom>
          <a:noFill/>
        </p:spPr>
        <p:txBody>
          <a:bodyPr wrap="square">
            <a:spAutoFit/>
          </a:bodyPr>
          <a:lstStyle/>
          <a:p>
            <a:pPr algn="ctr">
              <a:defRPr sz="1250" b="1" i="0">
                <a:solidFill>
                  <a:srgbClr val="FFFFFF"/>
                </a:solidFill>
                <a:latin typeface="Calibri"/>
              </a:defRPr>
            </a:pPr>
            <a:r>
              <a:t>MUQOBIL YO'L: «Onglilik bilan virtuallashuv» — tanqidiy yondashuv, raqamli detoks va onto-axloqiy ta'lim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1D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548640"/>
          </a:xfrm>
          <a:prstGeom prst="rect">
            <a:avLst/>
          </a:prstGeom>
          <a:noFill/>
        </p:spPr>
        <p:txBody>
          <a:bodyPr wrap="none" lIns="0" tIns="0">
            <a:spAutoFit/>
          </a:bodyPr>
          <a:lstStyle/>
          <a:p>
            <a:pPr>
              <a:defRPr sz="2400" b="1">
                <a:solidFill>
                  <a:srgbClr val="FFFFFF"/>
                </a:solidFill>
                <a:latin typeface="Calibri"/>
              </a:defRPr>
            </a:pPr>
            <a:r>
              <a:t>XULOSA: TADQIQOTNING ASOSIY NATIJALARI</a:t>
            </a:r>
          </a:p>
        </p:txBody>
      </p:sp>
      <p:sp>
        <p:nvSpPr>
          <p:cNvPr id="6" name="TextBox 5"/>
          <p:cNvSpPr txBox="1"/>
          <p:nvPr/>
        </p:nvSpPr>
        <p:spPr>
          <a:xfrm>
            <a:off x="10972800" y="228600"/>
            <a:ext cx="1097280" cy="365760"/>
          </a:xfrm>
          <a:prstGeom prst="rect">
            <a:avLst/>
          </a:prstGeom>
          <a:noFill/>
        </p:spPr>
        <p:txBody>
          <a:bodyPr wrap="none" lIns="0">
            <a:spAutoFit/>
          </a:bodyPr>
          <a:lstStyle/>
          <a:p>
            <a:pPr algn="r">
              <a:defRPr sz="1300" b="1">
                <a:solidFill>
                  <a:srgbClr val="E9C46A"/>
                </a:solidFill>
              </a:defRPr>
            </a:pPr>
            <a:r>
              <a:t>15 / 15</a:t>
            </a:r>
          </a:p>
        </p:txBody>
      </p:sp>
      <p:sp>
        <p:nvSpPr>
          <p:cNvPr id="7" name="Rectangle 6"/>
          <p:cNvSpPr/>
          <p:nvPr/>
        </p:nvSpPr>
        <p:spPr>
          <a:xfrm>
            <a:off x="0" y="6537960"/>
            <a:ext cx="12191695" cy="32004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65392"/>
            <a:ext cx="11430000" cy="274320"/>
          </a:xfrm>
          <a:prstGeom prst="rect">
            <a:avLst/>
          </a:prstGeom>
          <a:noFill/>
        </p:spPr>
        <p:txBody>
          <a:bodyPr wrap="square">
            <a:spAutoFit/>
          </a:bodyPr>
          <a:lstStyle/>
          <a:p>
            <a:pPr algn="ctr">
              <a:defRPr sz="1200" b="1" i="0">
                <a:solidFill>
                  <a:srgbClr val="1D3B5C"/>
                </a:solidFill>
                <a:latin typeface="Calibri"/>
              </a:defRPr>
            </a:pPr>
            <a:r>
              <a:t>E'TIBORINGIZ UCHUN RAHMAT!  |  THANK YOU FOR YOUR ATTENTION!</a:t>
            </a:r>
          </a:p>
        </p:txBody>
      </p:sp>
      <p:sp>
        <p:nvSpPr>
          <p:cNvPr id="9" name="TextBox 8"/>
          <p:cNvSpPr txBox="1"/>
          <p:nvPr/>
        </p:nvSpPr>
        <p:spPr>
          <a:xfrm>
            <a:off x="365760" y="960120"/>
            <a:ext cx="11430000" cy="365760"/>
          </a:xfrm>
          <a:prstGeom prst="rect">
            <a:avLst/>
          </a:prstGeom>
          <a:noFill/>
        </p:spPr>
        <p:txBody>
          <a:bodyPr wrap="square">
            <a:spAutoFit/>
          </a:bodyPr>
          <a:lstStyle/>
          <a:p>
            <a:pPr algn="l">
              <a:defRPr sz="1600" b="1" i="0">
                <a:solidFill>
                  <a:srgbClr val="E9C46A"/>
                </a:solidFill>
                <a:latin typeface="Calibri"/>
              </a:defRPr>
            </a:pPr>
            <a:r>
              <a:t>ASOSIY ILMIY NATIJALAR:</a:t>
            </a:r>
          </a:p>
        </p:txBody>
      </p:sp>
      <p:sp>
        <p:nvSpPr>
          <p:cNvPr id="10" name="Oval 9"/>
          <p:cNvSpPr/>
          <p:nvPr/>
        </p:nvSpPr>
        <p:spPr>
          <a:xfrm>
            <a:off x="457200" y="1417320"/>
            <a:ext cx="457200" cy="457200"/>
          </a:xfrm>
          <a:prstGeom prst="ellipse">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63040"/>
            <a:ext cx="457200" cy="365760"/>
          </a:xfrm>
          <a:prstGeom prst="rect">
            <a:avLst/>
          </a:prstGeom>
          <a:noFill/>
        </p:spPr>
        <p:txBody>
          <a:bodyPr wrap="square">
            <a:spAutoFit/>
          </a:bodyPr>
          <a:lstStyle/>
          <a:p>
            <a:pPr algn="ctr">
              <a:defRPr sz="1400" b="1" i="0">
                <a:solidFill>
                  <a:srgbClr val="1D3B5C"/>
                </a:solidFill>
                <a:latin typeface="Calibri"/>
              </a:defRPr>
            </a:pPr>
            <a:r>
              <a:t>1.</a:t>
            </a:r>
          </a:p>
        </p:txBody>
      </p:sp>
      <p:sp>
        <p:nvSpPr>
          <p:cNvPr id="12" name="TextBox 11"/>
          <p:cNvSpPr txBox="1"/>
          <p:nvPr/>
        </p:nvSpPr>
        <p:spPr>
          <a:xfrm>
            <a:off x="1051560" y="1463040"/>
            <a:ext cx="10698480" cy="777240"/>
          </a:xfrm>
          <a:prstGeom prst="rect">
            <a:avLst/>
          </a:prstGeom>
          <a:noFill/>
        </p:spPr>
        <p:txBody>
          <a:bodyPr wrap="square">
            <a:spAutoFit/>
          </a:bodyPr>
          <a:lstStyle/>
          <a:p>
            <a:pPr algn="l">
              <a:defRPr sz="1200" b="0" i="0">
                <a:solidFill>
                  <a:srgbClr val="FFFFFF"/>
                </a:solidFill>
                <a:latin typeface="Calibri"/>
              </a:defRPr>
            </a:pPr>
            <a:r>
              <a:t>Bodriyar simulyakr nazariyasi XXI asr raqamli muhitining ontologik strukturasini tushunish uchun yetakchi falsafiy paradigma sifatida tasdiqlandi.</a:t>
            </a:r>
          </a:p>
        </p:txBody>
      </p:sp>
      <p:sp>
        <p:nvSpPr>
          <p:cNvPr id="13" name="Oval 12"/>
          <p:cNvSpPr/>
          <p:nvPr/>
        </p:nvSpPr>
        <p:spPr>
          <a:xfrm>
            <a:off x="457200" y="2331720"/>
            <a:ext cx="457200" cy="457200"/>
          </a:xfrm>
          <a:prstGeom prst="ellipse">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377439"/>
            <a:ext cx="457200" cy="365760"/>
          </a:xfrm>
          <a:prstGeom prst="rect">
            <a:avLst/>
          </a:prstGeom>
          <a:noFill/>
        </p:spPr>
        <p:txBody>
          <a:bodyPr wrap="square">
            <a:spAutoFit/>
          </a:bodyPr>
          <a:lstStyle/>
          <a:p>
            <a:pPr algn="ctr">
              <a:defRPr sz="1400" b="1" i="0">
                <a:solidFill>
                  <a:srgbClr val="1D3B5C"/>
                </a:solidFill>
                <a:latin typeface="Calibri"/>
              </a:defRPr>
            </a:pPr>
            <a:r>
              <a:t>2.</a:t>
            </a:r>
          </a:p>
        </p:txBody>
      </p:sp>
      <p:sp>
        <p:nvSpPr>
          <p:cNvPr id="15" name="TextBox 14"/>
          <p:cNvSpPr txBox="1"/>
          <p:nvPr/>
        </p:nvSpPr>
        <p:spPr>
          <a:xfrm>
            <a:off x="1051560" y="2377439"/>
            <a:ext cx="10698480" cy="777240"/>
          </a:xfrm>
          <a:prstGeom prst="rect">
            <a:avLst/>
          </a:prstGeom>
          <a:noFill/>
        </p:spPr>
        <p:txBody>
          <a:bodyPr wrap="square">
            <a:spAutoFit/>
          </a:bodyPr>
          <a:lstStyle/>
          <a:p>
            <a:pPr algn="l">
              <a:defRPr sz="1200" b="0" i="0">
                <a:solidFill>
                  <a:srgbClr val="FFFFFF"/>
                </a:solidFill>
                <a:latin typeface="Calibri"/>
              </a:defRPr>
            </a:pPr>
            <a:r>
              <a:t>Virtual reallik IV-bosqich simulyakri sifatida ontologik avtonomiyaga ega bo'lib, asl haqiqatga muhtoj bo'lmagan holda mustaqil reallik yaratadi.</a:t>
            </a:r>
          </a:p>
        </p:txBody>
      </p:sp>
      <p:sp>
        <p:nvSpPr>
          <p:cNvPr id="16" name="Oval 15"/>
          <p:cNvSpPr/>
          <p:nvPr/>
        </p:nvSpPr>
        <p:spPr>
          <a:xfrm>
            <a:off x="457200" y="3246120"/>
            <a:ext cx="457200" cy="457200"/>
          </a:xfrm>
          <a:prstGeom prst="ellipse">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291839"/>
            <a:ext cx="457200" cy="365760"/>
          </a:xfrm>
          <a:prstGeom prst="rect">
            <a:avLst/>
          </a:prstGeom>
          <a:noFill/>
        </p:spPr>
        <p:txBody>
          <a:bodyPr wrap="square">
            <a:spAutoFit/>
          </a:bodyPr>
          <a:lstStyle/>
          <a:p>
            <a:pPr algn="ctr">
              <a:defRPr sz="1400" b="1" i="0">
                <a:solidFill>
                  <a:srgbClr val="1D3B5C"/>
                </a:solidFill>
                <a:latin typeface="Calibri"/>
              </a:defRPr>
            </a:pPr>
            <a:r>
              <a:t>3.</a:t>
            </a:r>
          </a:p>
        </p:txBody>
      </p:sp>
      <p:sp>
        <p:nvSpPr>
          <p:cNvPr id="18" name="TextBox 17"/>
          <p:cNvSpPr txBox="1"/>
          <p:nvPr/>
        </p:nvSpPr>
        <p:spPr>
          <a:xfrm>
            <a:off x="1051560" y="3291839"/>
            <a:ext cx="10698480" cy="777240"/>
          </a:xfrm>
          <a:prstGeom prst="rect">
            <a:avLst/>
          </a:prstGeom>
          <a:noFill/>
        </p:spPr>
        <p:txBody>
          <a:bodyPr wrap="square">
            <a:spAutoFit/>
          </a:bodyPr>
          <a:lstStyle/>
          <a:p>
            <a:pPr algn="l">
              <a:defRPr sz="1200" b="0" i="0">
                <a:solidFill>
                  <a:srgbClr val="FFFFFF"/>
                </a:solidFill>
                <a:latin typeface="Calibri"/>
              </a:defRPr>
            </a:pPr>
            <a:r>
              <a:t>Raqamli giperreallik yangi tipdagi axloqiy dilemmalarni keltirib chiqaradi: avatar paradoksi, algoritmik mas'uliyat, virtual zo'ravonlik va onto-aksiologik begonalashuv.</a:t>
            </a:r>
          </a:p>
        </p:txBody>
      </p:sp>
      <p:sp>
        <p:nvSpPr>
          <p:cNvPr id="19" name="Oval 18"/>
          <p:cNvSpPr/>
          <p:nvPr/>
        </p:nvSpPr>
        <p:spPr>
          <a:xfrm>
            <a:off x="457200" y="4160520"/>
            <a:ext cx="457200" cy="457200"/>
          </a:xfrm>
          <a:prstGeom prst="ellipse">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06240"/>
            <a:ext cx="457200" cy="365760"/>
          </a:xfrm>
          <a:prstGeom prst="rect">
            <a:avLst/>
          </a:prstGeom>
          <a:noFill/>
        </p:spPr>
        <p:txBody>
          <a:bodyPr wrap="square">
            <a:spAutoFit/>
          </a:bodyPr>
          <a:lstStyle/>
          <a:p>
            <a:pPr algn="ctr">
              <a:defRPr sz="1400" b="1" i="0">
                <a:solidFill>
                  <a:srgbClr val="1D3B5C"/>
                </a:solidFill>
                <a:latin typeface="Calibri"/>
              </a:defRPr>
            </a:pPr>
            <a:r>
              <a:t>4.</a:t>
            </a:r>
          </a:p>
        </p:txBody>
      </p:sp>
      <p:sp>
        <p:nvSpPr>
          <p:cNvPr id="21" name="TextBox 20"/>
          <p:cNvSpPr txBox="1"/>
          <p:nvPr/>
        </p:nvSpPr>
        <p:spPr>
          <a:xfrm>
            <a:off x="1051560" y="4206240"/>
            <a:ext cx="10698480" cy="777240"/>
          </a:xfrm>
          <a:prstGeom prst="rect">
            <a:avLst/>
          </a:prstGeom>
          <a:noFill/>
        </p:spPr>
        <p:txBody>
          <a:bodyPr wrap="square">
            <a:spAutoFit/>
          </a:bodyPr>
          <a:lstStyle/>
          <a:p>
            <a:pPr algn="l">
              <a:defRPr sz="1200" b="0" i="0">
                <a:solidFill>
                  <a:srgbClr val="FFFFFF"/>
                </a:solidFill>
                <a:latin typeface="Calibri"/>
              </a:defRPr>
            </a:pPr>
            <a:r>
              <a:t>Bodriyar nazariyasi texno-pessimistik yo'nalishga ega bo'lsa-da, tanqidiy qayta ko'rib chiqilganda Sharq aksiologiyasi bilan boyitiladi va konstruktiv yo'nalish oladi.</a:t>
            </a:r>
          </a:p>
        </p:txBody>
      </p:sp>
      <p:sp>
        <p:nvSpPr>
          <p:cNvPr id="22" name="Oval 21"/>
          <p:cNvSpPr/>
          <p:nvPr/>
        </p:nvSpPr>
        <p:spPr>
          <a:xfrm>
            <a:off x="457200" y="5074920"/>
            <a:ext cx="457200" cy="457200"/>
          </a:xfrm>
          <a:prstGeom prst="ellipse">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120640"/>
            <a:ext cx="457200" cy="365760"/>
          </a:xfrm>
          <a:prstGeom prst="rect">
            <a:avLst/>
          </a:prstGeom>
          <a:noFill/>
        </p:spPr>
        <p:txBody>
          <a:bodyPr wrap="square">
            <a:spAutoFit/>
          </a:bodyPr>
          <a:lstStyle/>
          <a:p>
            <a:pPr algn="ctr">
              <a:defRPr sz="1400" b="1" i="0">
                <a:solidFill>
                  <a:srgbClr val="1D3B5C"/>
                </a:solidFill>
                <a:latin typeface="Calibri"/>
              </a:defRPr>
            </a:pPr>
            <a:r>
              <a:t>5.</a:t>
            </a:r>
          </a:p>
        </p:txBody>
      </p:sp>
      <p:sp>
        <p:nvSpPr>
          <p:cNvPr id="24" name="TextBox 23"/>
          <p:cNvSpPr txBox="1"/>
          <p:nvPr/>
        </p:nvSpPr>
        <p:spPr>
          <a:xfrm>
            <a:off x="1051560" y="5120640"/>
            <a:ext cx="10698480" cy="777240"/>
          </a:xfrm>
          <a:prstGeom prst="rect">
            <a:avLst/>
          </a:prstGeom>
          <a:noFill/>
        </p:spPr>
        <p:txBody>
          <a:bodyPr wrap="square">
            <a:spAutoFit/>
          </a:bodyPr>
          <a:lstStyle/>
          <a:p>
            <a:pPr algn="l">
              <a:defRPr sz="1200" b="0" i="0">
                <a:solidFill>
                  <a:srgbClr val="FFFFFF"/>
                </a:solidFill>
                <a:latin typeface="Calibri"/>
              </a:defRPr>
            </a:pPr>
            <a:r>
              <a:t>Tadqiqot natijasida raqamli muhitda axloqiy ta'lim uchun «onto-aksiologik grammatika» modeli ishlab chiqildi.</a:t>
            </a:r>
          </a:p>
        </p:txBody>
      </p:sp>
      <p:sp>
        <p:nvSpPr>
          <p:cNvPr id="25" name="Rounded Rectangle 24"/>
          <p:cNvSpPr/>
          <p:nvPr/>
        </p:nvSpPr>
        <p:spPr>
          <a:xfrm>
            <a:off x="1371600" y="5989320"/>
            <a:ext cx="9418320" cy="457200"/>
          </a:xfrm>
          <a:prstGeom prst="roundRect">
            <a:avLst/>
          </a:prstGeom>
          <a:solidFill>
            <a:srgbClr val="C73E1D"/>
          </a:solidFill>
          <a:ln w="19050">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6035040"/>
            <a:ext cx="9052560" cy="365760"/>
          </a:xfrm>
          <a:prstGeom prst="rect">
            <a:avLst/>
          </a:prstGeom>
          <a:noFill/>
        </p:spPr>
        <p:txBody>
          <a:bodyPr wrap="square">
            <a:spAutoFit/>
          </a:bodyPr>
          <a:lstStyle/>
          <a:p>
            <a:pPr algn="ctr">
              <a:defRPr sz="1250" b="1" i="1">
                <a:solidFill>
                  <a:srgbClr val="FFFFFF"/>
                </a:solidFill>
                <a:latin typeface="Calibri"/>
              </a:defRPr>
            </a:pPr>
            <a:r>
              <a:t>"Haqiqat shu darajada ko'rinadiki, u endi ko'rinmas." — J. Bodriyar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