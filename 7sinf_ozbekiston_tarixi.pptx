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7-SINF O'ZBEKISTON TARIXI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8962E"/>
                </a:solidFill>
              </a:defRPr>
            </a:pPr>
            <a:r>
              <a:t>IV asrdan XIII asr boshlarigacha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A90D9"/>
                </a:solidFill>
              </a:defRPr>
            </a:pPr>
            <a:r>
              <a:t>O'RTA ASRLAR TARIXI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4572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AA"/>
                </a:solidFill>
              </a:defRPr>
            </a:pPr>
            <a:r>
              <a:t>Darslik: 2017 &amp; 2022 yil nashr</a:t>
            </a:r>
          </a:p>
        </p:txBody>
      </p:sp>
      <p:sp>
        <p:nvSpPr>
          <p:cNvPr id="7" name="Diamond 6"/>
          <p:cNvSpPr/>
          <p:nvPr/>
        </p:nvSpPr>
        <p:spPr>
          <a:xfrm>
            <a:off x="4114800" y="4114800"/>
            <a:ext cx="274320" cy="274320"/>
          </a:xfrm>
          <a:prstGeom prst="diamond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5120640" y="4114800"/>
            <a:ext cx="274320" cy="274320"/>
          </a:xfrm>
          <a:prstGeom prst="diamond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iamond 8"/>
          <p:cNvSpPr/>
          <p:nvPr/>
        </p:nvSpPr>
        <p:spPr>
          <a:xfrm>
            <a:off x="6126480" y="4114800"/>
            <a:ext cx="274320" cy="274320"/>
          </a:xfrm>
          <a:prstGeom prst="diamond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iamond 9"/>
          <p:cNvSpPr/>
          <p:nvPr/>
        </p:nvSpPr>
        <p:spPr>
          <a:xfrm>
            <a:off x="7132320" y="4114800"/>
            <a:ext cx="274320" cy="274320"/>
          </a:xfrm>
          <a:prstGeom prst="diamond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iamond 10"/>
          <p:cNvSpPr/>
          <p:nvPr/>
        </p:nvSpPr>
        <p:spPr>
          <a:xfrm>
            <a:off x="8138160" y="4114800"/>
            <a:ext cx="274320" cy="274320"/>
          </a:xfrm>
          <a:prstGeom prst="diamond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8962E"/>
                </a:solidFill>
              </a:defRPr>
            </a:pPr>
            <a:r>
              <a:t>O'RTA ASRLAR DAVRLASHTIRILISHI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1005840"/>
            <a:ext cx="6400800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0" y="1645920"/>
            <a:ext cx="54864" cy="457200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760720" y="1828800"/>
            <a:ext cx="457200" cy="45720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4A90D9"/>
                </a:solidFill>
              </a:defRPr>
            </a:pPr>
            <a:r>
              <a:t>ILK O'RTA ASRLAR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FFFFFF"/>
                </a:solidFill>
              </a:defRPr>
            </a:pPr>
            <a:r>
              <a:t>IV - VIII asrlar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73736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Bu davrda Xorazm, Xioniylar,</a:t>
            </a:r>
            <a:br/>
            <a:r>
              <a:t>Kidariylar, Eftallar va Turk</a:t>
            </a:r>
            <a:br/>
            <a:r>
              <a:t>xoqonligi hukmronlik qilgan</a:t>
            </a:r>
          </a:p>
        </p:txBody>
      </p:sp>
      <p:sp>
        <p:nvSpPr>
          <p:cNvPr id="9" name="Oval 8"/>
          <p:cNvSpPr/>
          <p:nvPr/>
        </p:nvSpPr>
        <p:spPr>
          <a:xfrm>
            <a:off x="5760720" y="3383280"/>
            <a:ext cx="457200" cy="4572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27AE60"/>
                </a:solidFill>
              </a:defRPr>
            </a:pPr>
            <a:r>
              <a:t>RIVOJLANGAN O'RTA ASRLAR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49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FFFFFF"/>
                </a:solidFill>
              </a:defRPr>
            </a:pPr>
            <a:r>
              <a:t>IX - XV asrlar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29184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Somoniylar, Qoraxoniylar,</a:t>
            </a:r>
            <a:br/>
            <a:r>
              <a:t>Temuriylar davri</a:t>
            </a:r>
          </a:p>
        </p:txBody>
      </p:sp>
      <p:sp>
        <p:nvSpPr>
          <p:cNvPr id="13" name="Oval 12"/>
          <p:cNvSpPr/>
          <p:nvPr/>
        </p:nvSpPr>
        <p:spPr>
          <a:xfrm>
            <a:off x="5760720" y="4937760"/>
            <a:ext cx="457200" cy="45720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846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E67E22"/>
                </a:solidFill>
              </a:defRPr>
            </a:pPr>
            <a:r>
              <a:t>SO'NGGI O'RTA ASRLAR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03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FFFFFF"/>
                </a:solidFill>
              </a:defRPr>
            </a:pPr>
            <a:r>
              <a:t>XVI - XIX asrlar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84632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Shayboniylar, Ashtarxoniylar,</a:t>
            </a:r>
            <a:br/>
            <a:r>
              <a:t>Xonliklar davri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8962E"/>
                </a:solidFill>
              </a:defRPr>
            </a:pPr>
            <a:r>
              <a:t>📌 «O'rta asrlar» tushunchasi tarix faniga italyan tarixchilari tomonidan olib kirilgan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C8962E"/>
                </a:solidFill>
              </a:defRPr>
            </a:pPr>
            <a:r>
              <a:t>IJTIMOIY-IQTISODIY O'ZGARISHLAR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914400"/>
            <a:ext cx="8229600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A90D9"/>
                </a:solidFill>
              </a:defRPr>
            </a:pPr>
            <a:r>
              <a:t>Ilk O'rta Asrlardagi Ijtimoiy Qatlamlar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737360"/>
          <a:ext cx="1033272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4240"/>
                <a:gridCol w="3444240"/>
                <a:gridCol w="344424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QATLAM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VAZIFASI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TAVSIFI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DEHQON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Qishloq hokimi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Ilk o'rta asrlarda mulkdor tabaqa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KASHOVARZ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Ziroatchi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Erkin ziroatchilar tabaqasi, umumiy mulkka ega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KADIVAR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Qaram aholi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Qishloqning dehqonlarga qaram aholisi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CHOKAR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Harbiy posbon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Dehqon mulkini qo'riqlovchi (30-100 kishi)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914400" y="4572000"/>
            <a:ext cx="10332720" cy="1097280"/>
          </a:xfrm>
          <a:prstGeom prst="roundRect">
            <a:avLst/>
          </a:prstGeom>
          <a:solidFill>
            <a:srgbClr val="1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6634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8962E"/>
                </a:solidFill>
              </a:defRPr>
            </a:pPr>
            <a:r>
              <a:t>📋 Muhim ma'lumot: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V asrning o'rtalariga kelib, ekin yerlarining ma'lum qismi mulkdor dehqonlar qo'lida bo'lsa-da,</a:t>
            </a:r>
            <a:br/>
            <a:r>
              <a:t>sug'oriladigan yerlarning asosiy qismi hali ham qishloq jamoalarining qaramog'ida edi.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52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CCEE"/>
                </a:solidFill>
              </a:defRPr>
            </a:pPr>
            <a:r>
              <a:t>Ahmadali Asqarov: «So'nggi antik davrdan boshlangan tub o'zgarishlar shu qadar tez kechdiki,</a:t>
            </a:r>
            <a:br/>
            <a:r>
              <a:t>O'rta Osiyoning dehqonchilik viloyatlarida o'nlab mahalliy hokimliklar tashkil topdi»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8962E"/>
                </a:solidFill>
              </a:defRPr>
            </a:pPr>
            <a:r>
              <a:t>XORAZM DAVLATI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914400"/>
            <a:ext cx="6400800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▸ Poytaxti: Tuproqqal'a (III asr, 25 gektar)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▸ 305-yilda Afrig' Kat shahriga ko'chiradi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▸ Dini: Zardushtiylik (VIII asrgacha)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▸ Hukmronlik ramzlari: Burgut va Lochin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▸ Hukmdor unvoni: Xorazmshoh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▸ Boshqargan sulola: Afrig'iylar (IV-X asrlar)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▸ Sulola asoschisi: Afrig'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▸ Vizantiya va turklar bilan diplomatik aloqalar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188720"/>
            <a:ext cx="5029200" cy="1371600"/>
          </a:xfrm>
          <a:prstGeom prst="roundRect">
            <a:avLst/>
          </a:prstGeom>
          <a:solidFill>
            <a:srgbClr val="153555"/>
          </a:solidFill>
          <a:ln>
            <a:solidFill>
              <a:srgbClr val="C89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962E"/>
                </a:solidFill>
              </a:defRPr>
            </a:pPr>
            <a:r>
              <a:t>📜 Istaxriy: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6459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"Xorazm Jayhunning butun</a:t>
            </a:r>
            <a:br/>
            <a:r>
              <a:t>foydasini ola bilgan mamlakatdir"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2743200"/>
            <a:ext cx="5029200" cy="1645920"/>
          </a:xfrm>
          <a:prstGeom prst="roundRect">
            <a:avLst/>
          </a:prstGeom>
          <a:solidFill>
            <a:srgbClr val="153555"/>
          </a:solidFill>
          <a:ln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90D9"/>
                </a:solidFill>
              </a:defRPr>
            </a:pPr>
            <a:r>
              <a:t>🪙 Tangalar: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32004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Afrig' kumush tangalar zarb qildirdi:</a:t>
            </a:r>
            <a:br/>
            <a:r>
              <a:t>• Old tomon: shoh tasviri</a:t>
            </a:r>
            <a:br/>
            <a:r>
              <a:t>• Orqa tomon: suvoriy tasviri</a:t>
            </a:r>
            <a:br/>
            <a:r>
              <a:t>• Ichki va tashqi savdoda mustaqillik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029200"/>
            <a:ext cx="11247120" cy="1188720"/>
          </a:xfrm>
          <a:prstGeom prst="round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1206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6A085"/>
                </a:solidFill>
              </a:defRPr>
            </a:pPr>
            <a:r>
              <a:t>🌊 Xubbi haqida afsona: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Suv ilohi Xubbi - baliqni quyoshda qovurgan, suvga cho'kganlarni qutqargan.</a:t>
            </a:r>
            <a:br/>
            <a:r>
              <a:t>Xorazmda suv muqaddas hisoblangan, qayiqlar burnida Xubbi onasi haykali o'rnatilgan.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C8962E"/>
                </a:solidFill>
              </a:defRPr>
            </a:pPr>
            <a:r>
              <a:t>XIONIYLAR VA KIDARIYLAR DAVLATLARI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914400"/>
            <a:ext cx="8229600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5669280" cy="5029200"/>
          </a:xfrm>
          <a:prstGeom prst="roundRect">
            <a:avLst/>
          </a:prstGeom>
          <a:solidFill>
            <a:srgbClr val="143250"/>
          </a:solidFill>
          <a:ln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A90D9"/>
                </a:solidFill>
              </a:defRPr>
            </a:pPr>
            <a:r>
              <a:t>XIONIYLAR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Markazi: Toxariston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Hududi: Shimoliy Hindiston, Afg'oniston, Xuroson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Hukmronligi: IV asr 70-yillaridan V asr ikkinchi yarmi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Markazi: Zarafshon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Asli vatani: Orol dengizi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G'arb tarixchilari: "Oq xunnlar"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Zaiflashgan Kushon davlatini egallaganlar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Trever: IV asrning 70-yillarida kuchaygan (120 yil)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669280" cy="5029200"/>
          </a:xfrm>
          <a:prstGeom prst="roundRect">
            <a:avLst/>
          </a:prstGeom>
          <a:solidFill>
            <a:srgbClr val="143250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67E22"/>
                </a:solidFill>
              </a:defRPr>
            </a:pPr>
            <a:r>
              <a:t>KIDARIYLAR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Hukmronligi: V asrning 20-yillaridan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Hududi: Xorazm va Amudaryo, Xioniylar janubi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Hukmdori: Kidar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Poytaxti: Balx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Yuechjilar hukmdori Sidolo Balxga ko'chirgan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Kidar Shimoliy Hindistonga yurish qilgan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Gandhardan shimoldagi 5 davlatni bo'ysundirgan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Gupta davlatini egallab, 75 yil hukmronlik qilgan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</a:defRPr>
            </a:pPr>
            <a:r>
              <a:t>⚔️ Janglar: 456-yilda Kidariylar vs Sosoniylar (Sosoniylar g'alaba) → Kidariylar vs Eftallar (Kidariylar Shimoliy Hindistonga chekinadi)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C8962E"/>
                </a:solidFill>
              </a:defRPr>
            </a:pPr>
            <a:r>
              <a:t>EFTALLAR DAVLATI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914400"/>
            <a:ext cx="6400800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A90D9"/>
                </a:solidFill>
              </a:defRPr>
            </a:pPr>
            <a:r>
              <a:t>V asrning 20-yillaridan VI asrning 70-yillarigacha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XUSUSIYAT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MA'LUMOT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Hududi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O'rta Osiyo, Afg'oniston, Pokiston, Shimoliy Hindiston, Sharqiy Turkiston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Hukmdori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Eftalon (ba'zi manbalarda Vaxshunvar)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Poytaxti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Buxoro yaqinidagi Poykand va Varaxsha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Boshqaruv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Taxt loyiq topilgan shaxsga, otadan bolaga qolmas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Viloyatlar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Mahalliy xonadonlar (sulolalar) boshqargan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Dinlari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Zardushtiylik, Tangrichilik, Buddaviylik, Moniylik, Mazdakiylik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Diplomatiya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456-yilda Xitoyga elchi yuborgan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5212080"/>
            <a:ext cx="11247120" cy="1371600"/>
          </a:xfrm>
          <a:prstGeom prst="roundRect">
            <a:avLst/>
          </a:prstGeom>
          <a:solidFill>
            <a:srgbClr val="153555"/>
          </a:solidFill>
          <a:ln>
            <a:solidFill>
              <a:srgbClr val="C89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962E"/>
                </a:solidFill>
              </a:defRPr>
            </a:pPr>
            <a:r>
              <a:t>📜 Prokopiy Kesariyskiy (Vizantiya tarixchisi):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"Eftaliylar podshosi rimliklar va boshqa podsholardan qolishmaydigan holda aholiga g'amxo'rlik</a:t>
            </a:r>
            <a:br/>
            <a:r>
              <a:t>ko'rsatadi, o'zlari va qo'shnilari bilan bo'lgan munosabatlarda adolat mezonlariga amal qiladi"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C8962E"/>
                </a:solidFill>
              </a:defRPr>
            </a:pPr>
            <a:r>
              <a:t>EFTALLAR: IQTISODIYOT VA MADANIYAT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914400"/>
            <a:ext cx="8229600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5669280" cy="2286000"/>
          </a:xfrm>
          <a:prstGeom prst="roundRect">
            <a:avLst/>
          </a:prstGeom>
          <a:solidFill>
            <a:srgbClr val="122E48"/>
          </a:solidFill>
          <a:ln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A085"/>
                </a:solidFill>
              </a:defRPr>
            </a:pPr>
            <a:r>
              <a:t>💧 SUV INSHOOTLARI (V asr)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Zog'ariq (Zovariq) va Bo'zsuv kanallari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Toshkent vohasi va J.Qozog'istonni suv bilan ta'minlagan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Darg'om kanali - Samarqand viloyati janubiy tumanlarining asosiy suv manbai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669280" cy="2286000"/>
          </a:xfrm>
          <a:prstGeom prst="roundRect">
            <a:avLst/>
          </a:prstGeom>
          <a:solidFill>
            <a:srgbClr val="122E48"/>
          </a:solidFill>
          <a:ln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E44AD"/>
                </a:solidFill>
              </a:defRPr>
            </a:pPr>
            <a:r>
              <a:t>🏺 SHISHASOZLIK (V asr)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O'rta Osiyo shishasi rangdorligi, yarqiroqligi va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tiniqligi jihatidan Vizantiya shishasidan ustun turgan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Xitoy imperatorlari saroylarini bezashda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O'rta Osiyodan keltirilgan rangli shishadan foydalangan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57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8962E"/>
                </a:solidFill>
              </a:defRPr>
            </a:pPr>
            <a:r>
              <a:t>🪙 TANGALAR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4114800"/>
          <a:ext cx="1124712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HUDUD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TANGALAR TAVSIFI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Buxoro Sug'di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O'ng tomoni: hukmdor tasviri (kumush va mis)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Samarqand Sug'di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Orqa tomoni: tik turgan kamonchi tasviri (kumush, V-VI asr)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Naxshab (Qarshi)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O'ng tomoni: podsho bosh qismi (kumush va mis)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Xorazm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Old: hukmdor boshi, Orqa: otliq chavandoz (kumush va mis)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90D9"/>
                </a:solidFill>
              </a:defRPr>
            </a:pPr>
            <a:r>
              <a:t>🏛️ Me'morchilik: Zahoki Maron (Naxshab) | Shahri Vayron (Buxoro) | Fir qal'asi (Xorazm)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8962E"/>
                </a:solidFill>
              </a:defRPr>
            </a:pPr>
            <a:r>
              <a:t>O'RTA ASR SHAHARLARI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914400"/>
            <a:ext cx="6400800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3749039" cy="2011680"/>
          </a:xfrm>
          <a:prstGeom prst="roundRect">
            <a:avLst/>
          </a:prstGeom>
          <a:solidFill>
            <a:srgbClr val="143250"/>
          </a:solidFill>
          <a:ln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A90D9"/>
                </a:solidFill>
              </a:defRPr>
            </a:pPr>
            <a:r>
              <a:t>PANJIKENT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V asrda paydo bo'lgan</a:t>
            </a:r>
            <a:br/>
            <a:r>
              <a:t>18 gektar maydon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280160"/>
            <a:ext cx="3749039" cy="2011680"/>
          </a:xfrm>
          <a:prstGeom prst="roundRect">
            <a:avLst/>
          </a:prstGeom>
          <a:solidFill>
            <a:srgbClr val="14325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3716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7AE60"/>
                </a:solidFill>
              </a:defRPr>
            </a:pPr>
            <a:r>
              <a:t>POYKAND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82880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3 qismli yirik markaz</a:t>
            </a:r>
            <a:br/>
            <a:r>
              <a:t>"Madina at-tujjor" -</a:t>
            </a:r>
            <a:br/>
            <a:r>
              <a:t>Savdogarlar shahri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280160"/>
            <a:ext cx="3749039" cy="2011680"/>
          </a:xfrm>
          <a:prstGeom prst="roundRect">
            <a:avLst/>
          </a:prstGeom>
          <a:solidFill>
            <a:srgbClr val="143250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3716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67E22"/>
                </a:solidFill>
              </a:defRPr>
            </a:pPr>
            <a:r>
              <a:t>BUXORO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182880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IV asrdan yirik madaniy markaz</a:t>
            </a:r>
            <a:br/>
            <a:r>
              <a:t>21 gektar, to'g'ri to'rtburchak</a:t>
            </a:r>
            <a:br/>
            <a:r>
              <a:t>7 ta darvoza, savdo-tranzit yo'li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657600"/>
            <a:ext cx="3749039" cy="2011680"/>
          </a:xfrm>
          <a:prstGeom prst="roundRect">
            <a:avLst/>
          </a:prstGeom>
          <a:solidFill>
            <a:srgbClr val="143250"/>
          </a:solidFill>
          <a:ln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7490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E44AD"/>
                </a:solidFill>
              </a:defRPr>
            </a:pPr>
            <a:r>
              <a:t>TERMIZ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20624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Shaharsozlik rivojlangan</a:t>
            </a:r>
            <a:br/>
            <a:r>
              <a:t>Zartepa - 17 gektar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3657600"/>
            <a:ext cx="3749039" cy="2011680"/>
          </a:xfrm>
          <a:prstGeom prst="roundRect">
            <a:avLst/>
          </a:prstGeom>
          <a:solidFill>
            <a:srgbClr val="143250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37490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0392B"/>
                </a:solidFill>
              </a:defRPr>
            </a:pPr>
            <a:r>
              <a:t>AFROSIYOB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420624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Qadimgi Samarqand xarobalari</a:t>
            </a:r>
            <a:br/>
            <a:r>
              <a:t>Devoriy rasmlar (tempera)</a:t>
            </a:r>
            <a:br/>
            <a:r>
              <a:t>YUNESKO merosi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3657600"/>
            <a:ext cx="3749039" cy="2011680"/>
          </a:xfrm>
          <a:prstGeom prst="roundRect">
            <a:avLst/>
          </a:prstGeom>
          <a:solidFill>
            <a:srgbClr val="143250"/>
          </a:solidFill>
          <a:ln>
            <a:solidFill>
              <a:srgbClr val="C89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374903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8962E"/>
                </a:solidFill>
              </a:defRPr>
            </a:pPr>
            <a:r>
              <a:t>📍 BINKAT (Toshkent)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420624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Ibn Xavqal va Ishtaxriy</a:t>
            </a:r>
            <a:br/>
            <a:r>
              <a:t>qayd etishicha, Binkatning</a:t>
            </a:r>
            <a:br/>
            <a:r>
              <a:t>22 ta darvozasi bo'lgan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CCEE"/>
                </a:solidFill>
              </a:defRPr>
            </a:pPr>
            <a:r>
              <a:t>Xubert Gizen (YUNESKO): «Samarqand – madaniyatlar uchrashadigan makon» (2016)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C8962E"/>
                </a:solidFill>
              </a:defRPr>
            </a:pPr>
            <a:r>
              <a:t>TURK XOQONLIGI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914400"/>
            <a:ext cx="6400800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4A90D9"/>
                </a:solidFill>
              </a:defRPr>
            </a:pPr>
            <a:r>
              <a:t>G'arbiy Sibir va Oltoyda yashagan turkiy qabilalar ittifoqi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858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▸ Markazi: Oltoy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▸ Asoschisi: Bumin (552-yilda Yabg'u unvoni qabul qilgan)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▸ G'arbga yurish: Istami boshchiligida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▸ 555-yilda: Sirdaryo va Orol dengizi bo'ylarini egallash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▸ Eng kuchaygan davr: Oxota dengizidan Qrim yarimoroligacha, Sibirdan Hindistongacha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▸ Davlat mafkurasi: «El» - «Mangu el», «Tangri el», «Turk eli»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▸ Ashina xonadoni hokimiyati ilohiylashtirilgan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▸ Tangri tomonidan faqat Ashina xonadoniga in'om etilgan deb ishonilgan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371600"/>
            <a:ext cx="4389120" cy="3657600"/>
          </a:xfrm>
          <a:prstGeom prst="roundRect">
            <a:avLst/>
          </a:prstGeom>
          <a:solidFill>
            <a:srgbClr val="122E48"/>
          </a:solidFill>
          <a:ln>
            <a:solidFill>
              <a:srgbClr val="C89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0" y="14630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8962E"/>
                </a:solidFill>
              </a:defRPr>
            </a:pPr>
            <a:r>
              <a:t>👑 BOSHQARUV TIZIMI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9202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90D9"/>
                </a:solidFill>
              </a:defRPr>
            </a:pPr>
            <a:r>
              <a:t>▸ XOQON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1945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   Buyuk hukmdor, podshoh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4688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90D9"/>
                </a:solidFill>
              </a:defRPr>
            </a:pPr>
            <a:r>
              <a:t>▸ YABG'U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7432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   Xoqon urug'idan yurt hokimi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0175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90D9"/>
                </a:solidFill>
              </a:defRPr>
            </a:pPr>
            <a:r>
              <a:t>▸ SHOD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2918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   O'n ming qo'shin qo'mondoni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5661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90D9"/>
                </a:solidFill>
              </a:defRPr>
            </a:pPr>
            <a:r>
              <a:t>▸ SHO (SHOH)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8404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   Eftallar davlatida hukmdor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41148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90D9"/>
                </a:solidFill>
              </a:defRPr>
            </a:pPr>
            <a:r>
              <a:t>▸ BUDUN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43891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   Chorvador aholi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5212080"/>
            <a:ext cx="11612880" cy="1371600"/>
          </a:xfrm>
          <a:prstGeom prst="round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30352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0392B"/>
                </a:solidFill>
              </a:defRPr>
            </a:pPr>
            <a:r>
              <a:t>⚖️ TURK QONUNNOMASI: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Davlat yozma qonunchilik hujjatlari bilan boshqarilgan. Samarqandda saqlangan.</a:t>
            </a:r>
            <a:br/>
            <a:r>
              <a:t>Jazolar: qatl etish, a'zolarni kesish, zarar to'lash, mol-mulk tovon to'lash.</a:t>
            </a:r>
            <a:br/>
            <a:r>
              <a:t>O'lim jazosi: davlatga qarshi jinoyat va qasddan odam o'ldirish uchun.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C8962E"/>
                </a:solidFill>
              </a:defRPr>
            </a:pPr>
            <a:r>
              <a:t>TURK XOQONLIGINING BO'LINISHI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914400"/>
            <a:ext cx="8229600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</a:defRPr>
            </a:pPr>
            <a:r>
              <a:t>VI asrning 80-yillari oxirlarida ikkiga bo'linadi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463040"/>
            <a:ext cx="5760720" cy="5029200"/>
          </a:xfrm>
          <a:prstGeom prst="roundRect">
            <a:avLst/>
          </a:prstGeom>
          <a:solidFill>
            <a:srgbClr val="122E48"/>
          </a:solidFill>
          <a:ln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A90D9"/>
                </a:solidFill>
              </a:defRPr>
            </a:pPr>
            <a:r>
              <a:t>G'ARBIY TURK XOQONLIGI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Hududi: Sirdaryo, Amudaryo, Yettisuv, Sharqiy Turkiston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Poytaxt: Yettisuv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VII asrning birinchi choragida taraqqiy etgan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Qarorgohlar: Suyab (Oq bishim), Beshbaliq (Turfan), Ek-tog'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Sharqiy chegarasi Oltoyga, Janubda Sind daryosigacha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Sug'd savdogarlari Xitoyga 9 marta elchi yuborgan (VII asr)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Turk-runiy, Urxun-Yenisey yozuvi qo'llanilgan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Navro'z nishonlangan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760720" cy="5029200"/>
          </a:xfrm>
          <a:prstGeom prst="roundRect">
            <a:avLst/>
          </a:prstGeom>
          <a:solidFill>
            <a:srgbClr val="122E48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67E22"/>
                </a:solidFill>
              </a:defRPr>
            </a:pPr>
            <a:r>
              <a:t>SHARQIY TURK XOQONLIGI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5394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Hududi: Janubiy Sibir, Urxun havzasi (Mo'g'uliston), Shimoliy Xitoy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Markazi: O'tukan vodiysi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Kultegin bitiklari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Bilga xoqon yodnomasi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840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962E"/>
                </a:solidFill>
              </a:defRPr>
            </a:pPr>
            <a:r>
              <a:t>🛤️ IPAK YO'LI NAZORATI: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2062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• Amudaryo → Turklar nazoratida</a:t>
            </a:r>
            <a:br/>
            <a:r>
              <a:t>• Amudaryodan Suriyagacha → Sosoniylar nazoratida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C8962E"/>
                </a:solidFill>
              </a:defRPr>
            </a:pPr>
            <a:r>
              <a:t>TO'N YABG'U ISLOHOTLARI VA EFTALLAR YENGILISHI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914400"/>
            <a:ext cx="8229600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5669280" cy="2743200"/>
          </a:xfrm>
          <a:prstGeom prst="roundRect">
            <a:avLst/>
          </a:prstGeom>
          <a:solidFill>
            <a:srgbClr val="122E48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</a:defRPr>
            </a:pPr>
            <a:r>
              <a:t>📋 TO'N YABG'U (618-630) ISLOHOTLARI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▸ Qaram o'lkalarga vakillari - ELTABAR yubordi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▸ Soliq nazoratini TUDUNLAR orqali amalga oshirdi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▸ Qarorgohini Choch yaqinidagi Mingbuloqqa ko'chirdi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▸ Boshqaruvda islohotlar o'tkazdi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669280" cy="2743200"/>
          </a:xfrm>
          <a:prstGeom prst="roundRect">
            <a:avLst/>
          </a:prstGeom>
          <a:solidFill>
            <a:srgbClr val="122E48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392B"/>
                </a:solidFill>
              </a:defRPr>
            </a:pPr>
            <a:r>
              <a:t>⚔️ EFTALLARNING YENGILISHI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Turklar + Sosoniylar ittifoqi (Xusrav I Anushervon)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Istami Eron shohiga kuyov bo'lgan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563-yil: Turklar eftallar yeriga bostirib kiradi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Choch, Samarqand, Kesh, Naxshab egallangan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8 kunlik shiddatli jangda eftallar yengilgan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484-yil: Eron shohi Pero'z halok bo'lgan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4114800"/>
            <a:ext cx="11612880" cy="2560320"/>
          </a:xfrm>
          <a:prstGeom prst="roundRect">
            <a:avLst/>
          </a:prstGeom>
          <a:solidFill>
            <a:srgbClr val="1A2535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7E22"/>
                </a:solidFill>
              </a:defRPr>
            </a:pPr>
            <a:r>
              <a:t>🔥 ABRUY BOSHCHILIGIDAGI QO'ZG'OLON (585-586)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6634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Buxoroda qashshoqlik, jabr-zulm va dehqonlar asoratiga qarshi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Mulkdor dehqonlar va boy savdogarlar Turkiston va Tarozga qochgan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Qoracho'rin o'g'li Sheri Kishvar (El Arslon) tomonidan bostirilgan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Kadivar va xizmatkorlar o'z xo'jayinlari - dehqonlarga qaytarilgan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Narshaxiy: Hamuket shahri Buxorodan qochgan bosh dehqon Hamuk nomi bilan atalgan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8962E"/>
                </a:solidFill>
              </a:defRPr>
            </a:pPr>
            <a:r>
              <a:t>MAHALLIY HOKIMLIKLAR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914400"/>
            <a:ext cx="6400800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90D9"/>
                </a:solidFill>
              </a:defRPr>
            </a:pPr>
            <a:r>
              <a:t>V-VII asrlarda mamlakat 15 dan ortiq hokimliklarga bo'lingan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5760720" cy="5029200"/>
          </a:xfrm>
          <a:prstGeom prst="roundRect">
            <a:avLst/>
          </a:prstGeom>
          <a:solidFill>
            <a:srgbClr val="122E48"/>
          </a:solidFill>
          <a:ln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A90D9"/>
                </a:solidFill>
              </a:defRPr>
            </a:pPr>
            <a:r>
              <a:t>SUG'D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Panjikentdan Karmanagacha bo'lgan hududlar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Zarafshon va Qashqadaryo vodiylarida 11 ta yirik mulk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Samarqand, Buxoro, Kesh vohalari birlashgan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Hukmdor: Ixshid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Bolalar kaftiga tanga, tiliga asal surtish odati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5 yoshda bilim olishga – xat-savod, hisob-kitob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20 yoshidan savdo ishlariga jalb qilingan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718-yilda Samarqanddan Xitoyga dubulg'a yuborilgan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Buxoro VII asrdan mustaqil mulklar ittifoqi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760720" cy="5029200"/>
          </a:xfrm>
          <a:prstGeom prst="roundRect">
            <a:avLst/>
          </a:prstGeom>
          <a:solidFill>
            <a:srgbClr val="122E48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7AE60"/>
                </a:solidFill>
              </a:defRPr>
            </a:pPr>
            <a:r>
              <a:t>TOXARISTON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Janubiy O'zbekiston, Janubiy Tojikiston, Shimoliy Afg'oniston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Poytaxti: Balx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27 ta tog' va tog'oldi viloyatlari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Savdo: Hindiston, Yaqin va Uzoq Sharq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Hukmdorlari: dastlab malikshoh, keyinchalik yabg'u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Chegaralar: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  Shimol: Hisor tog'lari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  Janub: Hindikush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  G'arb: Murg'ob va Xerirud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  Sharq: Pomir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C8962E"/>
                </a:solidFill>
              </a:defRPr>
            </a:pPr>
            <a:r>
              <a:t>FARG'ONA VA CHOCH HOKIMLIKLARI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914400"/>
            <a:ext cx="8229600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5669280" cy="2560320"/>
          </a:xfrm>
          <a:prstGeom prst="roundRect">
            <a:avLst/>
          </a:prstGeom>
          <a:solidFill>
            <a:srgbClr val="122E48"/>
          </a:solidFill>
          <a:ln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8E44AD"/>
                </a:solidFill>
              </a:defRPr>
            </a:pPr>
            <a:r>
              <a:t>FARG'ONA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▸ Hukmdorlari: Ixshid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▸ Yirik markaziy shaharlari: Koson, Axsikat (Xushkat), Quva (Qubo)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▸ Yilqichilik hududlari: Qurama va Qoramozor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669280" cy="5303520"/>
          </a:xfrm>
          <a:prstGeom prst="roundRect">
            <a:avLst/>
          </a:prstGeom>
          <a:solidFill>
            <a:srgbClr val="122E48"/>
          </a:solidFill>
          <a:ln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6A085"/>
                </a:solidFill>
              </a:defRPr>
            </a:pPr>
            <a:r>
              <a:t>CHOCH (SHOSH)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Markazi: Choch shahri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Hukmdori: Tudun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VI asr 2-yarmidan Turk xoqonligi hukmronligi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Teginlar sulolasi boshqargan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Tegin Tyanchji - Xitoy bilan diplomatik aloqa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Sug'diy yozuv va tilda tanga zarb etilgan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Turkiy til va yozuv ham amal qilgan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"Choch" arablar tomonidan "Shosh" deb nomlangan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Ko'plab diniy konfessiyalar kesishgan mintaqa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Tashqi savdo: Lashkarak kumushi, Tunkat va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  To'qkat metali, moviy feruzalar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31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962E"/>
                </a:solidFill>
              </a:defRPr>
            </a:pPr>
            <a:r>
              <a:t>📊 HUKMDORLAR UNVONLARI: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74320" y="4389120"/>
          <a:ext cx="566928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UNVON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HUDUD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Ixshid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Sug'd va Farg'ona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Malikshoh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Toxariston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Xorazmshoh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Xorazm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Ixrid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Kesh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Xudot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Buxoro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Afshin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Ustrushona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Tudun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Choch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Dehqon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Eloq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C8962E"/>
                </a:solidFill>
              </a:defRPr>
            </a:pPr>
            <a:r>
              <a:t>TURON XALQLARINING HARBIY SAN'ATI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914400"/>
            <a:ext cx="8229600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962E"/>
                </a:solidFill>
              </a:defRPr>
            </a:pPr>
            <a:r>
              <a:t>📜 Arab adibi Johiz "Manoqib al-atrok" asarida: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554480"/>
            <a:ext cx="2743200" cy="1645920"/>
          </a:xfrm>
          <a:prstGeom prst="roundRect">
            <a:avLst/>
          </a:prstGeom>
          <a:solidFill>
            <a:srgbClr val="143250"/>
          </a:solidFill>
          <a:ln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45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A90D9"/>
                </a:solidFill>
              </a:defRPr>
            </a:pPr>
            <a:r>
              <a:t>SOSONIY-FORSLAR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0116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Davlat boshqarish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554480"/>
            <a:ext cx="2743200" cy="1645920"/>
          </a:xfrm>
          <a:prstGeom prst="roundRect">
            <a:avLst/>
          </a:prstGeom>
          <a:solidFill>
            <a:srgbClr val="14325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645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7AE60"/>
                </a:solidFill>
              </a:defRPr>
            </a:pPr>
            <a:r>
              <a:t>TURKLAR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0116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Harbiy san'at va</a:t>
            </a:r>
            <a:br/>
            <a:r>
              <a:t>otdan foydalanish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554480"/>
            <a:ext cx="2743200" cy="1645920"/>
          </a:xfrm>
          <a:prstGeom prst="roundRect">
            <a:avLst/>
          </a:prstGeom>
          <a:solidFill>
            <a:srgbClr val="143250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645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67E22"/>
                </a:solidFill>
              </a:defRPr>
            </a:pPr>
            <a:r>
              <a:t>XITOYLIKLAR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0116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Hunarmandchilik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1554480"/>
            <a:ext cx="2743200" cy="1645920"/>
          </a:xfrm>
          <a:prstGeom prst="roundRect">
            <a:avLst/>
          </a:prstGeom>
          <a:solidFill>
            <a:srgbClr val="143250"/>
          </a:solidFill>
          <a:ln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1645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E44AD"/>
                </a:solidFill>
              </a:defRPr>
            </a:pPr>
            <a:r>
              <a:t>YUNONLAR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0116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Ilm-fan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3383280"/>
            <a:ext cx="5669280" cy="3017520"/>
          </a:xfrm>
          <a:prstGeom prst="roundRect">
            <a:avLst/>
          </a:prstGeom>
          <a:solidFill>
            <a:srgbClr val="122E48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474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</a:defRPr>
            </a:pPr>
            <a:r>
              <a:t>⚔️ TURKLAR KASHFIYOTLARI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84048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Otdan birinchi bo'lib jang vositasida foydalangan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Egar, uzangi, tizginni kashf qilgan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Chinliklar otga minish, uzun qilich, sovut yasashni o'rgangan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Chodir-hammom va kasalxonalarni kashf qilgan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Ularni otda olib yurgan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Umrini otda o'tkazgan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383280"/>
            <a:ext cx="5669280" cy="3017520"/>
          </a:xfrm>
          <a:prstGeom prst="roundRect">
            <a:avLst/>
          </a:prstGeom>
          <a:solidFill>
            <a:srgbClr val="122E48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474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7E22"/>
                </a:solidFill>
              </a:defRPr>
            </a:pPr>
            <a:r>
              <a:t>🛡️ EFTALLAR HARBIY KUCHI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84048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Aksariyati otliqlardan iborat kuchli qo'shin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Asosan gurzilardan foydalangan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Kamon va shamshirlar ham qo'llanilgan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Firdavsiy «Shohnoma»da ular haqida yozgan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Samarqand jangchilari jasur va g'ayratli bo'lgan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Qurollar: qilich, palash (uzun va og'ir), dudama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C8962E"/>
                </a:solidFill>
              </a:defRPr>
            </a:pPr>
            <a:r>
              <a:t>VI-VII ASRLARDA MADANIY HAYOT: YOZUVLAR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914400"/>
            <a:ext cx="8229600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XALQ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YOZUV TURI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ASOSI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XUSUSIYATLARI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Eftallar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Baqtriya yozuvi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Baqtriya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25 ta harf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Toxarlar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Baqtriya yozuvi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Baqtriya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Toxar tili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Sug'diylar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Sug'd yozuvi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Oromiy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Chapdan o'ngga yozilgan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Xorazm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Xorazm yozuvi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Oromiy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Jonbosqal'a, Tuproqqal'a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Turklar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Ko'kturk (runiy)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Turkiy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38-40 harf, toshga o'yilgan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274320" y="3840480"/>
            <a:ext cx="5669280" cy="2560320"/>
          </a:xfrm>
          <a:prstGeom prst="roundRect">
            <a:avLst/>
          </a:prstGeom>
          <a:solidFill>
            <a:srgbClr val="122E48"/>
          </a:solidFill>
          <a:ln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90D9"/>
                </a:solidFill>
              </a:defRPr>
            </a:pPr>
            <a:r>
              <a:t>📝 SUG'D YOZUVI TOPILMALARI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Mug' qal'asi (Panjikent yaqini)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Turfan shahri yaqini (Sharqiy Turkiston)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Afrosiyob (Samarqand xarobasi)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Sug'd-turk ikki tilliligi rasmiy odat bo'lgan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Mahmud Qoshg'ariy «Devonu lug'otit-turk»da qayd etgan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840480"/>
            <a:ext cx="5669280" cy="2560320"/>
          </a:xfrm>
          <a:prstGeom prst="roundRect">
            <a:avLst/>
          </a:prstGeom>
          <a:solidFill>
            <a:srgbClr val="122E48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3931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</a:defRPr>
            </a:pPr>
            <a:r>
              <a:t>📜 TURK RUNIY YOZUVI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38912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38-40 harflardan iborat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Tosh va yog'ochlarga o'yib yozishga qulay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Kultegin va Bilga xoqon bitiklari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Oltoy, Sharqiy Turkiston, Yettisuv, Farg'ona,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Zarafshon vodiylaridan topilgan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Qabrtoshlar, sopol, metall, yog'och, tangalarga bitilgan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8962E"/>
                </a:solidFill>
              </a:defRPr>
            </a:pPr>
            <a:r>
              <a:t>DINLAR VA E'TIQODLAR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914400"/>
            <a:ext cx="6400800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5669280" cy="2011680"/>
          </a:xfrm>
          <a:prstGeom prst="roundRect">
            <a:avLst/>
          </a:prstGeom>
          <a:solidFill>
            <a:srgbClr val="143250"/>
          </a:solidFill>
          <a:ln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A90D9"/>
                </a:solidFill>
              </a:defRPr>
            </a:pPr>
            <a:r>
              <a:t>ZARDUSHTIYLIK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Mil.avv I-ming yillikda tashkil topgan</a:t>
            </a:r>
            <a:br/>
            <a:r>
              <a:t>Ezgu amal, ezgu fikr, ezgu so'z</a:t>
            </a:r>
            <a:br/>
            <a:r>
              <a:t>VIII asrgacha O'rta Osiyoda asosiy din</a:t>
            </a:r>
            <a:br/>
            <a:r>
              <a:t>Ibodatxonalarda mobadlar xizmat qilgan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669280" cy="2011680"/>
          </a:xfrm>
          <a:prstGeom prst="roundRect">
            <a:avLst/>
          </a:prstGeom>
          <a:solidFill>
            <a:srgbClr val="14325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7AE60"/>
                </a:solidFill>
              </a:defRPr>
            </a:pPr>
            <a:r>
              <a:t>TANGRICHILIK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Ko'k Tangriga sig'inuvchi yakka-xudolik</a:t>
            </a:r>
            <a:br/>
            <a:r>
              <a:t>Tangri: yagona, azaliy, abadiy, yaratuvchi</a:t>
            </a:r>
            <a:br/>
            <a:r>
              <a:t>Ko'k rang ilohiy buyuklik ramzi</a:t>
            </a:r>
            <a:br/>
            <a:r>
              <a:t>Qora qashqa ot qurbonlik uchun so'yilgan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3474720"/>
            <a:ext cx="3657600" cy="2011680"/>
          </a:xfrm>
          <a:prstGeom prst="roundRect">
            <a:avLst/>
          </a:prstGeom>
          <a:solidFill>
            <a:srgbClr val="143250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566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67E22"/>
                </a:solidFill>
              </a:defRPr>
            </a:pPr>
            <a:r>
              <a:t>MONIYLIK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3192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Toxaristonda keng tarqalgan</a:t>
            </a:r>
            <a:br/>
            <a:r>
              <a:t>Yorug'lik va zulmat qarama-qarshi</a:t>
            </a:r>
            <a:br/>
            <a:r>
              <a:t>Ibodat, ro'za, sadaqa - din arkoni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3474720"/>
            <a:ext cx="3657600" cy="2011680"/>
          </a:xfrm>
          <a:prstGeom prst="roundRect">
            <a:avLst/>
          </a:prstGeom>
          <a:solidFill>
            <a:srgbClr val="143250"/>
          </a:solidFill>
          <a:ln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3566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E44AD"/>
                </a:solidFill>
              </a:defRPr>
            </a:pPr>
            <a:r>
              <a:t>BUDDAVIYLIK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93192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Viharalarda Daxarma o'qitilgan</a:t>
            </a:r>
            <a:br/>
            <a:r>
              <a:t>Ajinatepa Buddasi - 12 metr</a:t>
            </a:r>
            <a:br/>
            <a:r>
              <a:t>(Qo'rg'ontepa yaqini)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3474720"/>
            <a:ext cx="3657600" cy="2011680"/>
          </a:xfrm>
          <a:prstGeom prst="roundRect">
            <a:avLst/>
          </a:prstGeom>
          <a:solidFill>
            <a:srgbClr val="143250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59" y="3566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0392B"/>
                </a:solidFill>
              </a:defRPr>
            </a:pPr>
            <a:r>
              <a:t>NASRONIYLIK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59" y="393192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V asrda Samarqand va Buxoroda tarqalgan</a:t>
            </a:r>
            <a:br/>
            <a:r>
              <a:t>Urgut tumani - asosiy markaz</a:t>
            </a:r>
            <a:br/>
            <a:r>
              <a:t>Ibodatxonalarda maktablar tashkil etilgan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6A085"/>
                </a:solidFill>
              </a:defRPr>
            </a:pPr>
            <a:r>
              <a:t>🐺 SHOMONLIK: Jon va ruhlarga, ota-bobolar ruhiga sig'inish. Turklarda «qam» deb yuritilgan. Bo'ri ilohiylashtirilgan.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AA44"/>
                </a:solidFill>
              </a:defRPr>
            </a:pPr>
            <a:r>
              <a:t>✡️ ADJI: Tangrichilikda diniy ramz - to'rt tomoni teng bo'lgan salb. Turkiylar peshanalariga qizil rangda chizgan.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8962E"/>
                </a:solidFill>
              </a:defRPr>
            </a:pPr>
            <a:r>
              <a:t>SAN'AT VA MADANIYAT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914400"/>
            <a:ext cx="6400800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5669280" cy="2011680"/>
          </a:xfrm>
          <a:prstGeom prst="roundRect">
            <a:avLst/>
          </a:prstGeom>
          <a:solidFill>
            <a:srgbClr val="122E48"/>
          </a:solidFill>
          <a:ln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A90D9"/>
                </a:solidFill>
              </a:defRPr>
            </a:pPr>
            <a:r>
              <a:t>🎨 DEVORIY RASMLAR (TEMPERA)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Afrosiyob (Qadimgi Samarqand) xarobalarida topilgan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Tuxum sarig'iga rangdor mineral upasi aralashtirib tayyorlangan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Bolaliktepa (Surxon), Panjikent, Varaxsha topilmalari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Quva (Farg'ona) xarobalaridan ham topilgan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669280" cy="2011680"/>
          </a:xfrm>
          <a:prstGeom prst="roundRect">
            <a:avLst/>
          </a:prstGeom>
          <a:solidFill>
            <a:srgbClr val="122E48"/>
          </a:solidFill>
          <a:ln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E44AD"/>
                </a:solidFill>
              </a:defRPr>
            </a:pPr>
            <a:r>
              <a:t>🏺 GANCHKORLIK SAN'ATI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Ilk o'rta asrlar nodir yodgorligi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Varaxsha topilmalari orqali tadqiq etilgan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Haykallar va ganchkor naqshlar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3383280"/>
            <a:ext cx="11612880" cy="1828800"/>
          </a:xfrm>
          <a:prstGeom prst="roundRect">
            <a:avLst/>
          </a:prstGeom>
          <a:solidFill>
            <a:srgbClr val="143250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474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7E22"/>
                </a:solidFill>
              </a:defRPr>
            </a:pPr>
            <a:r>
              <a:t>🎵 MUSIQA VA RAQS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4048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▸ Buxoro qiziqchilari - mashhur artistlar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▸ Buxoroda usta hunarmandlar 10 turdagi cholg'u asboblari yasagan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▸ Samarqand naychilari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▸ Toshkent raqqos yigit va raqqosa qizlari - "Choch raqsi" va "Doira raqsi" Xitoy a'yonlarini maftun etgan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394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CCEE"/>
                </a:solidFill>
              </a:defRPr>
            </a:pPr>
            <a:r>
              <a:t>📌 Yahudiylar Ossuriya quvg'inlaridan Eronga, keyin Samarqand va Buxoroga ko'chib kelgan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5760720"/>
            <a:ext cx="11612880" cy="822960"/>
          </a:xfrm>
          <a:prstGeom prst="roundRect">
            <a:avLst/>
          </a:prstGeom>
          <a:solidFill>
            <a:srgbClr val="1A2535"/>
          </a:solidFill>
          <a:ln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852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🏛️ Zardushtiylik ibodatxonasi (Jonbosqal'a, Tuproqqal'a): qo'sh devorlar bilan qurshalgan,</a:t>
            </a:r>
            <a:br/>
            <a:r>
              <a:t>ichkariga aylanma yo'lagi orqali kiriladigan to'g'ri burchakli bino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C8962E"/>
                </a:solidFill>
              </a:defRPr>
            </a:pPr>
            <a:r>
              <a:t>O'RTA ASRLAR SHAHAR TUZILISHI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914400"/>
            <a:ext cx="8229600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0" y="1371600"/>
            <a:ext cx="3931920" cy="1645920"/>
          </a:xfrm>
          <a:prstGeom prst="roundRect">
            <a:avLst/>
          </a:prstGeom>
          <a:solidFill>
            <a:srgbClr val="143250"/>
          </a:solidFill>
          <a:ln w="25400">
            <a:solidFill>
              <a:srgbClr val="C89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962E"/>
                </a:solidFill>
              </a:defRPr>
            </a:pPr>
            <a:r>
              <a:t>KO'HANDIZ (ARK)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82880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Shaharning hokim qasri</a:t>
            </a:r>
            <a:br/>
            <a:r>
              <a:t>joylashgan qismi</a:t>
            </a:r>
            <a:br/>
            <a:r>
              <a:t>(Ichki qal'a)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3200400"/>
            <a:ext cx="6675120" cy="1645920"/>
          </a:xfrm>
          <a:prstGeom prst="roundRect">
            <a:avLst/>
          </a:prstGeom>
          <a:solidFill>
            <a:srgbClr val="143250"/>
          </a:solidFill>
          <a:ln w="254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3291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90D9"/>
                </a:solidFill>
              </a:defRPr>
            </a:pPr>
            <a:r>
              <a:t>SHAHRISTON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3657600"/>
            <a:ext cx="6126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Shaharning ichki qismi</a:t>
            </a:r>
            <a:br/>
            <a:r>
              <a:t>(Hunarmandlar, savdogarlar,</a:t>
            </a:r>
            <a:br/>
            <a:r>
              <a:t>aholining asosiy qismi)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5029200"/>
            <a:ext cx="9418320" cy="1371600"/>
          </a:xfrm>
          <a:prstGeom prst="roundRect">
            <a:avLst/>
          </a:prstGeom>
          <a:solidFill>
            <a:srgbClr val="143250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5120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</a:defRPr>
            </a:pPr>
            <a:r>
              <a:t>RABOT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5486400"/>
            <a:ext cx="8869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Shaharning tashqi mavzesi</a:t>
            </a:r>
            <a:br/>
            <a:r>
              <a:t>(Savdo rastalari, karvonsaroylar,</a:t>
            </a:r>
            <a:br/>
            <a:r>
              <a:t>chet ellik savdogarlar)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11155680" y="1645920"/>
            <a:ext cx="365760" cy="731520"/>
          </a:xfrm>
          <a:prstGeom prst="downArrow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11155680" y="3108960"/>
            <a:ext cx="365760" cy="731520"/>
          </a:xfrm>
          <a:prstGeom prst="downArrow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own Arrow 14"/>
          <p:cNvSpPr/>
          <p:nvPr/>
        </p:nvSpPr>
        <p:spPr>
          <a:xfrm>
            <a:off x="11155680" y="4572000"/>
            <a:ext cx="365760" cy="731520"/>
          </a:xfrm>
          <a:prstGeom prst="downArrow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C8962E"/>
                </a:solidFill>
              </a:defRPr>
            </a:pPr>
            <a:r>
              <a:t>TO'NYUQUQ BITIGI VA TURK MAFKURASI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914400"/>
            <a:ext cx="8229600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11612880" cy="3657600"/>
          </a:xfrm>
          <a:prstGeom prst="roundRect">
            <a:avLst/>
          </a:prstGeom>
          <a:solidFill>
            <a:srgbClr val="122E48"/>
          </a:solidFill>
          <a:ln>
            <a:solidFill>
              <a:srgbClr val="C89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C8962E"/>
                </a:solidFill>
              </a:defRPr>
            </a:pPr>
            <a:r>
              <a:t>📜 TO'NYUQUQ BITIGI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«Men xoqon To'nyuquq Chinda dunyoga keldim. Chunki u paytda turk millati Chinga tobe edi...</a:t>
            </a:r>
            <a:br/>
            <a:r>
              <a:t>Turk millati parishon bo'ldi va birlashgan turk yurtida jamoa holidagi xalq qolmagandi...</a:t>
            </a:r>
            <a:br/>
            <a:r>
              <a:t>Dastlab Shod (Qutlug') yonida to'qnashadi. Men ham ular bilan birga edim.</a:t>
            </a:r>
            <a:br/>
            <a:r>
              <a:t>Tangri menga sezgi berganligi sababli uning xoqon bo'lishi uchun harakat qildim.</a:t>
            </a:r>
            <a:br/>
            <a:r>
              <a:t>U: 'To'nyuquq men bilan birga bo'lganda men Eltarish (millatni to'plagan) xoqon bo'layin' deydi.</a:t>
            </a:r>
            <a:br/>
            <a:r>
              <a:t>Chinliklarning bu toza kuchni yo'q qilish payiga tushganini bilishim hamon kunduz o'tirmay,</a:t>
            </a:r>
            <a:br/>
            <a:r>
              <a:t>kecha uxlamay xoqonga arz qildim, dushmanlar birlashmasdan ustiga yuraylik, dedim.</a:t>
            </a:r>
            <a:br/>
            <a:r>
              <a:t>Tangrining yordami bilan yog'iyni daf etdik.</a:t>
            </a:r>
            <a:br/>
            <a:r>
              <a:t>Xoqon va turk millati O'tukanga joylashishi bilan barcha urug'lar kelib, bizga qo'shildi»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5029200"/>
            <a:ext cx="11612880" cy="1554480"/>
          </a:xfrm>
          <a:prstGeom prst="roundRect">
            <a:avLst/>
          </a:prstGeom>
          <a:solidFill>
            <a:srgbClr val="1A2535"/>
          </a:solidFill>
          <a:ln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120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A085"/>
                </a:solidFill>
              </a:defRPr>
            </a:pPr>
            <a:r>
              <a:t>🏛️ TURK DAVLAT MAFKURASI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«El» - davlat tushunchasi  |  «Mangu el» - abadiy davlat  |  «Tangri el» - ilohiy davlat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El va xoqon hokimiyati Tangri tomonidan Ashina xonadoniga «Turk budun»ga in'om qilingan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Eltarish - «millatni to'plagan» ma'nosini anglatadi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C8962E"/>
                </a:solidFill>
              </a:defRPr>
            </a:pPr>
            <a:r>
              <a:t>UMUMIY XRONOLOGIYA (IV-VIII ASRLAR)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914400"/>
            <a:ext cx="8229600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0" y="1280160"/>
            <a:ext cx="36576" cy="530352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423160" y="1280160"/>
            <a:ext cx="274320" cy="27432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26187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4A90D9"/>
                </a:solidFill>
              </a:defRPr>
            </a:pPr>
            <a:r>
              <a:t>III asr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26187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Xorazm hududida mayda hokimliklar</a:t>
            </a:r>
          </a:p>
        </p:txBody>
      </p:sp>
      <p:sp>
        <p:nvSpPr>
          <p:cNvPr id="8" name="Oval 7"/>
          <p:cNvSpPr/>
          <p:nvPr/>
        </p:nvSpPr>
        <p:spPr>
          <a:xfrm>
            <a:off x="2423160" y="1719072"/>
            <a:ext cx="274320" cy="27432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70078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4A90D9"/>
                </a:solidFill>
              </a:defRPr>
            </a:pPr>
            <a:r>
              <a:t>305-yil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700784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Afrig' poytaxtni Katga ko'chiradi</a:t>
            </a:r>
          </a:p>
        </p:txBody>
      </p:sp>
      <p:sp>
        <p:nvSpPr>
          <p:cNvPr id="11" name="Oval 10"/>
          <p:cNvSpPr/>
          <p:nvPr/>
        </p:nvSpPr>
        <p:spPr>
          <a:xfrm>
            <a:off x="2423160" y="2157984"/>
            <a:ext cx="274320" cy="2743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2139696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7AE60"/>
                </a:solidFill>
              </a:defRPr>
            </a:pPr>
            <a:r>
              <a:t>IV asr 70-y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139696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Xioniylar kuchayishi</a:t>
            </a:r>
          </a:p>
        </p:txBody>
      </p:sp>
      <p:sp>
        <p:nvSpPr>
          <p:cNvPr id="14" name="Oval 13"/>
          <p:cNvSpPr/>
          <p:nvPr/>
        </p:nvSpPr>
        <p:spPr>
          <a:xfrm>
            <a:off x="2423160" y="2596896"/>
            <a:ext cx="274320" cy="2743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25786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7AE60"/>
                </a:solidFill>
              </a:defRPr>
            </a:pPr>
            <a:r>
              <a:t>V asr 20-y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57860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Kidariylar va Eftallar paydo bo'lishi</a:t>
            </a:r>
          </a:p>
        </p:txBody>
      </p:sp>
      <p:sp>
        <p:nvSpPr>
          <p:cNvPr id="17" name="Oval 16"/>
          <p:cNvSpPr/>
          <p:nvPr/>
        </p:nvSpPr>
        <p:spPr>
          <a:xfrm>
            <a:off x="2423160" y="3035808"/>
            <a:ext cx="274320" cy="27432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017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E67E22"/>
                </a:solidFill>
              </a:defRPr>
            </a:pPr>
            <a:r>
              <a:t>456-yil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0175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Kidariylar vs Sosoniylar jangi; Xitoyga elchi</a:t>
            </a:r>
          </a:p>
        </p:txBody>
      </p:sp>
      <p:sp>
        <p:nvSpPr>
          <p:cNvPr id="20" name="Oval 19"/>
          <p:cNvSpPr/>
          <p:nvPr/>
        </p:nvSpPr>
        <p:spPr>
          <a:xfrm>
            <a:off x="2423160" y="3474720"/>
            <a:ext cx="274320" cy="2743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34564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C0392B"/>
                </a:solidFill>
              </a:defRPr>
            </a:pPr>
            <a:r>
              <a:t>484-yil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345643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Eron shohi Pero'z halokati</a:t>
            </a:r>
          </a:p>
        </p:txBody>
      </p:sp>
      <p:sp>
        <p:nvSpPr>
          <p:cNvPr id="23" name="Oval 22"/>
          <p:cNvSpPr/>
          <p:nvPr/>
        </p:nvSpPr>
        <p:spPr>
          <a:xfrm>
            <a:off x="2423160" y="3913631"/>
            <a:ext cx="274320" cy="27432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3895343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8E44AD"/>
                </a:solidFill>
              </a:defRPr>
            </a:pPr>
            <a:r>
              <a:t>552-yil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3895343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Bumin Turk xoqonligini tuzadi</a:t>
            </a:r>
          </a:p>
        </p:txBody>
      </p:sp>
      <p:sp>
        <p:nvSpPr>
          <p:cNvPr id="26" name="Oval 25"/>
          <p:cNvSpPr/>
          <p:nvPr/>
        </p:nvSpPr>
        <p:spPr>
          <a:xfrm>
            <a:off x="2423160" y="4352544"/>
            <a:ext cx="274320" cy="27432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4334256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8E44AD"/>
                </a:solidFill>
              </a:defRPr>
            </a:pPr>
            <a:r>
              <a:t>555-yil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4334256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Turklar Sirdaryo va Orol bo'ylarini egallaydi</a:t>
            </a:r>
          </a:p>
        </p:txBody>
      </p:sp>
      <p:sp>
        <p:nvSpPr>
          <p:cNvPr id="29" name="Oval 28"/>
          <p:cNvSpPr/>
          <p:nvPr/>
        </p:nvSpPr>
        <p:spPr>
          <a:xfrm>
            <a:off x="2423160" y="4791456"/>
            <a:ext cx="274320" cy="2743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477316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C0392B"/>
                </a:solidFill>
              </a:defRPr>
            </a:pPr>
            <a:r>
              <a:t>563-yil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477316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Turklar eftallar yeriga bostirib kiradi</a:t>
            </a:r>
          </a:p>
        </p:txBody>
      </p:sp>
      <p:sp>
        <p:nvSpPr>
          <p:cNvPr id="32" name="Oval 31"/>
          <p:cNvSpPr/>
          <p:nvPr/>
        </p:nvSpPr>
        <p:spPr>
          <a:xfrm>
            <a:off x="2423160" y="5230368"/>
            <a:ext cx="274320" cy="27432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52120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E67E22"/>
                </a:solidFill>
              </a:defRPr>
            </a:pPr>
            <a:r>
              <a:t>585-586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0" y="521208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Abruy qo'zg'oloni (Buxoro)</a:t>
            </a:r>
          </a:p>
        </p:txBody>
      </p:sp>
      <p:sp>
        <p:nvSpPr>
          <p:cNvPr id="35" name="Oval 34"/>
          <p:cNvSpPr/>
          <p:nvPr/>
        </p:nvSpPr>
        <p:spPr>
          <a:xfrm>
            <a:off x="2423160" y="5669279"/>
            <a:ext cx="274320" cy="274320"/>
          </a:xfrm>
          <a:prstGeom prst="ellipse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5650991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16A085"/>
                </a:solidFill>
              </a:defRPr>
            </a:pPr>
            <a:r>
              <a:t>VI asr 80-y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26080" y="5650991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Turk xoqonligi ikkiga bo'linadi</a:t>
            </a:r>
          </a:p>
        </p:txBody>
      </p:sp>
      <p:sp>
        <p:nvSpPr>
          <p:cNvPr id="38" name="Oval 37"/>
          <p:cNvSpPr/>
          <p:nvPr/>
        </p:nvSpPr>
        <p:spPr>
          <a:xfrm>
            <a:off x="2423160" y="6108192"/>
            <a:ext cx="274320" cy="274320"/>
          </a:xfrm>
          <a:prstGeom prst="ellipse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608990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16A085"/>
                </a:solidFill>
              </a:defRPr>
            </a:pPr>
            <a:r>
              <a:t>618-630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26080" y="6089904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To'n yabg'u islohotlari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1B3A5C"/>
                </a:solidFill>
              </a:defRPr>
            </a:pPr>
            <a:r>
              <a:t>DAVLATLAR QIYOSIY JADVALI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822960"/>
            <a:ext cx="8229600" cy="36576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16128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576"/>
                <a:gridCol w="2322576"/>
                <a:gridCol w="2322576"/>
                <a:gridCol w="2322576"/>
                <a:gridCol w="2322576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DAVLAT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DAVR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POYTAXT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HUKMDOR UNVONI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ASOSIY XUSUSIYAT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Xorazm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IV-X asr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Tuproqqal'a/Kat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Xorazmshoh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Afrig'iylar sulolasi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Xioniylar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IV-V asr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Zarafshon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"Oq xunnlar"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Kidariylar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V asr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Balx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Kidar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75 yil Gupta davlatida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Eftallar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V-VI asr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Poykand/Varaxsha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Eftalon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Adolatli boshqaruv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Turk xoqonligi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VI asr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Oltoy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Xoqon (Bumin)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Eng yirik imperiya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G'arbiy Turk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VI-VIII asr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Yettisuv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Xoqon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Ipak yo'li nazorati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Sharqiy Turk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VI-VIII asr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O'tukan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Xoqon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3A5C"/>
                          </a:solidFill>
                        </a:defRPr>
                      </a:pPr>
                      <a:r>
                        <a:t>Kultegin bitiklari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274320" y="5486400"/>
            <a:ext cx="11612880" cy="1097280"/>
          </a:xfrm>
          <a:prstGeom prst="roundRect">
            <a:avLst/>
          </a:prstGeom>
          <a:solidFill>
            <a:srgbClr val="1B3A5C"/>
          </a:solidFill>
          <a:ln>
            <a:solidFill>
              <a:srgbClr val="C89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577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962E"/>
                </a:solidFill>
              </a:defRPr>
            </a:pPr>
            <a:r>
              <a:t>📌 "TURON" ATAMASI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52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Dastlab «Avesto»da tilga olingan. Amudaryo va Sirdaryodan shimolda, Buyuk Xitoy devorigacha bo'lgan turkiylar mamlakatlari.</a:t>
            </a:r>
            <a:br/>
            <a:r>
              <a:t>Arablar davrida «Movarounnahr» va «Xuroson», XVIII-XIX asrda «O'rta Osiyo» yoki «Markaziy Osiyo» deb nomlangan.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C8962E"/>
                </a:solidFill>
              </a:defRPr>
            </a:pPr>
            <a:r>
              <a:t>QOVUNCHI MADANIYATI VA ETNOGENEZ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914400"/>
            <a:ext cx="8229600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11612880" cy="3200400"/>
          </a:xfrm>
          <a:prstGeom prst="roundRect">
            <a:avLst/>
          </a:prstGeom>
          <a:solidFill>
            <a:srgbClr val="122E48"/>
          </a:solidFill>
          <a:ln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90D9"/>
                </a:solidFill>
              </a:defRPr>
            </a:pPr>
            <a:r>
              <a:t>📚 Ahmadali Asqarov «O'zbek xalqining kelib chiqish tarixi»: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▸ Qovunchi davri qabristonlari - tuproq qo'rg'onlar va tosh uyilgan yer osti katakombalari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▸ Qabr xonalari gumbazli, keng va yer sathidan chuqurlikda joylashgan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▸ Har bir lahadda bir nechta (oilaviy) chalqancha yotqizilgan skeletlar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▸ Skeletlar bosh va oyoq tomonida sopol idishlar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▸ Erkaklar: qo'l yaqini va bel qismida temir harbiy va mehnat qurollari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▸ Orqa tomonda: uch parrakli va bigizsimon temir paykonlar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▸ Ayollar: oyoq-qo'l, ko'krak qafasida tosh va metall taqinchoqlar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572000"/>
            <a:ext cx="11612880" cy="2011680"/>
          </a:xfrm>
          <a:prstGeom prst="roundRect">
            <a:avLst/>
          </a:prstGeom>
          <a:solidFill>
            <a:srgbClr val="1A2535"/>
          </a:solidFill>
          <a:ln>
            <a:solidFill>
              <a:srgbClr val="C89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663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962E"/>
                </a:solidFill>
              </a:defRPr>
            </a:pPr>
            <a:r>
              <a:t>👤 AJDODLAR RUHIGA SIG'INISH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1206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▸ Qadimiy turkiylar jang maydonida qahramonlik qilgan ajdodlar ruhiga alohida e'tibor qaratganlar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▸ Ajdodlar ruhiga sig'inish - yetti ota-bobosi faoliyatini yaxshi bilish an'anasini shakllantirgan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▸ Bu an'ana turkiy xalqlarning milliy o'zligini shakllantirgan muhim omil bo'lgan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C8962E"/>
                </a:solidFill>
              </a:defRPr>
            </a:pPr>
            <a:r>
              <a:t>XULOSA: ILK O'RTA ASRLAR YUTUQLARI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914400"/>
            <a:ext cx="8229600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3749039" cy="2468880"/>
          </a:xfrm>
          <a:prstGeom prst="roundRect">
            <a:avLst/>
          </a:prstGeom>
          <a:solidFill>
            <a:srgbClr val="143250"/>
          </a:solidFill>
          <a:ln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4A90D9"/>
                </a:solidFill>
              </a:defRPr>
            </a:pPr>
            <a:r>
              <a:t>🏛️ DAVLATCHILIK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Xorazm, Eftallar, Turk</a:t>
            </a:r>
            <a:br/>
            <a:r>
              <a:t>xoqonligi – yirik</a:t>
            </a:r>
            <a:br/>
            <a:r>
              <a:t>imperiyalar qurilgan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59" y="1188720"/>
            <a:ext cx="3749039" cy="2468880"/>
          </a:xfrm>
          <a:prstGeom prst="roundRect">
            <a:avLst/>
          </a:prstGeom>
          <a:solidFill>
            <a:srgbClr val="14325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39" y="13716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7AE60"/>
                </a:solidFill>
              </a:defRPr>
            </a:pPr>
            <a:r>
              <a:t>⚖️ QONUNCHILIK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39" y="192024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Turk qonunnomasi –</a:t>
            </a:r>
            <a:br/>
            <a:r>
              <a:t>yozma qonunlar</a:t>
            </a:r>
            <a:br/>
            <a:r>
              <a:t>asosida boshqaruv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188720"/>
            <a:ext cx="3749039" cy="2468880"/>
          </a:xfrm>
          <a:prstGeom prst="roundRect">
            <a:avLst/>
          </a:prstGeom>
          <a:solidFill>
            <a:srgbClr val="143250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3716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67E22"/>
                </a:solidFill>
              </a:defRPr>
            </a:pPr>
            <a:r>
              <a:t>📝 YOZUV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92024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5+ yozuv tizimi:</a:t>
            </a:r>
            <a:br/>
            <a:r>
              <a:t>Sug'd, Xorazm, Turk</a:t>
            </a:r>
            <a:br/>
            <a:r>
              <a:t>runiy, Baqtriya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931920"/>
            <a:ext cx="3749039" cy="2468880"/>
          </a:xfrm>
          <a:prstGeom prst="roundRect">
            <a:avLst/>
          </a:prstGeom>
          <a:solidFill>
            <a:srgbClr val="143250"/>
          </a:solidFill>
          <a:ln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148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8E44AD"/>
                </a:solidFill>
              </a:defRPr>
            </a:pPr>
            <a:r>
              <a:t>🛤️ SAVDO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66344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Ipak yo'li – xalqaro</a:t>
            </a:r>
            <a:br/>
            <a:r>
              <a:t>savdo va diplomatik</a:t>
            </a:r>
            <a:br/>
            <a:r>
              <a:t>aloqalar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59" y="3931920"/>
            <a:ext cx="3749039" cy="2468880"/>
          </a:xfrm>
          <a:prstGeom prst="roundRect">
            <a:avLst/>
          </a:prstGeom>
          <a:solidFill>
            <a:srgbClr val="143250"/>
          </a:solidFill>
          <a:ln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39" y="41148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6A085"/>
                </a:solidFill>
              </a:defRPr>
            </a:pPr>
            <a:r>
              <a:t>💧 IRRIGATSIYA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39" y="466344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Zog'ariq, Bo'zsuv,</a:t>
            </a:r>
            <a:br/>
            <a:r>
              <a:t>Darg'om kanallari</a:t>
            </a:r>
            <a:br/>
            <a:r>
              <a:t>qurilgan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3931920"/>
            <a:ext cx="3749039" cy="2468880"/>
          </a:xfrm>
          <a:prstGeom prst="roundRect">
            <a:avLst/>
          </a:prstGeom>
          <a:solidFill>
            <a:srgbClr val="143250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41148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C0392B"/>
                </a:solidFill>
              </a:defRPr>
            </a:pPr>
            <a:r>
              <a:t>🎨 SAN'AT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66344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Devoriy rasmlar,</a:t>
            </a:r>
            <a:br/>
            <a:r>
              <a:t>ganchkorlik, musiqa,</a:t>
            </a:r>
            <a:br/>
            <a:r>
              <a:t>raqs san'ati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C8962E"/>
                </a:solidFill>
              </a:defRPr>
            </a:pPr>
            <a:r>
              <a:t>"TURON" VA "ERON" TUSHUNCHALARI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914400"/>
            <a:ext cx="6400800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47120" cy="2286000"/>
          </a:xfrm>
          <a:prstGeom prst="roundRect">
            <a:avLst/>
          </a:prstGeom>
          <a:solidFill>
            <a:srgbClr val="122E48"/>
          </a:solidFill>
          <a:ln>
            <a:solidFill>
              <a:srgbClr val="C89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962E"/>
                </a:solidFill>
              </a:defRPr>
            </a:pPr>
            <a:r>
              <a:t>📜 Ibn Arabshoh: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«Bu yer (Movarounnahr) ahlining e'tiqodicha, Jayhun orqasidan Sharqqa qarab cho'zilgan yerlar TURON,</a:t>
            </a:r>
            <a:br/>
            <a:r>
              <a:t>G'arbga tomon cho'zilgan yerlar esa ERON deb ataladi.</a:t>
            </a:r>
            <a:br/>
            <a:r>
              <a:t>Kaykovus va Afrosiyob bu mamlakatlarni o'zaro taqsim qilganlarida</a:t>
            </a:r>
            <a:br/>
            <a:r>
              <a:t>TURON Afrosiyobga, ERON esa Kaykabod o'g'li Kaykovusga tekkan.»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657600"/>
            <a:ext cx="5303520" cy="2743200"/>
          </a:xfrm>
          <a:prstGeom prst="roundRect">
            <a:avLst/>
          </a:prstGeom>
          <a:solidFill>
            <a:srgbClr val="143250"/>
          </a:solidFill>
          <a:ln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74903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90D9"/>
                </a:solidFill>
              </a:defRPr>
            </a:pPr>
            <a:r>
              <a:t>🗺️ GEOGRAFIK NOMLAR EVOLYUTSIYASI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0624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▸ Qadimda: TURON (Avesto)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▸ Arablar davrida: MOVAROUNNAHR va XUROSON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▸ XVIII-XIX asr: O'RTA OSIYO (G'arb olimlari)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▸ Hozirda: MARKAZIY OSIYO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3657600"/>
            <a:ext cx="5669280" cy="2743200"/>
          </a:xfrm>
          <a:prstGeom prst="roundRect">
            <a:avLst/>
          </a:prstGeom>
          <a:solidFill>
            <a:srgbClr val="14325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374903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</a:defRPr>
            </a:pPr>
            <a:r>
              <a:t>🌍 TURON HUDUDLARI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42062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▸ Amudaryo va Sirdaryodan shimolda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▸ Sharqda Buyuk Xitoy devorigacha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▸ Sug'diyona, Marg'iyona, Toxariston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▸ Xorazm, Choch, Farg'ona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▸ Turkiy xalqlar mamlakatlari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C8962E"/>
                </a:solidFill>
              </a:defRPr>
            </a:pPr>
            <a:r>
              <a:t>EFTALLAR - SHAHARLIK SULOLALAR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914400"/>
            <a:ext cx="8229600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47120" cy="1828800"/>
          </a:xfrm>
          <a:prstGeom prst="roundRect">
            <a:avLst/>
          </a:prstGeom>
          <a:solidFill>
            <a:srgbClr val="122E48"/>
          </a:solidFill>
          <a:ln>
            <a:solidFill>
              <a:srgbClr val="C89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962E"/>
                </a:solidFill>
              </a:defRPr>
            </a:pPr>
            <a:r>
              <a:t>📜 568-569 yillarda Vizantiya imperatori huzurida bo'lgan turk elchisiga savol: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Imperator: «Eftaliylar shaharlarda yashaydilarmi yoki qishloqlardami?»</a:t>
            </a:r>
            <a:br/>
            <a:r>
              <a:t>Turk elchisi: «Ular SHAHARLIK SULOLALAR, oliy hazratlari»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00400"/>
            <a:ext cx="5486400" cy="3200400"/>
          </a:xfrm>
          <a:prstGeom prst="roundRect">
            <a:avLst/>
          </a:prstGeom>
          <a:solidFill>
            <a:srgbClr val="143250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7E22"/>
                </a:solidFill>
              </a:defRPr>
            </a:pPr>
            <a:r>
              <a:t>📖 FIRDAVSIY «SHOHNOMA»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39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V asrda sosoniylar va eftaliylar o'rtasidagi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harbiy to'qnashuvlar tasvirlangan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Eftaliylar qo'shinining ustun kelishi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ular harbiy mahoratining yuqoriligidan dalolat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Vaxshunvor va Peruz davri voqealari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Eftaliylar podshosi Katulf = Gatfar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200400"/>
            <a:ext cx="5486400" cy="3200400"/>
          </a:xfrm>
          <a:prstGeom prst="roundRect">
            <a:avLst/>
          </a:prstGeom>
          <a:solidFill>
            <a:srgbClr val="143250"/>
          </a:solidFill>
          <a:ln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2918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A085"/>
                </a:solidFill>
              </a:defRPr>
            </a:pPr>
            <a:r>
              <a:t>🏛️ EFTALLAR BOSHQARUVI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749039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Taxt otadan bolaga qolmagan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Suloladan loyiq topilgan shaxs taxtga o'tirgan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Viloyatlarda mahalliy xonadonlar boshqargan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Mulklar Sho (shoh)ga tobe bo'lgan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Adolat mezonlariga amal qilingan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▸ Rimliklar va boshqa podsholardan kam bo'lmagan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C8962E"/>
                </a:solidFill>
              </a:defRPr>
            </a:pPr>
            <a:r>
              <a:t>E'TIBORINGIZ UCHUN RAHMAT!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7-SINF O'ZBEKISTON TARIXI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A90D9"/>
                </a:solidFill>
              </a:defRPr>
            </a:pPr>
            <a:r>
              <a:t>IV - XIII ASRLAR TARIXI</a:t>
            </a:r>
          </a:p>
        </p:txBody>
      </p:sp>
      <p:sp>
        <p:nvSpPr>
          <p:cNvPr id="6" name="Diamond 5"/>
          <p:cNvSpPr/>
          <p:nvPr/>
        </p:nvSpPr>
        <p:spPr>
          <a:xfrm>
            <a:off x="3200400" y="5029200"/>
            <a:ext cx="274320" cy="274320"/>
          </a:xfrm>
          <a:prstGeom prst="diamond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4023360" y="5029200"/>
            <a:ext cx="274320" cy="274320"/>
          </a:xfrm>
          <a:prstGeom prst="diamond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4846320" y="5029200"/>
            <a:ext cx="274320" cy="274320"/>
          </a:xfrm>
          <a:prstGeom prst="diamond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iamond 8"/>
          <p:cNvSpPr/>
          <p:nvPr/>
        </p:nvSpPr>
        <p:spPr>
          <a:xfrm>
            <a:off x="5669280" y="5029200"/>
            <a:ext cx="274320" cy="274320"/>
          </a:xfrm>
          <a:prstGeom prst="diamond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iamond 9"/>
          <p:cNvSpPr/>
          <p:nvPr/>
        </p:nvSpPr>
        <p:spPr>
          <a:xfrm>
            <a:off x="6492240" y="5029200"/>
            <a:ext cx="274320" cy="274320"/>
          </a:xfrm>
          <a:prstGeom prst="diamond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iamond 10"/>
          <p:cNvSpPr/>
          <p:nvPr/>
        </p:nvSpPr>
        <p:spPr>
          <a:xfrm>
            <a:off x="7315200" y="5029200"/>
            <a:ext cx="274320" cy="274320"/>
          </a:xfrm>
          <a:prstGeom prst="diamond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iamond 11"/>
          <p:cNvSpPr/>
          <p:nvPr/>
        </p:nvSpPr>
        <p:spPr>
          <a:xfrm>
            <a:off x="8138160" y="5029200"/>
            <a:ext cx="274320" cy="274320"/>
          </a:xfrm>
          <a:prstGeom prst="diamond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